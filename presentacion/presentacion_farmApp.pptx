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332720" y="640080"/>
            <a:ext cx="1371600" cy="1371600"/>
          </a:xfrm>
          <a:prstGeom prst="ellipse">
            <a:avLst/>
          </a:prstGeom>
          <a:solidFill>
            <a:srgbClr val="F76C5E"/>
          </a:solidFill>
          <a:ln w="12700">
            <a:solidFill>
              <a:srgbClr val="F76C5E"/>
            </a:solidFill>
            <a:prstDash val="solid"/>
          </a:ln>
        </p:spPr>
      </p:sp>
      <p:sp>
        <p:nvSpPr>
          <p:cNvPr id="3" name="Text 1"/>
          <p:cNvSpPr/>
          <p:nvPr/>
        </p:nvSpPr>
        <p:spPr>
          <a:xfrm>
            <a:off x="10332720" y="640080"/>
            <a:ext cx="1371600" cy="13716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Rx</a:t>
            </a:r>
            <a:endParaRPr lang="en-US" sz="4800" dirty="0"/>
          </a:p>
        </p:txBody>
      </p:sp>
      <p:sp>
        <p:nvSpPr>
          <p:cNvPr id="4" name="Text 2"/>
          <p:cNvSpPr/>
          <p:nvPr/>
        </p:nvSpPr>
        <p:spPr>
          <a:xfrm>
            <a:off x="548640" y="914400"/>
            <a:ext cx="9144000" cy="457200"/>
          </a:xfrm>
          <a:prstGeom prst="rect">
            <a:avLst/>
          </a:prstGeom>
          <a:noFill/>
          <a:ln/>
        </p:spPr>
        <p:txBody>
          <a:bodyPr wrap="square" lIns="0" tIns="0" rIns="0" bIns="0" rtlCol="0" anchor="ctr"/>
          <a:lstStyle/>
          <a:p>
            <a:pPr indent="0" marL="0">
              <a:buNone/>
            </a:pPr>
            <a:r>
              <a:rPr lang="en-US" sz="1400" b="1" spc="600" kern="0" dirty="0">
                <a:solidFill>
                  <a:srgbClr val="CADCFC"/>
                </a:solidFill>
              </a:rPr>
              <a:t>PROYECTO FINAL — MTAA 2026</a:t>
            </a:r>
            <a:endParaRPr lang="en-US" sz="1400" dirty="0"/>
          </a:p>
        </p:txBody>
      </p:sp>
      <p:sp>
        <p:nvSpPr>
          <p:cNvPr id="5" name="Text 3"/>
          <p:cNvSpPr/>
          <p:nvPr/>
        </p:nvSpPr>
        <p:spPr>
          <a:xfrm>
            <a:off x="548640" y="1554480"/>
            <a:ext cx="10972800" cy="21031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Sistema de Prediccion de</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Efectos Adversos de Farmacos</a:t>
            </a:r>
            <a:endParaRPr lang="en-US" sz="5400" dirty="0"/>
          </a:p>
        </p:txBody>
      </p:sp>
      <p:sp>
        <p:nvSpPr>
          <p:cNvPr id="6" name="Text 4"/>
          <p:cNvSpPr/>
          <p:nvPr/>
        </p:nvSpPr>
        <p:spPr>
          <a:xfrm>
            <a:off x="548640" y="4114800"/>
            <a:ext cx="10515600" cy="9144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Mineria de Texto y Aprendizaje Automatico aplicada a reportes reales de la FDA (FAERS) y validacion contra SIDER 4.1</a:t>
            </a:r>
            <a:endParaRPr lang="en-US" sz="1800" dirty="0"/>
          </a:p>
        </p:txBody>
      </p:sp>
      <p:sp>
        <p:nvSpPr>
          <p:cNvPr id="7" name="Shape 5"/>
          <p:cNvSpPr/>
          <p:nvPr/>
        </p:nvSpPr>
        <p:spPr>
          <a:xfrm>
            <a:off x="548640" y="5486400"/>
            <a:ext cx="54864" cy="640080"/>
          </a:xfrm>
          <a:prstGeom prst="rect">
            <a:avLst/>
          </a:prstGeom>
          <a:solidFill>
            <a:srgbClr val="F76C5E"/>
          </a:solidFill>
          <a:ln w="12700">
            <a:solidFill>
              <a:srgbClr val="F76C5E"/>
            </a:solidFill>
            <a:prstDash val="solid"/>
          </a:ln>
        </p:spPr>
      </p:sp>
      <p:sp>
        <p:nvSpPr>
          <p:cNvPr id="8" name="Text 6"/>
          <p:cNvSpPr/>
          <p:nvPr/>
        </p:nvSpPr>
        <p:spPr>
          <a:xfrm>
            <a:off x="777240" y="5440680"/>
            <a:ext cx="7315200" cy="365760"/>
          </a:xfrm>
          <a:prstGeom prst="rect">
            <a:avLst/>
          </a:prstGeom>
          <a:noFill/>
          <a:ln/>
        </p:spPr>
        <p:txBody>
          <a:bodyPr wrap="square" lIns="0" tIns="0" rIns="0" bIns="0" rtlCol="0" anchor="ctr"/>
          <a:lstStyle/>
          <a:p>
            <a:pPr indent="0" marL="0">
              <a:buNone/>
            </a:pPr>
            <a:r>
              <a:rPr lang="en-US" sz="1600" b="1" dirty="0">
                <a:solidFill>
                  <a:srgbClr val="FFFFFF"/>
                </a:solidFill>
              </a:rPr>
              <a:t>Alzugaray Agustin Ezequiel</a:t>
            </a:r>
            <a:endParaRPr lang="en-US" sz="1600" dirty="0"/>
          </a:p>
        </p:txBody>
      </p:sp>
      <p:sp>
        <p:nvSpPr>
          <p:cNvPr id="9" name="Text 7"/>
          <p:cNvSpPr/>
          <p:nvPr/>
        </p:nvSpPr>
        <p:spPr>
          <a:xfrm>
            <a:off x="777240" y="5760720"/>
            <a:ext cx="7315200" cy="365760"/>
          </a:xfrm>
          <a:prstGeom prst="rect">
            <a:avLst/>
          </a:prstGeom>
          <a:noFill/>
          <a:ln/>
        </p:spPr>
        <p:txBody>
          <a:bodyPr wrap="square" lIns="0" tIns="0" rIns="0" bIns="0" rtlCol="0" anchor="ctr"/>
          <a:lstStyle/>
          <a:p>
            <a:pPr indent="0" marL="0">
              <a:buNone/>
            </a:pPr>
            <a:r>
              <a:rPr lang="en-US" sz="1600" b="1" dirty="0">
                <a:solidFill>
                  <a:srgbClr val="FFFFFF"/>
                </a:solidFill>
              </a:rPr>
              <a:t>Cabrera Tamalet Lautaro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01  ·  CONTEXTO</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¿Por que predecir efectos adversos?</a:t>
            </a:r>
            <a:endParaRPr lang="en-US" sz="3600" dirty="0"/>
          </a:p>
        </p:txBody>
      </p:sp>
      <p:sp>
        <p:nvSpPr>
          <p:cNvPr id="4" name="Text 2"/>
          <p:cNvSpPr/>
          <p:nvPr/>
        </p:nvSpPr>
        <p:spPr>
          <a:xfrm>
            <a:off x="548640" y="1691640"/>
            <a:ext cx="11155680" cy="1097280"/>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Las reacciones adversas a medicamentos son una de las principales causas de hospitalizacion evitable. Cada paciente combina edad, sexo, peso, comorbilidades y otras drogas — variaciones que rara vez aparecen en los ensayos clinicos originales.</a:t>
            </a:r>
            <a:endParaRPr lang="en-US" sz="1600" dirty="0"/>
          </a:p>
        </p:txBody>
      </p:sp>
      <p:sp>
        <p:nvSpPr>
          <p:cNvPr id="5" name="Shape 3"/>
          <p:cNvSpPr/>
          <p:nvPr/>
        </p:nvSpPr>
        <p:spPr>
          <a:xfrm>
            <a:off x="548640" y="3017520"/>
            <a:ext cx="3566160" cy="2286000"/>
          </a:xfrm>
          <a:prstGeom prst="roundRect">
            <a:avLst>
              <a:gd name="adj" fmla="val 6000"/>
            </a:avLst>
          </a:prstGeom>
          <a:solidFill>
            <a:srgbClr val="FFFFFF"/>
          </a:solidFill>
          <a:ln w="12700">
            <a:solidFill>
              <a:srgbClr val="E5E7EB"/>
            </a:solidFill>
            <a:prstDash val="solid"/>
          </a:ln>
        </p:spPr>
      </p:sp>
      <p:sp>
        <p:nvSpPr>
          <p:cNvPr id="6" name="Text 4"/>
          <p:cNvSpPr/>
          <p:nvPr/>
        </p:nvSpPr>
        <p:spPr>
          <a:xfrm>
            <a:off x="548640" y="3200400"/>
            <a:ext cx="3566160" cy="1097280"/>
          </a:xfrm>
          <a:prstGeom prst="rect">
            <a:avLst/>
          </a:prstGeom>
          <a:noFill/>
          <a:ln/>
        </p:spPr>
        <p:txBody>
          <a:bodyPr wrap="square" lIns="0" tIns="0" rIns="0" bIns="0" rtlCol="0" anchor="ctr"/>
          <a:lstStyle/>
          <a:p>
            <a:pPr algn="ctr" indent="0" marL="0">
              <a:buNone/>
            </a:pPr>
            <a:r>
              <a:rPr lang="en-US" sz="5600" b="1" dirty="0">
                <a:solidFill>
                  <a:srgbClr val="4361EE"/>
                </a:solidFill>
                <a:latin typeface="Cambria" pitchFamily="34" charset="0"/>
                <a:ea typeface="Cambria" pitchFamily="34" charset="-122"/>
                <a:cs typeface="Cambria" pitchFamily="34" charset="-120"/>
              </a:rPr>
              <a:t>+2 M</a:t>
            </a:r>
            <a:endParaRPr lang="en-US" sz="5600" dirty="0"/>
          </a:p>
        </p:txBody>
      </p:sp>
      <p:sp>
        <p:nvSpPr>
          <p:cNvPr id="7" name="Text 5"/>
          <p:cNvSpPr/>
          <p:nvPr/>
        </p:nvSpPr>
        <p:spPr>
          <a:xfrm>
            <a:off x="777240" y="4434840"/>
            <a:ext cx="3108960" cy="8229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Hospitalizaciones por año en EE.UU. por reacciones adversas</a:t>
            </a:r>
            <a:endParaRPr lang="en-US" sz="1200" dirty="0"/>
          </a:p>
        </p:txBody>
      </p:sp>
      <p:sp>
        <p:nvSpPr>
          <p:cNvPr id="8" name="Shape 6"/>
          <p:cNvSpPr/>
          <p:nvPr/>
        </p:nvSpPr>
        <p:spPr>
          <a:xfrm>
            <a:off x="4343400" y="3017520"/>
            <a:ext cx="3566160" cy="2286000"/>
          </a:xfrm>
          <a:prstGeom prst="roundRect">
            <a:avLst>
              <a:gd name="adj" fmla="val 6000"/>
            </a:avLst>
          </a:prstGeom>
          <a:solidFill>
            <a:srgbClr val="FFFFFF"/>
          </a:solidFill>
          <a:ln w="12700">
            <a:solidFill>
              <a:srgbClr val="E5E7EB"/>
            </a:solidFill>
            <a:prstDash val="solid"/>
          </a:ln>
        </p:spPr>
      </p:sp>
      <p:sp>
        <p:nvSpPr>
          <p:cNvPr id="9" name="Text 7"/>
          <p:cNvSpPr/>
          <p:nvPr/>
        </p:nvSpPr>
        <p:spPr>
          <a:xfrm>
            <a:off x="4343400" y="3200400"/>
            <a:ext cx="3566160" cy="1097280"/>
          </a:xfrm>
          <a:prstGeom prst="rect">
            <a:avLst/>
          </a:prstGeom>
          <a:noFill/>
          <a:ln/>
        </p:spPr>
        <p:txBody>
          <a:bodyPr wrap="square" lIns="0" tIns="0" rIns="0" bIns="0" rtlCol="0" anchor="ctr"/>
          <a:lstStyle/>
          <a:p>
            <a:pPr algn="ctr" indent="0" marL="0">
              <a:buNone/>
            </a:pPr>
            <a:r>
              <a:rPr lang="en-US" sz="5600" b="1" dirty="0">
                <a:solidFill>
                  <a:srgbClr val="F76C5E"/>
                </a:solidFill>
                <a:latin typeface="Cambria" pitchFamily="34" charset="0"/>
                <a:ea typeface="Cambria" pitchFamily="34" charset="-122"/>
                <a:cs typeface="Cambria" pitchFamily="34" charset="-120"/>
              </a:rPr>
              <a:t>97</a:t>
            </a:r>
            <a:endParaRPr lang="en-US" sz="5600" dirty="0"/>
          </a:p>
        </p:txBody>
      </p:sp>
      <p:sp>
        <p:nvSpPr>
          <p:cNvPr id="10" name="Text 8"/>
          <p:cNvSpPr/>
          <p:nvPr/>
        </p:nvSpPr>
        <p:spPr>
          <a:xfrm>
            <a:off x="4572000" y="4434840"/>
            <a:ext cx="3108960" cy="8229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Efectos adversos distintos que aprende a predecir el modelo</a:t>
            </a:r>
            <a:endParaRPr lang="en-US" sz="1200" dirty="0"/>
          </a:p>
        </p:txBody>
      </p:sp>
      <p:sp>
        <p:nvSpPr>
          <p:cNvPr id="11" name="Shape 9"/>
          <p:cNvSpPr/>
          <p:nvPr/>
        </p:nvSpPr>
        <p:spPr>
          <a:xfrm>
            <a:off x="8138160" y="3017520"/>
            <a:ext cx="3566160" cy="2286000"/>
          </a:xfrm>
          <a:prstGeom prst="roundRect">
            <a:avLst>
              <a:gd name="adj" fmla="val 6000"/>
            </a:avLst>
          </a:prstGeom>
          <a:solidFill>
            <a:srgbClr val="FFFFFF"/>
          </a:solidFill>
          <a:ln w="12700">
            <a:solidFill>
              <a:srgbClr val="E5E7EB"/>
            </a:solidFill>
            <a:prstDash val="solid"/>
          </a:ln>
        </p:spPr>
      </p:sp>
      <p:sp>
        <p:nvSpPr>
          <p:cNvPr id="12" name="Text 10"/>
          <p:cNvSpPr/>
          <p:nvPr/>
        </p:nvSpPr>
        <p:spPr>
          <a:xfrm>
            <a:off x="8138160" y="3200400"/>
            <a:ext cx="3566160" cy="1097280"/>
          </a:xfrm>
          <a:prstGeom prst="rect">
            <a:avLst/>
          </a:prstGeom>
          <a:noFill/>
          <a:ln/>
        </p:spPr>
        <p:txBody>
          <a:bodyPr wrap="square" lIns="0" tIns="0" rIns="0" bIns="0" rtlCol="0" anchor="ctr"/>
          <a:lstStyle/>
          <a:p>
            <a:pPr algn="ctr" indent="0" marL="0">
              <a:buNone/>
            </a:pPr>
            <a:r>
              <a:rPr lang="en-US" sz="5600" b="1" dirty="0">
                <a:solidFill>
                  <a:srgbClr val="1E2761"/>
                </a:solidFill>
                <a:latin typeface="Cambria" pitchFamily="34" charset="0"/>
                <a:ea typeface="Cambria" pitchFamily="34" charset="-122"/>
                <a:cs typeface="Cambria" pitchFamily="34" charset="-120"/>
              </a:rPr>
              <a:t>55 K</a:t>
            </a:r>
            <a:endParaRPr lang="en-US" sz="5600" dirty="0"/>
          </a:p>
        </p:txBody>
      </p:sp>
      <p:sp>
        <p:nvSpPr>
          <p:cNvPr id="13" name="Text 11"/>
          <p:cNvSpPr/>
          <p:nvPr/>
        </p:nvSpPr>
        <p:spPr>
          <a:xfrm>
            <a:off x="8366760" y="4434840"/>
            <a:ext cx="3108960" cy="8229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Reportes reales de FAERS usados como dataset de entrenamiento</a:t>
            </a:r>
            <a:endParaRPr lang="en-US" sz="1200" dirty="0"/>
          </a:p>
        </p:txBody>
      </p:sp>
      <p:sp>
        <p:nvSpPr>
          <p:cNvPr id="14" name="Text 12"/>
          <p:cNvSpPr/>
          <p:nvPr/>
        </p:nvSpPr>
        <p:spPr>
          <a:xfrm>
            <a:off x="548640" y="5669280"/>
            <a:ext cx="11155680" cy="548640"/>
          </a:xfrm>
          <a:prstGeom prst="rect">
            <a:avLst/>
          </a:prstGeom>
          <a:noFill/>
          <a:ln/>
        </p:spPr>
        <p:txBody>
          <a:bodyPr wrap="square" lIns="0" tIns="0" rIns="0" bIns="0" rtlCol="0" anchor="ctr"/>
          <a:lstStyle/>
          <a:p>
            <a:pPr indent="0" marL="0">
              <a:buNone/>
            </a:pPr>
            <a:r>
              <a:rPr lang="en-US" sz="1600" b="1" i="1" dirty="0">
                <a:solidFill>
                  <a:srgbClr val="1E2761"/>
                </a:solidFill>
                <a:latin typeface="Calibri" pitchFamily="34" charset="0"/>
                <a:ea typeface="Calibri" pitchFamily="34" charset="-122"/>
                <a:cs typeface="Calibri" pitchFamily="34" charset="-120"/>
              </a:rPr>
              <a:t>Nuestra pregunta: dado un paciente nuevo (farmaco + perfil clinico), ¿que efectos adversos es mas probable que sufra?</a:t>
            </a:r>
            <a:endParaRPr lang="en-US" sz="160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16" name="Text 14"/>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02  ·  DATOS</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Las dos fuentes de informacion</a:t>
            </a:r>
            <a:endParaRPr lang="en-US" sz="3600" dirty="0"/>
          </a:p>
        </p:txBody>
      </p:sp>
      <p:sp>
        <p:nvSpPr>
          <p:cNvPr id="4" name="Shape 2"/>
          <p:cNvSpPr/>
          <p:nvPr/>
        </p:nvSpPr>
        <p:spPr>
          <a:xfrm>
            <a:off x="548640" y="1783080"/>
            <a:ext cx="5577840" cy="4297680"/>
          </a:xfrm>
          <a:prstGeom prst="roundRect">
            <a:avLst>
              <a:gd name="adj" fmla="val 3191"/>
            </a:avLst>
          </a:prstGeom>
          <a:solidFill>
            <a:srgbClr val="FFFFFF"/>
          </a:solidFill>
          <a:ln w="25400">
            <a:solidFill>
              <a:srgbClr val="1E2761"/>
            </a:solidFill>
            <a:prstDash val="solid"/>
          </a:ln>
        </p:spPr>
      </p:sp>
      <p:sp>
        <p:nvSpPr>
          <p:cNvPr id="5" name="Text 3"/>
          <p:cNvSpPr/>
          <p:nvPr/>
        </p:nvSpPr>
        <p:spPr>
          <a:xfrm>
            <a:off x="777240" y="1965960"/>
            <a:ext cx="512064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FDA FAERS</a:t>
            </a:r>
            <a:endParaRPr lang="en-US" sz="2200" dirty="0"/>
          </a:p>
        </p:txBody>
      </p:sp>
      <p:sp>
        <p:nvSpPr>
          <p:cNvPr id="6" name="Text 4"/>
          <p:cNvSpPr/>
          <p:nvPr/>
        </p:nvSpPr>
        <p:spPr>
          <a:xfrm>
            <a:off x="777240" y="2377440"/>
            <a:ext cx="5120640" cy="274320"/>
          </a:xfrm>
          <a:prstGeom prst="rect">
            <a:avLst/>
          </a:prstGeom>
          <a:noFill/>
          <a:ln/>
        </p:spPr>
        <p:txBody>
          <a:bodyPr wrap="square" lIns="0" tIns="0" rIns="0" bIns="0" rtlCol="0" anchor="ctr"/>
          <a:lstStyle/>
          <a:p>
            <a:pPr indent="0" marL="0">
              <a:buNone/>
            </a:pPr>
            <a:r>
              <a:rPr lang="en-US" sz="1100" i="1" dirty="0">
                <a:solidFill>
                  <a:srgbClr val="6B7280"/>
                </a:solidFill>
              </a:rPr>
              <a:t>Para entrenar el modelo</a:t>
            </a:r>
            <a:endParaRPr lang="en-US" sz="1100" dirty="0"/>
          </a:p>
        </p:txBody>
      </p:sp>
      <p:sp>
        <p:nvSpPr>
          <p:cNvPr id="7" name="Text 5"/>
          <p:cNvSpPr/>
          <p:nvPr/>
        </p:nvSpPr>
        <p:spPr>
          <a:xfrm>
            <a:off x="777240" y="2788920"/>
            <a:ext cx="5120640" cy="2103120"/>
          </a:xfrm>
          <a:prstGeom prst="rect">
            <a:avLst/>
          </a:prstGeom>
          <a:noFill/>
          <a:ln/>
        </p:spPr>
        <p:txBody>
          <a:bodyPr wrap="square" rtlCol="0" anchor="ctr"/>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Reportes reales de pacientes con reacciones adversas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4 archivos por trimestre: DEMO, DRUG, REAC, INDI</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Se unen por primaryid (ID del caso)</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Sampleamos 55.000 casos con semilla fija</a:t>
            </a:r>
            <a:endParaRPr lang="en-US" sz="1300" dirty="0"/>
          </a:p>
        </p:txBody>
      </p:sp>
      <p:sp>
        <p:nvSpPr>
          <p:cNvPr id="8" name="Text 6"/>
          <p:cNvSpPr/>
          <p:nvPr/>
        </p:nvSpPr>
        <p:spPr>
          <a:xfrm>
            <a:off x="777240" y="5349240"/>
            <a:ext cx="5120640" cy="548640"/>
          </a:xfrm>
          <a:prstGeom prst="rect">
            <a:avLst/>
          </a:prstGeom>
          <a:noFill/>
          <a:ln/>
        </p:spPr>
        <p:txBody>
          <a:bodyPr wrap="square" lIns="0" tIns="0" rIns="0" bIns="0" rtlCol="0" anchor="ctr"/>
          <a:lstStyle/>
          <a:p>
            <a:pPr indent="0" marL="0">
              <a:buNone/>
            </a:pPr>
            <a:r>
              <a:rPr lang="en-US" sz="1100" i="1" dirty="0">
                <a:solidFill>
                  <a:srgbClr val="4361EE"/>
                </a:solidFill>
                <a:latin typeface="Courier New" pitchFamily="34" charset="0"/>
                <a:ea typeface="Courier New" pitchFamily="34" charset="-122"/>
                <a:cs typeface="Courier New" pitchFamily="34" charset="-120"/>
              </a:rPr>
              <a:t>Ejemplo de fila: 67 años, F, ASPIRIN + METFORMIN → NAUSEA, HEADACHE</a:t>
            </a:r>
            <a:endParaRPr lang="en-US" sz="1100" dirty="0"/>
          </a:p>
        </p:txBody>
      </p:sp>
      <p:sp>
        <p:nvSpPr>
          <p:cNvPr id="9" name="Shape 7"/>
          <p:cNvSpPr/>
          <p:nvPr/>
        </p:nvSpPr>
        <p:spPr>
          <a:xfrm>
            <a:off x="6355080" y="1783080"/>
            <a:ext cx="5577840" cy="4297680"/>
          </a:xfrm>
          <a:prstGeom prst="roundRect">
            <a:avLst>
              <a:gd name="adj" fmla="val 3191"/>
            </a:avLst>
          </a:prstGeom>
          <a:solidFill>
            <a:srgbClr val="FFFFFF"/>
          </a:solidFill>
          <a:ln w="25400">
            <a:solidFill>
              <a:srgbClr val="F76C5E"/>
            </a:solidFill>
            <a:prstDash val="solid"/>
          </a:ln>
        </p:spPr>
      </p:sp>
      <p:sp>
        <p:nvSpPr>
          <p:cNvPr id="10" name="Text 8"/>
          <p:cNvSpPr/>
          <p:nvPr/>
        </p:nvSpPr>
        <p:spPr>
          <a:xfrm>
            <a:off x="6583680" y="1965960"/>
            <a:ext cx="5120640" cy="457200"/>
          </a:xfrm>
          <a:prstGeom prst="rect">
            <a:avLst/>
          </a:prstGeom>
          <a:noFill/>
          <a:ln/>
        </p:spPr>
        <p:txBody>
          <a:bodyPr wrap="square" lIns="0" tIns="0" rIns="0" bIns="0" rtlCol="0" anchor="ctr"/>
          <a:lstStyle/>
          <a:p>
            <a:pPr indent="0" marL="0">
              <a:buNone/>
            </a:pPr>
            <a:r>
              <a:rPr lang="en-US" sz="2200" b="1" dirty="0">
                <a:solidFill>
                  <a:srgbClr val="F76C5E"/>
                </a:solidFill>
                <a:latin typeface="Cambria" pitchFamily="34" charset="0"/>
                <a:ea typeface="Cambria" pitchFamily="34" charset="-122"/>
                <a:cs typeface="Cambria" pitchFamily="34" charset="-120"/>
              </a:rPr>
              <a:t>SIDER 4.1</a:t>
            </a:r>
            <a:endParaRPr lang="en-US" sz="2200" dirty="0"/>
          </a:p>
        </p:txBody>
      </p:sp>
      <p:sp>
        <p:nvSpPr>
          <p:cNvPr id="11" name="Text 9"/>
          <p:cNvSpPr/>
          <p:nvPr/>
        </p:nvSpPr>
        <p:spPr>
          <a:xfrm>
            <a:off x="6583680" y="2377440"/>
            <a:ext cx="5120640" cy="274320"/>
          </a:xfrm>
          <a:prstGeom prst="rect">
            <a:avLst/>
          </a:prstGeom>
          <a:noFill/>
          <a:ln/>
        </p:spPr>
        <p:txBody>
          <a:bodyPr wrap="square" lIns="0" tIns="0" rIns="0" bIns="0" rtlCol="0" anchor="ctr"/>
          <a:lstStyle/>
          <a:p>
            <a:pPr indent="0" marL="0">
              <a:buNone/>
            </a:pPr>
            <a:r>
              <a:rPr lang="en-US" sz="1100" i="1" dirty="0">
                <a:solidFill>
                  <a:srgbClr val="6B7280"/>
                </a:solidFill>
              </a:rPr>
              <a:t>Para validar (verdad de referencia)</a:t>
            </a:r>
            <a:endParaRPr lang="en-US" sz="1100" dirty="0"/>
          </a:p>
        </p:txBody>
      </p:sp>
      <p:sp>
        <p:nvSpPr>
          <p:cNvPr id="12" name="Text 10"/>
          <p:cNvSpPr/>
          <p:nvPr/>
        </p:nvSpPr>
        <p:spPr>
          <a:xfrm>
            <a:off x="6583680" y="2788920"/>
            <a:ext cx="5120640" cy="2103120"/>
          </a:xfrm>
          <a:prstGeom prst="rect">
            <a:avLst/>
          </a:prstGeom>
          <a:noFill/>
          <a:ln/>
        </p:spPr>
        <p:txBody>
          <a:bodyPr wrap="square" rtlCol="0" anchor="ctr"/>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Base curada manualmente desde prospectos oficiales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1.430 farmacos con sus efectos adversos conocidos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Independiente de FAERS — no se uso en entrenamiento</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Sirve para detectar sesgos del dataset de entrenamiento</a:t>
            </a:r>
            <a:endParaRPr lang="en-US" sz="1300" dirty="0"/>
          </a:p>
        </p:txBody>
      </p:sp>
      <p:sp>
        <p:nvSpPr>
          <p:cNvPr id="13" name="Text 11"/>
          <p:cNvSpPr/>
          <p:nvPr/>
        </p:nvSpPr>
        <p:spPr>
          <a:xfrm>
            <a:off x="6583680" y="5349240"/>
            <a:ext cx="5120640" cy="548640"/>
          </a:xfrm>
          <a:prstGeom prst="rect">
            <a:avLst/>
          </a:prstGeom>
          <a:noFill/>
          <a:ln/>
        </p:spPr>
        <p:txBody>
          <a:bodyPr wrap="square" lIns="0" tIns="0" rIns="0" bIns="0" rtlCol="0" anchor="ctr"/>
          <a:lstStyle/>
          <a:p>
            <a:pPr indent="0" marL="0">
              <a:buNone/>
            </a:pPr>
            <a:r>
              <a:rPr lang="en-US" sz="1100" i="1" dirty="0">
                <a:solidFill>
                  <a:srgbClr val="F76C5E"/>
                </a:solidFill>
                <a:latin typeface="Courier New" pitchFamily="34" charset="0"/>
                <a:ea typeface="Courier New" pitchFamily="34" charset="-122"/>
                <a:cs typeface="Courier New" pitchFamily="34" charset="-120"/>
              </a:rPr>
              <a:t>METFORMIN → 114 efectos documentados en SIDER</a:t>
            </a:r>
            <a:endParaRPr lang="en-US" sz="11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15" name="Text 1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03  ·  DESAFIOS</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Desafios y Decisiones de Riesgo</a:t>
            </a:r>
            <a:endParaRPr lang="en-US" sz="3600" dirty="0"/>
          </a:p>
        </p:txBody>
      </p:sp>
      <p:sp>
        <p:nvSpPr>
          <p:cNvPr id="4" name="Shape 2"/>
          <p:cNvSpPr/>
          <p:nvPr/>
        </p:nvSpPr>
        <p:spPr>
          <a:xfrm>
            <a:off x="548640" y="1828800"/>
            <a:ext cx="5577840" cy="1920240"/>
          </a:xfrm>
          <a:prstGeom prst="roundRect">
            <a:avLst>
              <a:gd name="adj" fmla="val 4762"/>
            </a:avLst>
          </a:prstGeom>
          <a:solidFill>
            <a:srgbClr val="FFFFFF"/>
          </a:solidFill>
          <a:ln w="12700">
            <a:solidFill>
              <a:srgbClr val="E5E7EB"/>
            </a:solidFill>
            <a:prstDash val="solid"/>
          </a:ln>
        </p:spPr>
      </p:sp>
      <p:sp>
        <p:nvSpPr>
          <p:cNvPr id="5" name="Shape 3"/>
          <p:cNvSpPr/>
          <p:nvPr/>
        </p:nvSpPr>
        <p:spPr>
          <a:xfrm>
            <a:off x="822960" y="2103120"/>
            <a:ext cx="502920" cy="502920"/>
          </a:xfrm>
          <a:prstGeom prst="ellipse">
            <a:avLst/>
          </a:prstGeom>
          <a:solidFill>
            <a:srgbClr val="F76C5E"/>
          </a:solidFill>
          <a:ln w="12700">
            <a:solidFill>
              <a:srgbClr val="F76C5E"/>
            </a:solidFill>
            <a:prstDash val="solid"/>
          </a:ln>
        </p:spPr>
      </p:sp>
      <p:sp>
        <p:nvSpPr>
          <p:cNvPr id="6" name="Text 4"/>
          <p:cNvSpPr/>
          <p:nvPr/>
        </p:nvSpPr>
        <p:spPr>
          <a:xfrm>
            <a:off x="82296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63040" y="2121408"/>
            <a:ext cx="45720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Desbalance Extremo</a:t>
            </a:r>
            <a:endParaRPr lang="en-US" sz="1800" dirty="0"/>
          </a:p>
        </p:txBody>
      </p:sp>
      <p:sp>
        <p:nvSpPr>
          <p:cNvPr id="8" name="Text 6"/>
          <p:cNvSpPr/>
          <p:nvPr/>
        </p:nvSpPr>
        <p:spPr>
          <a:xfrm>
            <a:off x="868680" y="2697480"/>
            <a:ext cx="4937760" cy="10058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La densidad de reacciones positivas es de apenas ~2%. Tomamos el riesgo de ignorar etiquetas con frecuencia menor a 300 para evitar sobre-predicción del caso negativo.</a:t>
            </a:r>
            <a:endParaRPr lang="en-US" sz="1200" dirty="0"/>
          </a:p>
        </p:txBody>
      </p:sp>
      <p:sp>
        <p:nvSpPr>
          <p:cNvPr id="9" name="Shape 7"/>
          <p:cNvSpPr/>
          <p:nvPr/>
        </p:nvSpPr>
        <p:spPr>
          <a:xfrm>
            <a:off x="6355080" y="1828800"/>
            <a:ext cx="5577840" cy="1920240"/>
          </a:xfrm>
          <a:prstGeom prst="roundRect">
            <a:avLst>
              <a:gd name="adj" fmla="val 4762"/>
            </a:avLst>
          </a:prstGeom>
          <a:solidFill>
            <a:srgbClr val="FFFFFF"/>
          </a:solidFill>
          <a:ln w="12700">
            <a:solidFill>
              <a:srgbClr val="E5E7EB"/>
            </a:solidFill>
            <a:prstDash val="solid"/>
          </a:ln>
        </p:spPr>
      </p:sp>
      <p:sp>
        <p:nvSpPr>
          <p:cNvPr id="10" name="Shape 8"/>
          <p:cNvSpPr/>
          <p:nvPr/>
        </p:nvSpPr>
        <p:spPr>
          <a:xfrm>
            <a:off x="6629400" y="2103120"/>
            <a:ext cx="502920" cy="502920"/>
          </a:xfrm>
          <a:prstGeom prst="ellipse">
            <a:avLst/>
          </a:prstGeom>
          <a:solidFill>
            <a:srgbClr val="F76C5E"/>
          </a:solidFill>
          <a:ln w="12700">
            <a:solidFill>
              <a:srgbClr val="F76C5E"/>
            </a:solidFill>
            <a:prstDash val="solid"/>
          </a:ln>
        </p:spPr>
      </p:sp>
      <p:sp>
        <p:nvSpPr>
          <p:cNvPr id="11" name="Text 9"/>
          <p:cNvSpPr/>
          <p:nvPr/>
        </p:nvSpPr>
        <p:spPr>
          <a:xfrm>
            <a:off x="662940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269480" y="2121408"/>
            <a:ext cx="45720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Datos Ruidosos de FDA</a:t>
            </a:r>
            <a:endParaRPr lang="en-US" sz="1800" dirty="0"/>
          </a:p>
        </p:txBody>
      </p:sp>
      <p:sp>
        <p:nvSpPr>
          <p:cNvPr id="13" name="Text 11"/>
          <p:cNvSpPr/>
          <p:nvPr/>
        </p:nvSpPr>
        <p:spPr>
          <a:xfrm>
            <a:off x="6675120" y="2697480"/>
            <a:ext cx="4937760" cy="10058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FAERS mezcla efectos adversos con errores de dosis o problemas del dispositivo. Decidimos filtrar a mano términos no médicos para evitar predicciones absurdas.</a:t>
            </a:r>
            <a:endParaRPr lang="en-US" sz="1200" dirty="0"/>
          </a:p>
        </p:txBody>
      </p:sp>
      <p:sp>
        <p:nvSpPr>
          <p:cNvPr id="14" name="Shape 12"/>
          <p:cNvSpPr/>
          <p:nvPr/>
        </p:nvSpPr>
        <p:spPr>
          <a:xfrm>
            <a:off x="548640" y="3977640"/>
            <a:ext cx="5577840" cy="1920240"/>
          </a:xfrm>
          <a:prstGeom prst="roundRect">
            <a:avLst>
              <a:gd name="adj" fmla="val 4762"/>
            </a:avLst>
          </a:prstGeom>
          <a:solidFill>
            <a:srgbClr val="FFFFFF"/>
          </a:solidFill>
          <a:ln w="12700">
            <a:solidFill>
              <a:srgbClr val="E5E7EB"/>
            </a:solidFill>
            <a:prstDash val="solid"/>
          </a:ln>
        </p:spPr>
      </p:sp>
      <p:sp>
        <p:nvSpPr>
          <p:cNvPr id="15" name="Shape 13"/>
          <p:cNvSpPr/>
          <p:nvPr/>
        </p:nvSpPr>
        <p:spPr>
          <a:xfrm>
            <a:off x="822960" y="4251960"/>
            <a:ext cx="502920" cy="502920"/>
          </a:xfrm>
          <a:prstGeom prst="ellipse">
            <a:avLst/>
          </a:prstGeom>
          <a:solidFill>
            <a:srgbClr val="F76C5E"/>
          </a:solidFill>
          <a:ln w="12700">
            <a:solidFill>
              <a:srgbClr val="F76C5E"/>
            </a:solidFill>
            <a:prstDash val="solid"/>
          </a:ln>
        </p:spPr>
      </p:sp>
      <p:sp>
        <p:nvSpPr>
          <p:cNvPr id="16" name="Text 14"/>
          <p:cNvSpPr/>
          <p:nvPr/>
        </p:nvSpPr>
        <p:spPr>
          <a:xfrm>
            <a:off x="822960" y="4251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270248"/>
            <a:ext cx="45720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Hardware Limitado (CPU)</a:t>
            </a:r>
            <a:endParaRPr lang="en-US" sz="1800" dirty="0"/>
          </a:p>
        </p:txBody>
      </p:sp>
      <p:sp>
        <p:nvSpPr>
          <p:cNvPr id="18" name="Text 16"/>
          <p:cNvSpPr/>
          <p:nvPr/>
        </p:nvSpPr>
        <p:spPr>
          <a:xfrm>
            <a:off x="868680" y="4846320"/>
            <a:ext cx="4937760" cy="10058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El fine-tuning de Transformers es costoso en CPU lenta. Decidimos estructurar un entrenamiento resumable por tandas y un sistema de caché de inferencia rápida.</a:t>
            </a:r>
            <a:endParaRPr lang="en-US" sz="1200" dirty="0"/>
          </a:p>
        </p:txBody>
      </p:sp>
      <p:sp>
        <p:nvSpPr>
          <p:cNvPr id="19" name="Shape 17"/>
          <p:cNvSpPr/>
          <p:nvPr/>
        </p:nvSpPr>
        <p:spPr>
          <a:xfrm>
            <a:off x="6355080" y="3977640"/>
            <a:ext cx="5577840" cy="1920240"/>
          </a:xfrm>
          <a:prstGeom prst="roundRect">
            <a:avLst>
              <a:gd name="adj" fmla="val 4762"/>
            </a:avLst>
          </a:prstGeom>
          <a:solidFill>
            <a:srgbClr val="FFFFFF"/>
          </a:solidFill>
          <a:ln w="12700">
            <a:solidFill>
              <a:srgbClr val="E5E7EB"/>
            </a:solidFill>
            <a:prstDash val="solid"/>
          </a:ln>
        </p:spPr>
      </p:sp>
      <p:sp>
        <p:nvSpPr>
          <p:cNvPr id="20" name="Shape 18"/>
          <p:cNvSpPr/>
          <p:nvPr/>
        </p:nvSpPr>
        <p:spPr>
          <a:xfrm>
            <a:off x="6629400" y="4251960"/>
            <a:ext cx="502920" cy="502920"/>
          </a:xfrm>
          <a:prstGeom prst="ellipse">
            <a:avLst/>
          </a:prstGeom>
          <a:solidFill>
            <a:srgbClr val="F76C5E"/>
          </a:solidFill>
          <a:ln w="12700">
            <a:solidFill>
              <a:srgbClr val="F76C5E"/>
            </a:solidFill>
            <a:prstDash val="solid"/>
          </a:ln>
        </p:spPr>
      </p:sp>
      <p:sp>
        <p:nvSpPr>
          <p:cNvPr id="21" name="Text 19"/>
          <p:cNvSpPr/>
          <p:nvPr/>
        </p:nvSpPr>
        <p:spPr>
          <a:xfrm>
            <a:off x="6629400" y="4251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269480" y="4270248"/>
            <a:ext cx="45720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Reportes Parciales</a:t>
            </a:r>
            <a:endParaRPr lang="en-US" sz="1800" dirty="0"/>
          </a:p>
        </p:txBody>
      </p:sp>
      <p:sp>
        <p:nvSpPr>
          <p:cNvPr id="23" name="Text 21"/>
          <p:cNvSpPr/>
          <p:nvPr/>
        </p:nvSpPr>
        <p:spPr>
          <a:xfrm>
            <a:off x="6675120" y="4846320"/>
            <a:ext cx="4937760" cy="10058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Cada reporte FAERS tiene 2-4 reacciones, pero el fármaco causa más de 100. El modelo se evalúa bajo la limitación inherente del sub-reporte de la FDA.</a:t>
            </a:r>
            <a:endParaRPr lang="en-US" sz="12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25" name="Text 2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04  ·  SOLUCION</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El pipeline de datos: Capas y Flujos</a:t>
            </a:r>
            <a:endParaRPr lang="en-US" sz="3600" dirty="0"/>
          </a:p>
        </p:txBody>
      </p:sp>
      <p:sp>
        <p:nvSpPr>
          <p:cNvPr id="4" name="Shape 2"/>
          <p:cNvSpPr/>
          <p:nvPr/>
        </p:nvSpPr>
        <p:spPr>
          <a:xfrm>
            <a:off x="548640" y="1645920"/>
            <a:ext cx="11064240" cy="1280160"/>
          </a:xfrm>
          <a:prstGeom prst="roundRect">
            <a:avLst>
              <a:gd name="adj" fmla="val 3571"/>
            </a:avLst>
          </a:prstGeom>
          <a:solidFill>
            <a:srgbClr val="E2F0D9"/>
          </a:solidFill>
          <a:ln w="19050">
            <a:solidFill>
              <a:srgbClr val="385723"/>
            </a:solidFill>
            <a:prstDash val="solid"/>
          </a:ln>
        </p:spPr>
      </p:sp>
      <p:sp>
        <p:nvSpPr>
          <p:cNvPr id="5" name="Text 3"/>
          <p:cNvSpPr/>
          <p:nvPr/>
        </p:nvSpPr>
        <p:spPr>
          <a:xfrm>
            <a:off x="731520" y="1737360"/>
            <a:ext cx="10698480" cy="274320"/>
          </a:xfrm>
          <a:prstGeom prst="rect">
            <a:avLst/>
          </a:prstGeom>
          <a:noFill/>
          <a:ln/>
        </p:spPr>
        <p:txBody>
          <a:bodyPr wrap="square" rtlCol="0" anchor="ctr"/>
          <a:lstStyle/>
          <a:p>
            <a:pPr indent="0" marL="0">
              <a:buNone/>
            </a:pPr>
            <a:r>
              <a:rPr lang="en-US" sz="1100" b="1" dirty="0">
                <a:solidFill>
                  <a:srgbClr val="385723"/>
                </a:solidFill>
                <a:latin typeface="Calibri" pitchFamily="34" charset="0"/>
                <a:ea typeface="Calibri" pitchFamily="34" charset="-122"/>
                <a:cs typeface="Calibri" pitchFamily="34" charset="-120"/>
              </a:rPr>
              <a:t>CAPA DE PRE-PROCESAMIENTO (DATOS CRUDOS A TABULARES)</a:t>
            </a:r>
            <a:endParaRPr lang="en-US" sz="1100" dirty="0"/>
          </a:p>
        </p:txBody>
      </p:sp>
      <p:sp>
        <p:nvSpPr>
          <p:cNvPr id="6" name="Shape 4"/>
          <p:cNvSpPr/>
          <p:nvPr/>
        </p:nvSpPr>
        <p:spPr>
          <a:xfrm>
            <a:off x="731520" y="2103120"/>
            <a:ext cx="2926080" cy="640080"/>
          </a:xfrm>
          <a:prstGeom prst="roundRect">
            <a:avLst>
              <a:gd name="adj" fmla="val 7143"/>
            </a:avLst>
          </a:prstGeom>
          <a:solidFill>
            <a:srgbClr val="FFFFFF"/>
          </a:solidFill>
          <a:ln w="12700">
            <a:solidFill>
              <a:srgbClr val="385723"/>
            </a:solidFill>
            <a:prstDash val="solid"/>
          </a:ln>
        </p:spPr>
      </p:sp>
      <p:sp>
        <p:nvSpPr>
          <p:cNvPr id="7" name="Text 5"/>
          <p:cNvSpPr/>
          <p:nvPr/>
        </p:nvSpPr>
        <p:spPr>
          <a:xfrm>
            <a:off x="731520" y="2103120"/>
            <a:ext cx="292608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FDA FAERS (.txt)</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Archivos crudos por trimestre</a:t>
            </a:r>
            <a:endParaRPr lang="en-US" sz="1000" dirty="0"/>
          </a:p>
        </p:txBody>
      </p:sp>
      <p:sp>
        <p:nvSpPr>
          <p:cNvPr id="8" name="Text 6"/>
          <p:cNvSpPr/>
          <p:nvPr/>
        </p:nvSpPr>
        <p:spPr>
          <a:xfrm>
            <a:off x="3794760" y="2148840"/>
            <a:ext cx="457200" cy="457200"/>
          </a:xfrm>
          <a:prstGeom prst="rect">
            <a:avLst/>
          </a:prstGeom>
          <a:noFill/>
          <a:ln/>
        </p:spPr>
        <p:txBody>
          <a:bodyPr wrap="square" rtlCol="0" anchor="ctr"/>
          <a:lstStyle/>
          <a:p>
            <a:pPr algn="ctr" indent="0" marL="0">
              <a:buNone/>
            </a:pPr>
            <a:r>
              <a:rPr lang="en-US" sz="2400" dirty="0">
                <a:solidFill>
                  <a:srgbClr val="385723"/>
                </a:solidFill>
              </a:rPr>
              <a:t>→</a:t>
            </a:r>
            <a:endParaRPr lang="en-US" sz="2400" dirty="0"/>
          </a:p>
        </p:txBody>
      </p:sp>
      <p:sp>
        <p:nvSpPr>
          <p:cNvPr id="9" name="Shape 7"/>
          <p:cNvSpPr/>
          <p:nvPr/>
        </p:nvSpPr>
        <p:spPr>
          <a:xfrm>
            <a:off x="4389120" y="2103120"/>
            <a:ext cx="3474720" cy="640080"/>
          </a:xfrm>
          <a:prstGeom prst="roundRect">
            <a:avLst>
              <a:gd name="adj" fmla="val 7143"/>
            </a:avLst>
          </a:prstGeom>
          <a:solidFill>
            <a:srgbClr val="FFFFFF"/>
          </a:solidFill>
          <a:ln w="12700">
            <a:solidFill>
              <a:srgbClr val="385723"/>
            </a:solidFill>
            <a:prstDash val="solid"/>
          </a:ln>
        </p:spPr>
      </p:sp>
      <p:sp>
        <p:nvSpPr>
          <p:cNvPr id="10" name="Text 8"/>
          <p:cNvSpPr/>
          <p:nvPr/>
        </p:nvSpPr>
        <p:spPr>
          <a:xfrm>
            <a:off x="4389120" y="2103120"/>
            <a:ext cx="347472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Limpieza y Consolidador</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Une tablas por ID y descarta nulos</a:t>
            </a:r>
            <a:endParaRPr lang="en-US" sz="1000" dirty="0"/>
          </a:p>
        </p:txBody>
      </p:sp>
      <p:sp>
        <p:nvSpPr>
          <p:cNvPr id="11" name="Text 9"/>
          <p:cNvSpPr/>
          <p:nvPr/>
        </p:nvSpPr>
        <p:spPr>
          <a:xfrm>
            <a:off x="8001000" y="2148840"/>
            <a:ext cx="457200" cy="457200"/>
          </a:xfrm>
          <a:prstGeom prst="rect">
            <a:avLst/>
          </a:prstGeom>
          <a:noFill/>
          <a:ln/>
        </p:spPr>
        <p:txBody>
          <a:bodyPr wrap="square" rtlCol="0" anchor="ctr"/>
          <a:lstStyle/>
          <a:p>
            <a:pPr algn="ctr" indent="0" marL="0">
              <a:buNone/>
            </a:pPr>
            <a:r>
              <a:rPr lang="en-US" sz="2400" dirty="0">
                <a:solidFill>
                  <a:srgbClr val="385723"/>
                </a:solidFill>
              </a:rPr>
              <a:t>→</a:t>
            </a:r>
            <a:endParaRPr lang="en-US" sz="2400" dirty="0"/>
          </a:p>
        </p:txBody>
      </p:sp>
      <p:sp>
        <p:nvSpPr>
          <p:cNvPr id="12" name="Shape 10"/>
          <p:cNvSpPr/>
          <p:nvPr/>
        </p:nvSpPr>
        <p:spPr>
          <a:xfrm>
            <a:off x="8595360" y="2103120"/>
            <a:ext cx="2743200" cy="640080"/>
          </a:xfrm>
          <a:prstGeom prst="roundRect">
            <a:avLst>
              <a:gd name="adj" fmla="val 7143"/>
            </a:avLst>
          </a:prstGeom>
          <a:solidFill>
            <a:srgbClr val="FFFFFF"/>
          </a:solidFill>
          <a:ln w="12700">
            <a:solidFill>
              <a:srgbClr val="385723"/>
            </a:solidFill>
            <a:prstDash val="solid"/>
          </a:ln>
        </p:spPr>
      </p:sp>
      <p:sp>
        <p:nvSpPr>
          <p:cNvPr id="13" name="Text 11"/>
          <p:cNvSpPr/>
          <p:nvPr/>
        </p:nvSpPr>
        <p:spPr>
          <a:xfrm>
            <a:off x="8595360" y="2103120"/>
            <a:ext cx="274320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Dataset Consolidado</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dataset.csv tabular</a:t>
            </a:r>
            <a:endParaRPr lang="en-US" sz="1000" dirty="0"/>
          </a:p>
        </p:txBody>
      </p:sp>
      <p:sp>
        <p:nvSpPr>
          <p:cNvPr id="14" name="Text 12"/>
          <p:cNvSpPr/>
          <p:nvPr/>
        </p:nvSpPr>
        <p:spPr>
          <a:xfrm>
            <a:off x="5486400" y="2880360"/>
            <a:ext cx="1188720" cy="365760"/>
          </a:xfrm>
          <a:prstGeom prst="rect">
            <a:avLst/>
          </a:prstGeom>
          <a:noFill/>
          <a:ln/>
        </p:spPr>
        <p:txBody>
          <a:bodyPr wrap="square" rtlCol="0" anchor="ctr"/>
          <a:lstStyle/>
          <a:p>
            <a:pPr algn="ctr" indent="0" marL="0">
              <a:buNone/>
            </a:pPr>
            <a:r>
              <a:rPr lang="en-US" sz="2400" dirty="0">
                <a:solidFill>
                  <a:srgbClr val="1E2761"/>
                </a:solidFill>
              </a:rPr>
              <a:t>↓</a:t>
            </a:r>
            <a:endParaRPr lang="en-US" sz="2400" dirty="0"/>
          </a:p>
        </p:txBody>
      </p:sp>
      <p:sp>
        <p:nvSpPr>
          <p:cNvPr id="15" name="Shape 13"/>
          <p:cNvSpPr/>
          <p:nvPr/>
        </p:nvSpPr>
        <p:spPr>
          <a:xfrm>
            <a:off x="548640" y="3200400"/>
            <a:ext cx="11064240" cy="1280160"/>
          </a:xfrm>
          <a:prstGeom prst="roundRect">
            <a:avLst>
              <a:gd name="adj" fmla="val 3571"/>
            </a:avLst>
          </a:prstGeom>
          <a:solidFill>
            <a:srgbClr val="FCE4D6"/>
          </a:solidFill>
          <a:ln w="19050">
            <a:solidFill>
              <a:srgbClr val="C65911"/>
            </a:solidFill>
            <a:prstDash val="solid"/>
          </a:ln>
        </p:spPr>
      </p:sp>
      <p:sp>
        <p:nvSpPr>
          <p:cNvPr id="16" name="Text 14"/>
          <p:cNvSpPr/>
          <p:nvPr/>
        </p:nvSpPr>
        <p:spPr>
          <a:xfrm>
            <a:off x="731520" y="3291840"/>
            <a:ext cx="10698480" cy="274320"/>
          </a:xfrm>
          <a:prstGeom prst="rect">
            <a:avLst/>
          </a:prstGeom>
          <a:noFill/>
          <a:ln/>
        </p:spPr>
        <p:txBody>
          <a:bodyPr wrap="square" rtlCol="0" anchor="ctr"/>
          <a:lstStyle/>
          <a:p>
            <a:pPr indent="0" marL="0">
              <a:buNone/>
            </a:pPr>
            <a:r>
              <a:rPr lang="en-US" sz="1100" b="1" dirty="0">
                <a:solidFill>
                  <a:srgbClr val="C65911"/>
                </a:solidFill>
                <a:latin typeface="Calibri" pitchFamily="34" charset="0"/>
                <a:ea typeface="Calibri" pitchFamily="34" charset="-122"/>
                <a:cs typeface="Calibri" pitchFamily="34" charset="-120"/>
              </a:rPr>
              <a:t>CAPA DE INGENIERÍA DE CARACTERÍSTICAS (SEPARACIÓN Y FORMATEO)</a:t>
            </a:r>
            <a:endParaRPr lang="en-US" sz="1100" dirty="0"/>
          </a:p>
        </p:txBody>
      </p:sp>
      <p:sp>
        <p:nvSpPr>
          <p:cNvPr id="17" name="Shape 15"/>
          <p:cNvSpPr/>
          <p:nvPr/>
        </p:nvSpPr>
        <p:spPr>
          <a:xfrm>
            <a:off x="731520" y="3657600"/>
            <a:ext cx="2926080" cy="640080"/>
          </a:xfrm>
          <a:prstGeom prst="roundRect">
            <a:avLst>
              <a:gd name="adj" fmla="val 7143"/>
            </a:avLst>
          </a:prstGeom>
          <a:solidFill>
            <a:srgbClr val="FFFFFF"/>
          </a:solidFill>
          <a:ln w="12700">
            <a:solidFill>
              <a:srgbClr val="C65911"/>
            </a:solidFill>
            <a:prstDash val="solid"/>
          </a:ln>
        </p:spPr>
      </p:sp>
      <p:sp>
        <p:nvSpPr>
          <p:cNvPr id="18" name="Text 16"/>
          <p:cNvSpPr/>
          <p:nvPr/>
        </p:nvSpPr>
        <p:spPr>
          <a:xfrm>
            <a:off x="731520" y="3657600"/>
            <a:ext cx="292608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Split Determinista 70/30</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Separación limpia de datos</a:t>
            </a:r>
            <a:endParaRPr lang="en-US" sz="1000" dirty="0"/>
          </a:p>
        </p:txBody>
      </p:sp>
      <p:sp>
        <p:nvSpPr>
          <p:cNvPr id="19" name="Text 17"/>
          <p:cNvSpPr/>
          <p:nvPr/>
        </p:nvSpPr>
        <p:spPr>
          <a:xfrm>
            <a:off x="3794760" y="3703320"/>
            <a:ext cx="457200" cy="457200"/>
          </a:xfrm>
          <a:prstGeom prst="rect">
            <a:avLst/>
          </a:prstGeom>
          <a:noFill/>
          <a:ln/>
        </p:spPr>
        <p:txBody>
          <a:bodyPr wrap="square" rtlCol="0" anchor="ctr"/>
          <a:lstStyle/>
          <a:p>
            <a:pPr algn="ctr" indent="0" marL="0">
              <a:buNone/>
            </a:pPr>
            <a:r>
              <a:rPr lang="en-US" sz="2400" dirty="0">
                <a:solidFill>
                  <a:srgbClr val="C65911"/>
                </a:solidFill>
              </a:rPr>
              <a:t>→</a:t>
            </a:r>
            <a:endParaRPr lang="en-US" sz="2400" dirty="0"/>
          </a:p>
        </p:txBody>
      </p:sp>
      <p:sp>
        <p:nvSpPr>
          <p:cNvPr id="20" name="Shape 18"/>
          <p:cNvSpPr/>
          <p:nvPr/>
        </p:nvSpPr>
        <p:spPr>
          <a:xfrm>
            <a:off x="4389120" y="3657600"/>
            <a:ext cx="3474720" cy="640080"/>
          </a:xfrm>
          <a:prstGeom prst="roundRect">
            <a:avLst>
              <a:gd name="adj" fmla="val 7143"/>
            </a:avLst>
          </a:prstGeom>
          <a:solidFill>
            <a:srgbClr val="FFFFFF"/>
          </a:solidFill>
          <a:ln w="12700">
            <a:solidFill>
              <a:srgbClr val="C65911"/>
            </a:solidFill>
            <a:prstDash val="solid"/>
          </a:ln>
        </p:spPr>
      </p:sp>
      <p:sp>
        <p:nvSpPr>
          <p:cNvPr id="21" name="Text 19"/>
          <p:cNvSpPr/>
          <p:nvPr/>
        </p:nvSpPr>
        <p:spPr>
          <a:xfrm>
            <a:off x="4389120" y="3657600"/>
            <a:ext cx="347472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Generador de Oraciones Clínicas</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Construye texto para BioBERT</a:t>
            </a:r>
            <a:endParaRPr lang="en-US" sz="1000" dirty="0"/>
          </a:p>
        </p:txBody>
      </p:sp>
      <p:sp>
        <p:nvSpPr>
          <p:cNvPr id="22" name="Text 20"/>
          <p:cNvSpPr/>
          <p:nvPr/>
        </p:nvSpPr>
        <p:spPr>
          <a:xfrm>
            <a:off x="8001000" y="3703320"/>
            <a:ext cx="457200" cy="457200"/>
          </a:xfrm>
          <a:prstGeom prst="rect">
            <a:avLst/>
          </a:prstGeom>
          <a:noFill/>
          <a:ln/>
        </p:spPr>
        <p:txBody>
          <a:bodyPr wrap="square" rtlCol="0" anchor="ctr"/>
          <a:lstStyle/>
          <a:p>
            <a:pPr algn="ctr" indent="0" marL="0">
              <a:buNone/>
            </a:pPr>
            <a:r>
              <a:rPr lang="en-US" sz="2400" dirty="0">
                <a:solidFill>
                  <a:srgbClr val="C65911"/>
                </a:solidFill>
              </a:rPr>
              <a:t>→</a:t>
            </a:r>
            <a:endParaRPr lang="en-US" sz="2400" dirty="0"/>
          </a:p>
        </p:txBody>
      </p:sp>
      <p:sp>
        <p:nvSpPr>
          <p:cNvPr id="23" name="Shape 21"/>
          <p:cNvSpPr/>
          <p:nvPr/>
        </p:nvSpPr>
        <p:spPr>
          <a:xfrm>
            <a:off x="8595360" y="3657600"/>
            <a:ext cx="2743200" cy="640080"/>
          </a:xfrm>
          <a:prstGeom prst="roundRect">
            <a:avLst>
              <a:gd name="adj" fmla="val 7143"/>
            </a:avLst>
          </a:prstGeom>
          <a:solidFill>
            <a:srgbClr val="FFFFFF"/>
          </a:solidFill>
          <a:ln w="12700">
            <a:solidFill>
              <a:srgbClr val="C65911"/>
            </a:solidFill>
            <a:prstDash val="solid"/>
          </a:ln>
        </p:spPr>
      </p:sp>
      <p:sp>
        <p:nvSpPr>
          <p:cNvPr id="24" name="Text 22"/>
          <p:cNvSpPr/>
          <p:nvPr/>
        </p:nvSpPr>
        <p:spPr>
          <a:xfrm>
            <a:off x="8595360" y="3657600"/>
            <a:ext cx="274320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Texto Canónico Estructurado</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patient_text representable</a:t>
            </a:r>
            <a:endParaRPr lang="en-US" sz="1000" dirty="0"/>
          </a:p>
        </p:txBody>
      </p:sp>
      <p:sp>
        <p:nvSpPr>
          <p:cNvPr id="25" name="Text 23"/>
          <p:cNvSpPr/>
          <p:nvPr/>
        </p:nvSpPr>
        <p:spPr>
          <a:xfrm>
            <a:off x="5486400" y="4434840"/>
            <a:ext cx="1188720" cy="365760"/>
          </a:xfrm>
          <a:prstGeom prst="rect">
            <a:avLst/>
          </a:prstGeom>
          <a:noFill/>
          <a:ln/>
        </p:spPr>
        <p:txBody>
          <a:bodyPr wrap="square" rtlCol="0" anchor="ctr"/>
          <a:lstStyle/>
          <a:p>
            <a:pPr algn="ctr" indent="0" marL="0">
              <a:buNone/>
            </a:pPr>
            <a:r>
              <a:rPr lang="en-US" sz="2400" dirty="0">
                <a:solidFill>
                  <a:srgbClr val="1E2761"/>
                </a:solidFill>
              </a:rPr>
              <a:t>↓</a:t>
            </a:r>
            <a:endParaRPr lang="en-US" sz="2400" dirty="0"/>
          </a:p>
        </p:txBody>
      </p:sp>
      <p:sp>
        <p:nvSpPr>
          <p:cNvPr id="26" name="Shape 24"/>
          <p:cNvSpPr/>
          <p:nvPr/>
        </p:nvSpPr>
        <p:spPr>
          <a:xfrm>
            <a:off x="548640" y="4754880"/>
            <a:ext cx="11064240" cy="1280160"/>
          </a:xfrm>
          <a:prstGeom prst="roundRect">
            <a:avLst>
              <a:gd name="adj" fmla="val 3571"/>
            </a:avLst>
          </a:prstGeom>
          <a:solidFill>
            <a:srgbClr val="DDEBF7"/>
          </a:solidFill>
          <a:ln w="19050">
            <a:solidFill>
              <a:srgbClr val="2F5597"/>
            </a:solidFill>
            <a:prstDash val="solid"/>
          </a:ln>
        </p:spPr>
      </p:sp>
      <p:sp>
        <p:nvSpPr>
          <p:cNvPr id="27" name="Text 25"/>
          <p:cNvSpPr/>
          <p:nvPr/>
        </p:nvSpPr>
        <p:spPr>
          <a:xfrm>
            <a:off x="731520" y="4846320"/>
            <a:ext cx="10698480" cy="274320"/>
          </a:xfrm>
          <a:prstGeom prst="rect">
            <a:avLst/>
          </a:prstGeom>
          <a:noFill/>
          <a:ln/>
        </p:spPr>
        <p:txBody>
          <a:bodyPr wrap="square" rtlCol="0" anchor="ctr"/>
          <a:lstStyle/>
          <a:p>
            <a:pPr indent="0" marL="0">
              <a:buNone/>
            </a:pPr>
            <a:r>
              <a:rPr lang="en-US" sz="1100" b="1" dirty="0">
                <a:solidFill>
                  <a:srgbClr val="2F5597"/>
                </a:solidFill>
                <a:latin typeface="Calibri" pitchFamily="34" charset="0"/>
                <a:ea typeface="Calibri" pitchFamily="34" charset="-122"/>
                <a:cs typeface="Calibri" pitchFamily="34" charset="-120"/>
              </a:rPr>
              <a:t>CAPA DE PREDICCIÓN Y CALIBRACIÓN DE UMBRALES</a:t>
            </a:r>
            <a:endParaRPr lang="en-US" sz="1100" dirty="0"/>
          </a:p>
        </p:txBody>
      </p:sp>
      <p:sp>
        <p:nvSpPr>
          <p:cNvPr id="28" name="Shape 26"/>
          <p:cNvSpPr/>
          <p:nvPr/>
        </p:nvSpPr>
        <p:spPr>
          <a:xfrm>
            <a:off x="731520" y="5212080"/>
            <a:ext cx="2926080" cy="640080"/>
          </a:xfrm>
          <a:prstGeom prst="roundRect">
            <a:avLst>
              <a:gd name="adj" fmla="val 7143"/>
            </a:avLst>
          </a:prstGeom>
          <a:solidFill>
            <a:srgbClr val="FFFFFF"/>
          </a:solidFill>
          <a:ln w="12700">
            <a:solidFill>
              <a:srgbClr val="2F5597"/>
            </a:solidFill>
            <a:prstDash val="solid"/>
          </a:ln>
        </p:spPr>
      </p:sp>
      <p:sp>
        <p:nvSpPr>
          <p:cNvPr id="29" name="Text 27"/>
          <p:cNvSpPr/>
          <p:nvPr/>
        </p:nvSpPr>
        <p:spPr>
          <a:xfrm>
            <a:off x="731520" y="5212080"/>
            <a:ext cx="292608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Tokenizador e Inferencia</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BioBERT procesa el texto</a:t>
            </a:r>
            <a:endParaRPr lang="en-US" sz="1000" dirty="0"/>
          </a:p>
        </p:txBody>
      </p:sp>
      <p:sp>
        <p:nvSpPr>
          <p:cNvPr id="30" name="Text 28"/>
          <p:cNvSpPr/>
          <p:nvPr/>
        </p:nvSpPr>
        <p:spPr>
          <a:xfrm>
            <a:off x="3794760" y="5257800"/>
            <a:ext cx="457200" cy="457200"/>
          </a:xfrm>
          <a:prstGeom prst="rect">
            <a:avLst/>
          </a:prstGeom>
          <a:noFill/>
          <a:ln/>
        </p:spPr>
        <p:txBody>
          <a:bodyPr wrap="square" rtlCol="0" anchor="ctr"/>
          <a:lstStyle/>
          <a:p>
            <a:pPr algn="ctr" indent="0" marL="0">
              <a:buNone/>
            </a:pPr>
            <a:r>
              <a:rPr lang="en-US" sz="2400" dirty="0">
                <a:solidFill>
                  <a:srgbClr val="2F5597"/>
                </a:solidFill>
              </a:rPr>
              <a:t>→</a:t>
            </a:r>
            <a:endParaRPr lang="en-US" sz="2400" dirty="0"/>
          </a:p>
        </p:txBody>
      </p:sp>
      <p:sp>
        <p:nvSpPr>
          <p:cNvPr id="31" name="Shape 29"/>
          <p:cNvSpPr/>
          <p:nvPr/>
        </p:nvSpPr>
        <p:spPr>
          <a:xfrm>
            <a:off x="4389120" y="5212080"/>
            <a:ext cx="3474720" cy="640080"/>
          </a:xfrm>
          <a:prstGeom prst="roundRect">
            <a:avLst>
              <a:gd name="adj" fmla="val 7143"/>
            </a:avLst>
          </a:prstGeom>
          <a:solidFill>
            <a:srgbClr val="FFFFFF"/>
          </a:solidFill>
          <a:ln w="12700">
            <a:solidFill>
              <a:srgbClr val="2F5597"/>
            </a:solidFill>
            <a:prstDash val="solid"/>
          </a:ln>
        </p:spPr>
      </p:sp>
      <p:sp>
        <p:nvSpPr>
          <p:cNvPr id="32" name="Text 30"/>
          <p:cNvSpPr/>
          <p:nvPr/>
        </p:nvSpPr>
        <p:spPr>
          <a:xfrm>
            <a:off x="4389120" y="5212080"/>
            <a:ext cx="347472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Calibrador F2 (Thresholds)</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Optimiza umbrales por etiqueta</a:t>
            </a:r>
            <a:endParaRPr lang="en-US" sz="1000" dirty="0"/>
          </a:p>
        </p:txBody>
      </p:sp>
      <p:sp>
        <p:nvSpPr>
          <p:cNvPr id="33" name="Text 31"/>
          <p:cNvSpPr/>
          <p:nvPr/>
        </p:nvSpPr>
        <p:spPr>
          <a:xfrm>
            <a:off x="8001000" y="5257800"/>
            <a:ext cx="457200" cy="457200"/>
          </a:xfrm>
          <a:prstGeom prst="rect">
            <a:avLst/>
          </a:prstGeom>
          <a:noFill/>
          <a:ln/>
        </p:spPr>
        <p:txBody>
          <a:bodyPr wrap="square" rtlCol="0" anchor="ctr"/>
          <a:lstStyle/>
          <a:p>
            <a:pPr algn="ctr" indent="0" marL="0">
              <a:buNone/>
            </a:pPr>
            <a:r>
              <a:rPr lang="en-US" sz="2400" dirty="0">
                <a:solidFill>
                  <a:srgbClr val="2F5597"/>
                </a:solidFill>
              </a:rPr>
              <a:t>→</a:t>
            </a:r>
            <a:endParaRPr lang="en-US" sz="2400" dirty="0"/>
          </a:p>
        </p:txBody>
      </p:sp>
      <p:sp>
        <p:nvSpPr>
          <p:cNvPr id="34" name="Shape 32"/>
          <p:cNvSpPr/>
          <p:nvPr/>
        </p:nvSpPr>
        <p:spPr>
          <a:xfrm>
            <a:off x="8595360" y="5212080"/>
            <a:ext cx="2743200" cy="640080"/>
          </a:xfrm>
          <a:prstGeom prst="roundRect">
            <a:avLst>
              <a:gd name="adj" fmla="val 7143"/>
            </a:avLst>
          </a:prstGeom>
          <a:solidFill>
            <a:srgbClr val="FFFFFF"/>
          </a:solidFill>
          <a:ln w="12700">
            <a:solidFill>
              <a:srgbClr val="2F5597"/>
            </a:solidFill>
            <a:prstDash val="solid"/>
          </a:ln>
        </p:spPr>
      </p:sp>
      <p:sp>
        <p:nvSpPr>
          <p:cNvPr id="35" name="Text 33"/>
          <p:cNvSpPr/>
          <p:nvPr/>
        </p:nvSpPr>
        <p:spPr>
          <a:xfrm>
            <a:off x="8595360" y="5212080"/>
            <a:ext cx="2743200" cy="64008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98 Predicciones Finales</a:t>
            </a:r>
            <a:endParaRPr lang="en-US" sz="1000" dirty="0"/>
          </a:p>
          <a:p>
            <a:pPr algn="ctr" indent="0" marL="0">
              <a:buNone/>
            </a:pPr>
            <a:r>
              <a:rPr lang="en-US" sz="1000" dirty="0">
                <a:solidFill>
                  <a:srgbClr val="1A1A2E"/>
                </a:solidFill>
                <a:latin typeface="Calibri" pitchFamily="34" charset="0"/>
                <a:ea typeface="Calibri" pitchFamily="34" charset="-122"/>
                <a:cs typeface="Calibri" pitchFamily="34" charset="-120"/>
              </a:rPr>
              <a:t>Traducido y verificado vs SIDER</a:t>
            </a:r>
            <a:endParaRPr lang="en-US" sz="1000" dirty="0"/>
          </a:p>
        </p:txBody>
      </p:sp>
      <p:sp>
        <p:nvSpPr>
          <p:cNvPr id="36" name="Text 3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37" name="Text 35"/>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05  ·  REPRESENTACION</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Representacion: ¿Como lee el modelo actual?</a:t>
            </a:r>
            <a:endParaRPr lang="en-US" sz="3600" dirty="0"/>
          </a:p>
        </p:txBody>
      </p:sp>
      <p:sp>
        <p:nvSpPr>
          <p:cNvPr id="4" name="Shape 2"/>
          <p:cNvSpPr/>
          <p:nvPr/>
        </p:nvSpPr>
        <p:spPr>
          <a:xfrm>
            <a:off x="548640" y="1783080"/>
            <a:ext cx="5486400" cy="4389120"/>
          </a:xfrm>
          <a:prstGeom prst="roundRect">
            <a:avLst>
              <a:gd name="adj" fmla="val 3125"/>
            </a:avLst>
          </a:prstGeom>
          <a:solidFill>
            <a:srgbClr val="FFFFFF"/>
          </a:solidFill>
          <a:ln w="25400">
            <a:solidFill>
              <a:srgbClr val="4361EE"/>
            </a:solidFill>
            <a:prstDash val="solid"/>
          </a:ln>
        </p:spPr>
      </p:sp>
      <p:sp>
        <p:nvSpPr>
          <p:cNvPr id="5" name="Text 3"/>
          <p:cNvSpPr/>
          <p:nvPr/>
        </p:nvSpPr>
        <p:spPr>
          <a:xfrm>
            <a:off x="777240" y="1965960"/>
            <a:ext cx="5029200" cy="457200"/>
          </a:xfrm>
          <a:prstGeom prst="rect">
            <a:avLst/>
          </a:prstGeom>
          <a:noFill/>
          <a:ln/>
        </p:spPr>
        <p:txBody>
          <a:bodyPr wrap="square" lIns="0" tIns="0" rIns="0" bIns="0" rtlCol="0" anchor="ctr"/>
          <a:lstStyle/>
          <a:p>
            <a:pPr indent="0" marL="0">
              <a:buNone/>
            </a:pPr>
            <a:r>
              <a:rPr lang="en-US" sz="2000" b="1" dirty="0">
                <a:solidFill>
                  <a:srgbClr val="4361EE"/>
                </a:solidFill>
                <a:latin typeface="Cambria" pitchFamily="34" charset="0"/>
                <a:ea typeface="Cambria" pitchFamily="34" charset="-122"/>
                <a:cs typeface="Cambria" pitchFamily="34" charset="-120"/>
              </a:rPr>
              <a:t>Tokenizador Clinico Especializado (BPE)</a:t>
            </a:r>
            <a:endParaRPr lang="en-US" sz="2000" dirty="0"/>
          </a:p>
        </p:txBody>
      </p:sp>
      <p:sp>
        <p:nvSpPr>
          <p:cNvPr id="6" name="Text 4"/>
          <p:cNvSpPr/>
          <p:nvPr/>
        </p:nvSpPr>
        <p:spPr>
          <a:xfrm>
            <a:off x="777240" y="2423160"/>
            <a:ext cx="5029200" cy="274320"/>
          </a:xfrm>
          <a:prstGeom prst="rect">
            <a:avLst/>
          </a:prstGeom>
          <a:noFill/>
          <a:ln/>
        </p:spPr>
        <p:txBody>
          <a:bodyPr wrap="square" lIns="0" tIns="0" rIns="0" bIns="0" rtlCol="0" anchor="ctr"/>
          <a:lstStyle/>
          <a:p>
            <a:pPr indent="0" marL="0">
              <a:buNone/>
            </a:pPr>
            <a:r>
              <a:rPr lang="en-US" sz="1100" i="1" dirty="0">
                <a:solidFill>
                  <a:srgbClr val="6B7280"/>
                </a:solidFill>
              </a:rPr>
              <a:t>Procesamiento de texto medico — Unidad 5 (I)</a:t>
            </a:r>
            <a:endParaRPr lang="en-US" sz="1100" dirty="0"/>
          </a:p>
        </p:txBody>
      </p:sp>
      <p:sp>
        <p:nvSpPr>
          <p:cNvPr id="7" name="Text 5"/>
          <p:cNvSpPr/>
          <p:nvPr/>
        </p:nvSpPr>
        <p:spPr>
          <a:xfrm>
            <a:off x="777240" y="2880360"/>
            <a:ext cx="5029200" cy="3017520"/>
          </a:xfrm>
          <a:prstGeom prst="rect">
            <a:avLst/>
          </a:prstGeom>
          <a:noFill/>
          <a:ln/>
        </p:spPr>
        <p:txBody>
          <a:bodyPr wrap="square" rtlCol="0" anchor="ctr"/>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Divide la oracion clinica en palabras y subpalabras (tokens).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Utiliza un vocabulario pre-entrenado en textos medicos de 30.000 palabras.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Maneja terminos desconocidos rompiendolos en sub-tokens (ej: 'acetaminophen' -&gt; 'aceta', '##mino', '##phen').</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Asocia cada token a un ID numerico representable para el Transformer.</a:t>
            </a:r>
            <a:endParaRPr lang="en-US" sz="1300" dirty="0"/>
          </a:p>
        </p:txBody>
      </p:sp>
      <p:sp>
        <p:nvSpPr>
          <p:cNvPr id="8" name="Shape 6"/>
          <p:cNvSpPr/>
          <p:nvPr/>
        </p:nvSpPr>
        <p:spPr>
          <a:xfrm>
            <a:off x="6355080" y="1783080"/>
            <a:ext cx="5486400" cy="4389120"/>
          </a:xfrm>
          <a:prstGeom prst="roundRect">
            <a:avLst>
              <a:gd name="adj" fmla="val 3125"/>
            </a:avLst>
          </a:prstGeom>
          <a:solidFill>
            <a:srgbClr val="FFFFFF"/>
          </a:solidFill>
          <a:ln w="25400">
            <a:solidFill>
              <a:srgbClr val="F76C5E"/>
            </a:solidFill>
            <a:prstDash val="solid"/>
          </a:ln>
        </p:spPr>
      </p:sp>
      <p:sp>
        <p:nvSpPr>
          <p:cNvPr id="9" name="Text 7"/>
          <p:cNvSpPr/>
          <p:nvPr/>
        </p:nvSpPr>
        <p:spPr>
          <a:xfrm>
            <a:off x="6583680" y="1965960"/>
            <a:ext cx="5029200" cy="457200"/>
          </a:xfrm>
          <a:prstGeom prst="rect">
            <a:avLst/>
          </a:prstGeom>
          <a:noFill/>
          <a:ln/>
        </p:spPr>
        <p:txBody>
          <a:bodyPr wrap="square" lIns="0" tIns="0" rIns="0" bIns="0" rtlCol="0" anchor="ctr"/>
          <a:lstStyle/>
          <a:p>
            <a:pPr indent="0" marL="0">
              <a:buNone/>
            </a:pPr>
            <a:r>
              <a:rPr lang="en-US" sz="2000" b="1" dirty="0">
                <a:solidFill>
                  <a:srgbClr val="F76C5E"/>
                </a:solidFill>
                <a:latin typeface="Cambria" pitchFamily="34" charset="0"/>
                <a:ea typeface="Cambria" pitchFamily="34" charset="-122"/>
                <a:cs typeface="Cambria" pitchFamily="34" charset="-120"/>
              </a:rPr>
              <a:t>Embeddings Densos Contextuales (BioBERT)</a:t>
            </a:r>
            <a:endParaRPr lang="en-US" sz="2000" dirty="0"/>
          </a:p>
        </p:txBody>
      </p:sp>
      <p:sp>
        <p:nvSpPr>
          <p:cNvPr id="10" name="Text 8"/>
          <p:cNvSpPr/>
          <p:nvPr/>
        </p:nvSpPr>
        <p:spPr>
          <a:xfrm>
            <a:off x="6583680" y="2423160"/>
            <a:ext cx="5029200" cy="274320"/>
          </a:xfrm>
          <a:prstGeom prst="rect">
            <a:avLst/>
          </a:prstGeom>
          <a:noFill/>
          <a:ln/>
        </p:spPr>
        <p:txBody>
          <a:bodyPr wrap="square" lIns="0" tIns="0" rIns="0" bIns="0" rtlCol="0" anchor="ctr"/>
          <a:lstStyle/>
          <a:p>
            <a:pPr indent="0" marL="0">
              <a:buNone/>
            </a:pPr>
            <a:r>
              <a:rPr lang="en-US" sz="1100" i="1" dirty="0">
                <a:solidFill>
                  <a:srgbClr val="6B7280"/>
                </a:solidFill>
              </a:rPr>
              <a:t>Representacion vectorial densa — Unidad 5 (II)</a:t>
            </a:r>
            <a:endParaRPr lang="en-US" sz="1100" dirty="0"/>
          </a:p>
        </p:txBody>
      </p:sp>
      <p:sp>
        <p:nvSpPr>
          <p:cNvPr id="11" name="Text 9"/>
          <p:cNvSpPr/>
          <p:nvPr/>
        </p:nvSpPr>
        <p:spPr>
          <a:xfrm>
            <a:off x="6583680" y="2880360"/>
            <a:ext cx="5029200" cy="3017520"/>
          </a:xfrm>
          <a:prstGeom prst="rect">
            <a:avLst/>
          </a:prstGeom>
          <a:noFill/>
          <a:ln/>
        </p:spPr>
        <p:txBody>
          <a:bodyPr wrap="square" rtlCol="0" anchor="ctr"/>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Proyecta los IDs a vectores continuos en un espacio de 768 dimensiones.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Pre-entrenado sobre millones de resumenes biomedicos (PubMed).</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Captura sinonimia clinica real de forma automatica: entiende que 'headache' y 'migraine' estan cercanos en el espacio vectorial.</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Modifica los vectores segun el contexto (ej: 'cold' como resfrio vs. clima frio).</a:t>
            </a:r>
            <a:endParaRPr lang="en-US" sz="130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06  ·  MODELOS</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Comparativa de Modelos y Debate</a:t>
            </a:r>
            <a:endParaRPr lang="en-US" sz="3600" dirty="0"/>
          </a:p>
        </p:txBody>
      </p:sp>
      <p:sp>
        <p:nvSpPr>
          <p:cNvPr id="4" name="Shape 2"/>
          <p:cNvSpPr/>
          <p:nvPr/>
        </p:nvSpPr>
        <p:spPr>
          <a:xfrm>
            <a:off x="548640" y="1783080"/>
            <a:ext cx="3474720" cy="3200400"/>
          </a:xfrm>
          <a:prstGeom prst="roundRect">
            <a:avLst>
              <a:gd name="adj" fmla="val 2857"/>
            </a:avLst>
          </a:prstGeom>
          <a:solidFill>
            <a:srgbClr val="FFFFFF"/>
          </a:solidFill>
          <a:ln w="19050">
            <a:solidFill>
              <a:srgbClr val="4361EE"/>
            </a:solidFill>
            <a:prstDash val="solid"/>
          </a:ln>
        </p:spPr>
      </p:sp>
      <p:sp>
        <p:nvSpPr>
          <p:cNvPr id="5" name="Text 3"/>
          <p:cNvSpPr/>
          <p:nvPr/>
        </p:nvSpPr>
        <p:spPr>
          <a:xfrm>
            <a:off x="685800" y="1920240"/>
            <a:ext cx="3200400" cy="685800"/>
          </a:xfrm>
          <a:prstGeom prst="rect">
            <a:avLst/>
          </a:prstGeom>
          <a:noFill/>
          <a:ln/>
        </p:spPr>
        <p:txBody>
          <a:bodyPr wrap="square" lIns="0" tIns="0" rIns="0" bIns="0" rtlCol="0" anchor="ctr"/>
          <a:lstStyle/>
          <a:p>
            <a:pPr algn="ctr" indent="0" marL="0">
              <a:buNone/>
            </a:pPr>
            <a:r>
              <a:rPr lang="en-US" sz="1500" b="1" dirty="0">
                <a:solidFill>
                  <a:srgbClr val="4361EE"/>
                </a:solidFill>
                <a:latin typeface="Cambria" pitchFamily="34" charset="0"/>
                <a:ea typeface="Cambria" pitchFamily="34" charset="-122"/>
                <a:cs typeface="Cambria" pitchFamily="34" charset="-120"/>
              </a:rPr>
              <a:t>Baselines TF-IDF</a:t>
            </a:r>
            <a:endParaRPr lang="en-US" sz="1500" dirty="0"/>
          </a:p>
          <a:p>
            <a:pPr algn="ctr" indent="0" marL="0">
              <a:buNone/>
            </a:pPr>
            <a:r>
              <a:rPr lang="en-US" sz="1500" b="1" dirty="0">
                <a:solidFill>
                  <a:srgbClr val="4361EE"/>
                </a:solidFill>
                <a:latin typeface="Cambria" pitchFamily="34" charset="0"/>
                <a:ea typeface="Cambria" pitchFamily="34" charset="-122"/>
                <a:cs typeface="Cambria" pitchFamily="34" charset="-120"/>
              </a:rPr>
              <a:t>(Naive Bayes / RF)</a:t>
            </a:r>
            <a:endParaRPr lang="en-US" sz="1500" dirty="0"/>
          </a:p>
        </p:txBody>
      </p:sp>
      <p:sp>
        <p:nvSpPr>
          <p:cNvPr id="6" name="Text 4"/>
          <p:cNvSpPr/>
          <p:nvPr/>
        </p:nvSpPr>
        <p:spPr>
          <a:xfrm>
            <a:off x="777240" y="2743200"/>
            <a:ext cx="301752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Pros: Entrenamiento casi instantaneo en CPU; interpretabilidad directa de palabras clave.</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Contras: Rigidez absoluta. Ignora sinónimos y relaciones semanticas complejas (ej: 'nausea' y 'vomito' se procesan como mundos distintos).</a:t>
            </a:r>
            <a:endParaRPr lang="en-US" sz="1100" dirty="0"/>
          </a:p>
        </p:txBody>
      </p:sp>
      <p:sp>
        <p:nvSpPr>
          <p:cNvPr id="7" name="Shape 5"/>
          <p:cNvSpPr/>
          <p:nvPr/>
        </p:nvSpPr>
        <p:spPr>
          <a:xfrm>
            <a:off x="4343400" y="1783080"/>
            <a:ext cx="3474720" cy="3200400"/>
          </a:xfrm>
          <a:prstGeom prst="roundRect">
            <a:avLst>
              <a:gd name="adj" fmla="val 2857"/>
            </a:avLst>
          </a:prstGeom>
          <a:solidFill>
            <a:srgbClr val="FFFFFF"/>
          </a:solidFill>
          <a:ln w="19050">
            <a:solidFill>
              <a:srgbClr val="1E2761"/>
            </a:solidFill>
            <a:prstDash val="solid"/>
          </a:ln>
        </p:spPr>
      </p:sp>
      <p:sp>
        <p:nvSpPr>
          <p:cNvPr id="8" name="Text 6"/>
          <p:cNvSpPr/>
          <p:nvPr/>
        </p:nvSpPr>
        <p:spPr>
          <a:xfrm>
            <a:off x="4480560" y="1920240"/>
            <a:ext cx="3200400" cy="68580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Aproximacion Hibrida</a:t>
            </a:r>
            <a:endParaRPr lang="en-US" sz="1500" dirty="0"/>
          </a:p>
          <a:p>
            <a:pPr algn="ctr" indent="0" marL="0">
              <a:buNone/>
            </a:pPr>
            <a:r>
              <a:rPr lang="en-US" sz="1500" b="1" dirty="0">
                <a:solidFill>
                  <a:srgbClr val="1E2761"/>
                </a:solidFill>
                <a:latin typeface="Cambria" pitchFamily="34" charset="0"/>
                <a:ea typeface="Cambria" pitchFamily="34" charset="-122"/>
                <a:cs typeface="Cambria" pitchFamily="34" charset="-120"/>
              </a:rPr>
              <a:t>(RF + Embeddings fijos)</a:t>
            </a:r>
            <a:endParaRPr lang="en-US" sz="1500" dirty="0"/>
          </a:p>
        </p:txBody>
      </p:sp>
      <p:sp>
        <p:nvSpPr>
          <p:cNvPr id="9" name="Text 7"/>
          <p:cNvSpPr/>
          <p:nvPr/>
        </p:nvSpPr>
        <p:spPr>
          <a:xfrm>
            <a:off x="4572000" y="2743200"/>
            <a:ext cx="301752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Pros: Aporta conocimiento biomedico externo (PubMed) sin requerir optimizar una red neuronal profunda.</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Contras: BioBERT queda congelado. Los vectores no se adaptan al vocabulario coloquial o especifico de reportes de la FDA.</a:t>
            </a:r>
            <a:endParaRPr lang="en-US" sz="1100" dirty="0"/>
          </a:p>
        </p:txBody>
      </p:sp>
      <p:sp>
        <p:nvSpPr>
          <p:cNvPr id="10" name="Shape 8"/>
          <p:cNvSpPr/>
          <p:nvPr/>
        </p:nvSpPr>
        <p:spPr>
          <a:xfrm>
            <a:off x="8138160" y="1783080"/>
            <a:ext cx="3474720" cy="3200400"/>
          </a:xfrm>
          <a:prstGeom prst="roundRect">
            <a:avLst>
              <a:gd name="adj" fmla="val 2857"/>
            </a:avLst>
          </a:prstGeom>
          <a:solidFill>
            <a:srgbClr val="FFFFFF"/>
          </a:solidFill>
          <a:ln w="19050">
            <a:solidFill>
              <a:srgbClr val="F76C5E"/>
            </a:solidFill>
            <a:prstDash val="solid"/>
          </a:ln>
        </p:spPr>
      </p:sp>
      <p:sp>
        <p:nvSpPr>
          <p:cNvPr id="11" name="Text 9"/>
          <p:cNvSpPr/>
          <p:nvPr/>
        </p:nvSpPr>
        <p:spPr>
          <a:xfrm>
            <a:off x="8275320" y="1920240"/>
            <a:ext cx="3200400" cy="685800"/>
          </a:xfrm>
          <a:prstGeom prst="rect">
            <a:avLst/>
          </a:prstGeom>
          <a:noFill/>
          <a:ln/>
        </p:spPr>
        <p:txBody>
          <a:bodyPr wrap="square" lIns="0" tIns="0" rIns="0" bIns="0" rtlCol="0" anchor="ctr"/>
          <a:lstStyle/>
          <a:p>
            <a:pPr algn="ctr" indent="0" marL="0">
              <a:buNone/>
            </a:pPr>
            <a:r>
              <a:rPr lang="en-US" sz="1500" b="1" dirty="0">
                <a:solidFill>
                  <a:srgbClr val="F76C5E"/>
                </a:solidFill>
                <a:latin typeface="Cambria" pitchFamily="34" charset="0"/>
                <a:ea typeface="Cambria" pitchFamily="34" charset="-122"/>
                <a:cs typeface="Cambria" pitchFamily="34" charset="-120"/>
              </a:rPr>
              <a:t>BioBERT Fine-Tuned</a:t>
            </a:r>
            <a:endParaRPr lang="en-US" sz="1500" dirty="0"/>
          </a:p>
          <a:p>
            <a:pPr algn="ctr" indent="0" marL="0">
              <a:buNone/>
            </a:pPr>
            <a:r>
              <a:rPr lang="en-US" sz="1500" b="1" dirty="0">
                <a:solidFill>
                  <a:srgbClr val="F76C5E"/>
                </a:solidFill>
                <a:latin typeface="Cambria" pitchFamily="34" charset="0"/>
                <a:ea typeface="Cambria" pitchFamily="34" charset="-122"/>
                <a:cs typeface="Cambria" pitchFamily="34" charset="-120"/>
              </a:rPr>
              <a:t>(Modelo Elegido)</a:t>
            </a:r>
            <a:endParaRPr lang="en-US" sz="1500" dirty="0"/>
          </a:p>
        </p:txBody>
      </p:sp>
      <p:sp>
        <p:nvSpPr>
          <p:cNvPr id="12" name="Text 10"/>
          <p:cNvSpPr/>
          <p:nvPr/>
        </p:nvSpPr>
        <p:spPr>
          <a:xfrm>
            <a:off x="8366760" y="2743200"/>
            <a:ext cx="301752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Pros: Adaptación end-to-end. Las 12 capas del Transformer se ajustaron a los patrones especificos del dataset.</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Contras: Alto costo computacional (lento entrenamiento en CPU); requiere calibracion posterior debido al desbalance extremo.</a:t>
            </a:r>
            <a:endParaRPr lang="en-US" sz="1100" dirty="0"/>
          </a:p>
        </p:txBody>
      </p:sp>
      <p:sp>
        <p:nvSpPr>
          <p:cNvPr id="13" name="Shape 11"/>
          <p:cNvSpPr/>
          <p:nvPr/>
        </p:nvSpPr>
        <p:spPr>
          <a:xfrm>
            <a:off x="548640" y="5166360"/>
            <a:ext cx="11064240" cy="1143000"/>
          </a:xfrm>
          <a:prstGeom prst="roundRect">
            <a:avLst>
              <a:gd name="adj" fmla="val 6400"/>
            </a:avLst>
          </a:prstGeom>
          <a:solidFill>
            <a:srgbClr val="F8F9FA"/>
          </a:solidFill>
          <a:ln w="12700">
            <a:solidFill>
              <a:srgbClr val="E5E7EB"/>
            </a:solidFill>
            <a:prstDash val="solid"/>
          </a:ln>
        </p:spPr>
      </p:sp>
      <p:sp>
        <p:nvSpPr>
          <p:cNvPr id="14" name="Text 12"/>
          <p:cNvSpPr/>
          <p:nvPr/>
        </p:nvSpPr>
        <p:spPr>
          <a:xfrm>
            <a:off x="777240" y="5257800"/>
            <a:ext cx="10607040" cy="27432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El Debate: ¿Por que nos quedamos con BioBERT?</a:t>
            </a:r>
            <a:endParaRPr lang="en-US" sz="1300" dirty="0"/>
          </a:p>
        </p:txBody>
      </p:sp>
      <p:sp>
        <p:nvSpPr>
          <p:cNvPr id="15" name="Text 13"/>
          <p:cNvSpPr/>
          <p:nvPr/>
        </p:nvSpPr>
        <p:spPr>
          <a:xfrm>
            <a:off x="777240" y="5532120"/>
            <a:ext cx="10607040" cy="685800"/>
          </a:xfrm>
          <a:prstGeom prst="rect">
            <a:avLst/>
          </a:prstGeom>
          <a:noFill/>
          <a:ln/>
        </p:spPr>
        <p:txBody>
          <a:bodyPr wrap="square" rtlCol="0" anchor="ctr"/>
          <a:lstStyle/>
          <a:p>
            <a:pPr indent="0" marL="0">
              <a:buNone/>
            </a:pPr>
            <a:r>
              <a:rPr lang="en-US" sz="1150" i="1" dirty="0">
                <a:solidFill>
                  <a:srgbClr val="1A1A2E"/>
                </a:solidFill>
                <a:latin typeface="Calibri" pitchFamily="34" charset="0"/>
                <a:ea typeface="Calibri" pitchFamily="34" charset="-122"/>
                <a:cs typeface="Calibri" pitchFamily="34" charset="-120"/>
              </a:rPr>
              <a:t>En farmacovigilancia, la sinonimia clinica es critica para no omitir riesgos. BioBERT supero a todos los baselines al captar la semantica real de las oraciones. El costo de computo se soluciono con una cache de inferencia para la app, y el desbalance se mitigo con la recalibracion F2 posterior, logrando precision clinica sin reentrenar.</a:t>
            </a:r>
            <a:endParaRPr lang="en-US" sz="11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17" name="Text 15"/>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08  ·  ARQUITECTURA DE BIOBERT</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Esquema de Flujo y Capas de BioBERT</a:t>
            </a:r>
            <a:endParaRPr lang="en-US" sz="3600" dirty="0"/>
          </a:p>
        </p:txBody>
      </p:sp>
      <p:sp>
        <p:nvSpPr>
          <p:cNvPr id="4" name="Shape 2"/>
          <p:cNvSpPr/>
          <p:nvPr/>
        </p:nvSpPr>
        <p:spPr>
          <a:xfrm>
            <a:off x="548640" y="1691640"/>
            <a:ext cx="7772400" cy="1325880"/>
          </a:xfrm>
          <a:prstGeom prst="roundRect">
            <a:avLst>
              <a:gd name="adj" fmla="val 3448"/>
            </a:avLst>
          </a:prstGeom>
          <a:solidFill>
            <a:srgbClr val="0C59CF"/>
          </a:solidFill>
          <a:ln w="12700">
            <a:solidFill>
              <a:srgbClr val="0C59CF"/>
            </a:solidFill>
            <a:prstDash val="solid"/>
          </a:ln>
        </p:spPr>
      </p:sp>
      <p:sp>
        <p:nvSpPr>
          <p:cNvPr id="5" name="Text 3"/>
          <p:cNvSpPr/>
          <p:nvPr/>
        </p:nvSpPr>
        <p:spPr>
          <a:xfrm>
            <a:off x="685800" y="1737360"/>
            <a:ext cx="1828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entrada</a:t>
            </a:r>
            <a:endParaRPr lang="en-US" sz="1100" dirty="0"/>
          </a:p>
        </p:txBody>
      </p:sp>
      <p:sp>
        <p:nvSpPr>
          <p:cNvPr id="6" name="Shape 4"/>
          <p:cNvSpPr/>
          <p:nvPr/>
        </p:nvSpPr>
        <p:spPr>
          <a:xfrm>
            <a:off x="822960" y="2011680"/>
            <a:ext cx="2468880" cy="731520"/>
          </a:xfrm>
          <a:prstGeom prst="rect">
            <a:avLst/>
          </a:prstGeom>
          <a:solidFill>
            <a:srgbClr val="000000"/>
          </a:solidFill>
          <a:ln w="12700">
            <a:solidFill>
              <a:srgbClr val="FFFFFF"/>
            </a:solidFill>
            <a:prstDash val="solid"/>
          </a:ln>
        </p:spPr>
      </p:sp>
      <p:sp>
        <p:nvSpPr>
          <p:cNvPr id="7" name="Text 5"/>
          <p:cNvSpPr/>
          <p:nvPr/>
        </p:nvSpPr>
        <p:spPr>
          <a:xfrm>
            <a:off x="822960" y="2011680"/>
            <a:ext cx="24688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Paciente (Input)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[Edad, Sexo, Fármaco, Indi]</a:t>
            </a:r>
            <a:endParaRPr lang="en-US" sz="1000" dirty="0"/>
          </a:p>
        </p:txBody>
      </p:sp>
      <p:sp>
        <p:nvSpPr>
          <p:cNvPr id="8" name="Text 6"/>
          <p:cNvSpPr/>
          <p:nvPr/>
        </p:nvSpPr>
        <p:spPr>
          <a:xfrm>
            <a:off x="3291840" y="2240280"/>
            <a:ext cx="201168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Datos crudos →</a:t>
            </a:r>
            <a:endParaRPr lang="en-US" sz="900" dirty="0"/>
          </a:p>
        </p:txBody>
      </p:sp>
      <p:sp>
        <p:nvSpPr>
          <p:cNvPr id="9" name="Shape 7"/>
          <p:cNvSpPr/>
          <p:nvPr/>
        </p:nvSpPr>
        <p:spPr>
          <a:xfrm>
            <a:off x="5303520" y="2011680"/>
            <a:ext cx="2468880" cy="731520"/>
          </a:xfrm>
          <a:prstGeom prst="rect">
            <a:avLst/>
          </a:prstGeom>
          <a:solidFill>
            <a:srgbClr val="000000"/>
          </a:solidFill>
          <a:ln w="12700">
            <a:solidFill>
              <a:srgbClr val="FFFFFF"/>
            </a:solidFill>
            <a:prstDash val="solid"/>
          </a:ln>
        </p:spPr>
      </p:sp>
      <p:sp>
        <p:nvSpPr>
          <p:cNvPr id="10" name="Text 8"/>
          <p:cNvSpPr/>
          <p:nvPr/>
        </p:nvSpPr>
        <p:spPr>
          <a:xfrm>
            <a:off x="5303520" y="2011680"/>
            <a:ext cx="24688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Formateador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[Genera oración descriptiva]</a:t>
            </a:r>
            <a:endParaRPr lang="en-US" sz="1000" dirty="0"/>
          </a:p>
        </p:txBody>
      </p:sp>
      <p:sp>
        <p:nvSpPr>
          <p:cNvPr id="11" name="Text 9"/>
          <p:cNvSpPr/>
          <p:nvPr/>
        </p:nvSpPr>
        <p:spPr>
          <a:xfrm>
            <a:off x="5303520" y="3035808"/>
            <a:ext cx="2468880" cy="274320"/>
          </a:xfrm>
          <a:prstGeom prst="rect">
            <a:avLst/>
          </a:prstGeom>
          <a:noFill/>
          <a:ln/>
        </p:spPr>
        <p:txBody>
          <a:bodyPr wrap="square" rtlCol="0" anchor="ctr"/>
          <a:lstStyle/>
          <a:p>
            <a:pPr algn="ctr" indent="0" marL="0">
              <a:buNone/>
            </a:pPr>
            <a:r>
              <a:rPr lang="en-US" sz="1000" b="1" dirty="0">
                <a:solidFill>
                  <a:srgbClr val="0C59CF"/>
                </a:solidFill>
                <a:latin typeface="Calibri" pitchFamily="34" charset="0"/>
                <a:ea typeface="Calibri" pitchFamily="34" charset="-122"/>
                <a:cs typeface="Calibri" pitchFamily="34" charset="-120"/>
              </a:rPr>
              <a:t>↓ Oración clínica (Texto) ↓</a:t>
            </a:r>
            <a:endParaRPr lang="en-US" sz="1000" dirty="0"/>
          </a:p>
        </p:txBody>
      </p:sp>
      <p:sp>
        <p:nvSpPr>
          <p:cNvPr id="12" name="Shape 10"/>
          <p:cNvSpPr/>
          <p:nvPr/>
        </p:nvSpPr>
        <p:spPr>
          <a:xfrm>
            <a:off x="548640" y="3337560"/>
            <a:ext cx="7772400" cy="1325880"/>
          </a:xfrm>
          <a:prstGeom prst="roundRect">
            <a:avLst>
              <a:gd name="adj" fmla="val 3448"/>
            </a:avLst>
          </a:prstGeom>
          <a:solidFill>
            <a:srgbClr val="9E0F20"/>
          </a:solidFill>
          <a:ln w="12700">
            <a:solidFill>
              <a:srgbClr val="9E0F20"/>
            </a:solidFill>
            <a:prstDash val="solid"/>
          </a:ln>
        </p:spPr>
      </p:sp>
      <p:sp>
        <p:nvSpPr>
          <p:cNvPr id="13" name="Text 11"/>
          <p:cNvSpPr/>
          <p:nvPr/>
        </p:nvSpPr>
        <p:spPr>
          <a:xfrm>
            <a:off x="685800" y="3383280"/>
            <a:ext cx="36576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modelo biobert (flujo derecha-izquierda)</a:t>
            </a:r>
            <a:endParaRPr lang="en-US" sz="1100" dirty="0"/>
          </a:p>
        </p:txBody>
      </p:sp>
      <p:sp>
        <p:nvSpPr>
          <p:cNvPr id="14" name="Shape 12"/>
          <p:cNvSpPr/>
          <p:nvPr/>
        </p:nvSpPr>
        <p:spPr>
          <a:xfrm>
            <a:off x="5303520" y="3657600"/>
            <a:ext cx="2468880" cy="731520"/>
          </a:xfrm>
          <a:prstGeom prst="rect">
            <a:avLst/>
          </a:prstGeom>
          <a:solidFill>
            <a:srgbClr val="000000"/>
          </a:solidFill>
          <a:ln w="12700">
            <a:solidFill>
              <a:srgbClr val="FFFFFF"/>
            </a:solidFill>
            <a:prstDash val="solid"/>
          </a:ln>
        </p:spPr>
      </p:sp>
      <p:sp>
        <p:nvSpPr>
          <p:cNvPr id="15" name="Text 13"/>
          <p:cNvSpPr/>
          <p:nvPr/>
        </p:nvSpPr>
        <p:spPr>
          <a:xfrm>
            <a:off x="5303520" y="3657600"/>
            <a:ext cx="24688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Tokenizador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[Divide texto en IDs]</a:t>
            </a:r>
            <a:endParaRPr lang="en-US" sz="1000" dirty="0"/>
          </a:p>
        </p:txBody>
      </p:sp>
      <p:sp>
        <p:nvSpPr>
          <p:cNvPr id="16" name="Text 14"/>
          <p:cNvSpPr/>
          <p:nvPr/>
        </p:nvSpPr>
        <p:spPr>
          <a:xfrm>
            <a:off x="5029200" y="3886200"/>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IDs</a:t>
            </a:r>
            <a:endParaRPr lang="en-US" sz="900" dirty="0"/>
          </a:p>
        </p:txBody>
      </p:sp>
      <p:sp>
        <p:nvSpPr>
          <p:cNvPr id="17" name="Shape 15"/>
          <p:cNvSpPr/>
          <p:nvPr/>
        </p:nvSpPr>
        <p:spPr>
          <a:xfrm>
            <a:off x="3017520" y="3657600"/>
            <a:ext cx="2011680" cy="731520"/>
          </a:xfrm>
          <a:prstGeom prst="rect">
            <a:avLst/>
          </a:prstGeom>
          <a:solidFill>
            <a:srgbClr val="000000"/>
          </a:solidFill>
          <a:ln w="12700">
            <a:solidFill>
              <a:srgbClr val="FFFFFF"/>
            </a:solidFill>
            <a:prstDash val="solid"/>
          </a:ln>
        </p:spPr>
      </p:sp>
      <p:sp>
        <p:nvSpPr>
          <p:cNvPr id="18" name="Text 16"/>
          <p:cNvSpPr/>
          <p:nvPr/>
        </p:nvSpPr>
        <p:spPr>
          <a:xfrm>
            <a:off x="3017520" y="3657600"/>
            <a:ext cx="20116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Transformer Encoder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[12 Capas de Atención]</a:t>
            </a:r>
            <a:endParaRPr lang="en-US" sz="1000" dirty="0"/>
          </a:p>
        </p:txBody>
      </p:sp>
      <p:sp>
        <p:nvSpPr>
          <p:cNvPr id="19" name="Text 17"/>
          <p:cNvSpPr/>
          <p:nvPr/>
        </p:nvSpPr>
        <p:spPr>
          <a:xfrm>
            <a:off x="2743200" y="3886200"/>
            <a:ext cx="274320" cy="274320"/>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Contexto</a:t>
            </a:r>
            <a:endParaRPr lang="en-US" sz="800" dirty="0"/>
          </a:p>
        </p:txBody>
      </p:sp>
      <p:sp>
        <p:nvSpPr>
          <p:cNvPr id="20" name="Shape 18"/>
          <p:cNvSpPr/>
          <p:nvPr/>
        </p:nvSpPr>
        <p:spPr>
          <a:xfrm>
            <a:off x="822960" y="3657600"/>
            <a:ext cx="1920240" cy="731520"/>
          </a:xfrm>
          <a:prstGeom prst="rect">
            <a:avLst/>
          </a:prstGeom>
          <a:solidFill>
            <a:srgbClr val="000000"/>
          </a:solidFill>
          <a:ln w="12700">
            <a:solidFill>
              <a:srgbClr val="FFFFFF"/>
            </a:solidFill>
            <a:prstDash val="solid"/>
          </a:ln>
        </p:spPr>
      </p:sp>
      <p:sp>
        <p:nvSpPr>
          <p:cNvPr id="21" name="Text 19"/>
          <p:cNvSpPr/>
          <p:nvPr/>
        </p:nvSpPr>
        <p:spPr>
          <a:xfrm>
            <a:off x="822960" y="3657600"/>
            <a:ext cx="192024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Vector [CLS]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[Semántica 768d]</a:t>
            </a:r>
            <a:endParaRPr lang="en-US" sz="1000" dirty="0"/>
          </a:p>
        </p:txBody>
      </p:sp>
      <p:sp>
        <p:nvSpPr>
          <p:cNvPr id="22" name="Text 20"/>
          <p:cNvSpPr/>
          <p:nvPr/>
        </p:nvSpPr>
        <p:spPr>
          <a:xfrm>
            <a:off x="822960" y="4681728"/>
            <a:ext cx="1920240" cy="274320"/>
          </a:xfrm>
          <a:prstGeom prst="rect">
            <a:avLst/>
          </a:prstGeom>
          <a:noFill/>
          <a:ln/>
        </p:spPr>
        <p:txBody>
          <a:bodyPr wrap="square" rtlCol="0" anchor="ctr"/>
          <a:lstStyle/>
          <a:p>
            <a:pPr algn="ctr" indent="0" marL="0">
              <a:buNone/>
            </a:pPr>
            <a:r>
              <a:rPr lang="en-US" sz="1000" b="1" dirty="0">
                <a:solidFill>
                  <a:srgbClr val="9E0F20"/>
                </a:solidFill>
                <a:latin typeface="Calibri" pitchFamily="34" charset="0"/>
                <a:ea typeface="Calibri" pitchFamily="34" charset="-122"/>
                <a:cs typeface="Calibri" pitchFamily="34" charset="-120"/>
              </a:rPr>
              <a:t>↓ Vector de 768d ↓</a:t>
            </a:r>
            <a:endParaRPr lang="en-US" sz="1000" dirty="0"/>
          </a:p>
        </p:txBody>
      </p:sp>
      <p:sp>
        <p:nvSpPr>
          <p:cNvPr id="23" name="Shape 21"/>
          <p:cNvSpPr/>
          <p:nvPr/>
        </p:nvSpPr>
        <p:spPr>
          <a:xfrm>
            <a:off x="548640" y="4983480"/>
            <a:ext cx="7772400" cy="1325880"/>
          </a:xfrm>
          <a:prstGeom prst="roundRect">
            <a:avLst>
              <a:gd name="adj" fmla="val 3448"/>
            </a:avLst>
          </a:prstGeom>
          <a:solidFill>
            <a:srgbClr val="15803D"/>
          </a:solidFill>
          <a:ln w="12700">
            <a:solidFill>
              <a:srgbClr val="15803D"/>
            </a:solidFill>
            <a:prstDash val="solid"/>
          </a:ln>
        </p:spPr>
      </p:sp>
      <p:sp>
        <p:nvSpPr>
          <p:cNvPr id="24" name="Text 22"/>
          <p:cNvSpPr/>
          <p:nvPr/>
        </p:nvSpPr>
        <p:spPr>
          <a:xfrm>
            <a:off x="685800" y="5029200"/>
            <a:ext cx="1828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cabeza clasificadora</a:t>
            </a:r>
            <a:endParaRPr lang="en-US" sz="1100" dirty="0"/>
          </a:p>
        </p:txBody>
      </p:sp>
      <p:sp>
        <p:nvSpPr>
          <p:cNvPr id="25" name="Shape 23"/>
          <p:cNvSpPr/>
          <p:nvPr/>
        </p:nvSpPr>
        <p:spPr>
          <a:xfrm>
            <a:off x="822960" y="5303520"/>
            <a:ext cx="2468880" cy="731520"/>
          </a:xfrm>
          <a:prstGeom prst="rect">
            <a:avLst/>
          </a:prstGeom>
          <a:solidFill>
            <a:srgbClr val="000000"/>
          </a:solidFill>
          <a:ln w="12700">
            <a:solidFill>
              <a:srgbClr val="FFFFFF"/>
            </a:solidFill>
            <a:prstDash val="solid"/>
          </a:ln>
        </p:spPr>
      </p:sp>
      <p:sp>
        <p:nvSpPr>
          <p:cNvPr id="26" name="Text 24"/>
          <p:cNvSpPr/>
          <p:nvPr/>
        </p:nvSpPr>
        <p:spPr>
          <a:xfrm>
            <a:off x="822960" y="5303520"/>
            <a:ext cx="24688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Capa Lineal + Dropout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[Mapeo a 98 logits]</a:t>
            </a:r>
            <a:endParaRPr lang="en-US" sz="1000" dirty="0"/>
          </a:p>
        </p:txBody>
      </p:sp>
      <p:sp>
        <p:nvSpPr>
          <p:cNvPr id="27" name="Text 25"/>
          <p:cNvSpPr/>
          <p:nvPr/>
        </p:nvSpPr>
        <p:spPr>
          <a:xfrm>
            <a:off x="3291840" y="5532120"/>
            <a:ext cx="201168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Logits →</a:t>
            </a:r>
            <a:endParaRPr lang="en-US" sz="900" dirty="0"/>
          </a:p>
        </p:txBody>
      </p:sp>
      <p:sp>
        <p:nvSpPr>
          <p:cNvPr id="28" name="Shape 26"/>
          <p:cNvSpPr/>
          <p:nvPr/>
        </p:nvSpPr>
        <p:spPr>
          <a:xfrm>
            <a:off x="5303520" y="5303520"/>
            <a:ext cx="2468880" cy="731520"/>
          </a:xfrm>
          <a:prstGeom prst="rect">
            <a:avLst/>
          </a:prstGeom>
          <a:solidFill>
            <a:srgbClr val="000000"/>
          </a:solidFill>
          <a:ln w="12700">
            <a:solidFill>
              <a:srgbClr val="FFFFFF"/>
            </a:solidFill>
            <a:prstDash val="solid"/>
          </a:ln>
        </p:spPr>
      </p:sp>
      <p:sp>
        <p:nvSpPr>
          <p:cNvPr id="29" name="Text 27"/>
          <p:cNvSpPr/>
          <p:nvPr/>
        </p:nvSpPr>
        <p:spPr>
          <a:xfrm>
            <a:off x="5303520" y="5303520"/>
            <a:ext cx="246888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Normalización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[Función Sigmoide]</a:t>
            </a:r>
            <a:endParaRPr lang="en-US" sz="1000" dirty="0"/>
          </a:p>
        </p:txBody>
      </p:sp>
      <p:sp>
        <p:nvSpPr>
          <p:cNvPr id="30" name="Text 28"/>
          <p:cNvSpPr/>
          <p:nvPr/>
        </p:nvSpPr>
        <p:spPr>
          <a:xfrm>
            <a:off x="7772400" y="3794760"/>
            <a:ext cx="868680" cy="1188720"/>
          </a:xfrm>
          <a:prstGeom prst="rect">
            <a:avLst/>
          </a:prstGeom>
          <a:noFill/>
          <a:ln/>
        </p:spPr>
        <p:txBody>
          <a:bodyPr wrap="square"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a:t>
            </a:r>
            <a:endParaRPr lang="en-US" sz="900" dirty="0"/>
          </a:p>
          <a:p>
            <a:pPr algn="ctr" indent="0" marL="0">
              <a:buNone/>
            </a:pPr>
            <a:r>
              <a:rPr lang="en-US" sz="900" b="1" dirty="0">
                <a:solidFill>
                  <a:srgbClr val="15803D"/>
                </a:solidFill>
                <a:latin typeface="Calibri" pitchFamily="34" charset="0"/>
                <a:ea typeface="Calibri" pitchFamily="34" charset="-122"/>
                <a:cs typeface="Calibri" pitchFamily="34" charset="-120"/>
              </a:rPr>
              <a:t>Probabilidades</a:t>
            </a:r>
            <a:endParaRPr lang="en-US" sz="900" dirty="0"/>
          </a:p>
          <a:p>
            <a:pPr algn="ctr" indent="0" marL="0">
              <a:buNone/>
            </a:pPr>
            <a:r>
              <a:rPr lang="en-US" sz="900" b="1" dirty="0">
                <a:solidFill>
                  <a:srgbClr val="15803D"/>
                </a:solidFill>
                <a:latin typeface="Calibri" pitchFamily="34" charset="0"/>
                <a:ea typeface="Calibri" pitchFamily="34" charset="-122"/>
                <a:cs typeface="Calibri" pitchFamily="34" charset="-120"/>
              </a:rPr>
              <a:t>(98 clases)</a:t>
            </a:r>
            <a:endParaRPr lang="en-US" sz="900" dirty="0"/>
          </a:p>
        </p:txBody>
      </p:sp>
      <p:sp>
        <p:nvSpPr>
          <p:cNvPr id="31" name="Shape 29"/>
          <p:cNvSpPr/>
          <p:nvPr/>
        </p:nvSpPr>
        <p:spPr>
          <a:xfrm>
            <a:off x="8641080" y="1691640"/>
            <a:ext cx="2971800" cy="4617720"/>
          </a:xfrm>
          <a:prstGeom prst="roundRect">
            <a:avLst>
              <a:gd name="adj" fmla="val 1538"/>
            </a:avLst>
          </a:prstGeom>
          <a:solidFill>
            <a:srgbClr val="E68A00"/>
          </a:solidFill>
          <a:ln w="12700">
            <a:solidFill>
              <a:srgbClr val="E68A00"/>
            </a:solidFill>
            <a:prstDash val="solid"/>
          </a:ln>
        </p:spPr>
      </p:sp>
      <p:sp>
        <p:nvSpPr>
          <p:cNvPr id="32" name="Text 30"/>
          <p:cNvSpPr/>
          <p:nvPr/>
        </p:nvSpPr>
        <p:spPr>
          <a:xfrm>
            <a:off x="8778240" y="1783080"/>
            <a:ext cx="27432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calibracion &amp; decision</a:t>
            </a:r>
            <a:endParaRPr lang="en-US" sz="1100" dirty="0"/>
          </a:p>
        </p:txBody>
      </p:sp>
      <p:sp>
        <p:nvSpPr>
          <p:cNvPr id="33" name="Shape 31"/>
          <p:cNvSpPr/>
          <p:nvPr/>
        </p:nvSpPr>
        <p:spPr>
          <a:xfrm>
            <a:off x="8869680" y="2194560"/>
            <a:ext cx="2514600" cy="1097280"/>
          </a:xfrm>
          <a:prstGeom prst="rect">
            <a:avLst/>
          </a:prstGeom>
          <a:solidFill>
            <a:srgbClr val="000000"/>
          </a:solidFill>
          <a:ln w="12700">
            <a:solidFill>
              <a:srgbClr val="FFFFFF"/>
            </a:solidFill>
            <a:prstDash val="solid"/>
          </a:ln>
        </p:spPr>
      </p:sp>
      <p:sp>
        <p:nvSpPr>
          <p:cNvPr id="34" name="Text 32"/>
          <p:cNvSpPr/>
          <p:nvPr/>
        </p:nvSpPr>
        <p:spPr>
          <a:xfrm>
            <a:off x="8869680" y="2194560"/>
            <a:ext cx="2514600" cy="10972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Calibrador F2</a:t>
            </a:r>
            <a:endParaRPr lang="en-US" sz="1000" dirty="0"/>
          </a:p>
          <a:p>
            <a:pPr algn="ctr" indent="0" marL="0">
              <a:buNone/>
            </a:pP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[Optimiza umbrales por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etiqueta para evitar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silenciar clases raras]</a:t>
            </a:r>
            <a:endParaRPr lang="en-US" sz="1000" dirty="0"/>
          </a:p>
        </p:txBody>
      </p:sp>
      <p:sp>
        <p:nvSpPr>
          <p:cNvPr id="35" name="Text 33"/>
          <p:cNvSpPr/>
          <p:nvPr/>
        </p:nvSpPr>
        <p:spPr>
          <a:xfrm>
            <a:off x="8869680" y="3429000"/>
            <a:ext cx="2514600" cy="11887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Umbrales óptimos F2 ↓</a:t>
            </a:r>
            <a:endParaRPr lang="en-US" sz="1000" dirty="0"/>
          </a:p>
        </p:txBody>
      </p:sp>
      <p:sp>
        <p:nvSpPr>
          <p:cNvPr id="36" name="Shape 34"/>
          <p:cNvSpPr/>
          <p:nvPr/>
        </p:nvSpPr>
        <p:spPr>
          <a:xfrm>
            <a:off x="8869680" y="4754880"/>
            <a:ext cx="2514600" cy="1097280"/>
          </a:xfrm>
          <a:prstGeom prst="rect">
            <a:avLst/>
          </a:prstGeom>
          <a:solidFill>
            <a:srgbClr val="000000"/>
          </a:solidFill>
          <a:ln w="12700">
            <a:solidFill>
              <a:srgbClr val="FFFFFF"/>
            </a:solidFill>
            <a:prstDash val="solid"/>
          </a:ln>
        </p:spPr>
      </p:sp>
      <p:sp>
        <p:nvSpPr>
          <p:cNvPr id="37" name="Text 35"/>
          <p:cNvSpPr/>
          <p:nvPr/>
        </p:nvSpPr>
        <p:spPr>
          <a:xfrm>
            <a:off x="8869680" y="4754880"/>
            <a:ext cx="2514600" cy="10972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Predicciones Activas</a:t>
            </a:r>
            <a:endParaRPr lang="en-US" sz="1000" dirty="0"/>
          </a:p>
          <a:p>
            <a:pPr algn="ctr" indent="0" marL="0">
              <a:buNone/>
            </a:pP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[Efectos adversos con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probabilidad mayor al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umbral optimizado]</a:t>
            </a:r>
            <a:endParaRPr lang="en-US" sz="1000" dirty="0"/>
          </a:p>
        </p:txBody>
      </p:sp>
      <p:sp>
        <p:nvSpPr>
          <p:cNvPr id="38" name="Text 3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39" name="Text 3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08  ·  PIPELINE — CALIBRACION</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Calibracion F2 de Sensibilidad</a:t>
            </a:r>
            <a:endParaRPr lang="en-US" sz="3600" dirty="0"/>
          </a:p>
        </p:txBody>
      </p:sp>
      <p:sp>
        <p:nvSpPr>
          <p:cNvPr id="4" name="Text 2"/>
          <p:cNvSpPr/>
          <p:nvPr/>
        </p:nvSpPr>
        <p:spPr>
          <a:xfrm>
            <a:off x="548640" y="1691640"/>
            <a:ext cx="11155680" cy="91440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Optimizar para F1 clásico en clases altamente desbalanceadas tiende a fijar umbrales muy altos (ej. &gt;0.70) para evitar falsos positivos, silenciando por completo reacciones poco comunes. Cambiamos la estrategia de optimización sin necesidad de reentrenar la red neuronal.</a:t>
            </a:r>
            <a:endParaRPr lang="en-US" sz="1400" dirty="0"/>
          </a:p>
        </p:txBody>
      </p:sp>
      <p:sp>
        <p:nvSpPr>
          <p:cNvPr id="5" name="Shape 3"/>
          <p:cNvSpPr/>
          <p:nvPr/>
        </p:nvSpPr>
        <p:spPr>
          <a:xfrm>
            <a:off x="548640" y="2834640"/>
            <a:ext cx="11064240" cy="1234440"/>
          </a:xfrm>
          <a:prstGeom prst="roundRect">
            <a:avLst>
              <a:gd name="adj" fmla="val 7407"/>
            </a:avLst>
          </a:prstGeom>
          <a:solidFill>
            <a:srgbClr val="E5E7EB"/>
          </a:solidFill>
          <a:ln w="12700">
            <a:solidFill>
              <a:srgbClr val="6B7280"/>
            </a:solidFill>
            <a:prstDash val="solid"/>
          </a:ln>
        </p:spPr>
      </p:sp>
      <p:sp>
        <p:nvSpPr>
          <p:cNvPr id="6" name="Text 4"/>
          <p:cNvSpPr/>
          <p:nvPr/>
        </p:nvSpPr>
        <p:spPr>
          <a:xfrm>
            <a:off x="868680" y="2999232"/>
            <a:ext cx="10515600" cy="411480"/>
          </a:xfrm>
          <a:prstGeom prst="rect">
            <a:avLst/>
          </a:prstGeom>
          <a:noFill/>
          <a:ln/>
        </p:spPr>
        <p:txBody>
          <a:bodyPr wrap="square" lIns="0" tIns="0" rIns="0" bIns="0" rtlCol="0" anchor="ctr"/>
          <a:lstStyle/>
          <a:p>
            <a:pPr indent="0" marL="0">
              <a:buNone/>
            </a:pPr>
            <a:r>
              <a:rPr lang="en-US" sz="1700" b="1" dirty="0">
                <a:solidFill>
                  <a:srgbClr val="6B7280"/>
                </a:solidFill>
                <a:latin typeface="Cambria" pitchFamily="34" charset="0"/>
                <a:ea typeface="Cambria" pitchFamily="34" charset="-122"/>
                <a:cs typeface="Cambria" pitchFamily="34" charset="-120"/>
              </a:rPr>
              <a:t>Optimizacion F1 Clasica (Original)</a:t>
            </a:r>
            <a:endParaRPr lang="en-US" sz="1700" dirty="0"/>
          </a:p>
        </p:txBody>
      </p:sp>
      <p:sp>
        <p:nvSpPr>
          <p:cNvPr id="7" name="Text 5"/>
          <p:cNvSpPr/>
          <p:nvPr/>
        </p:nvSpPr>
        <p:spPr>
          <a:xfrm>
            <a:off x="868680" y="3474720"/>
            <a:ext cx="105156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Maximiza el balance estricto precisión-recall. Silencia etiquetas de baja frecuencia (F1 = 0 en muchas de ellas) reduciendo la cobertura a un 40.6% de pacientes.</a:t>
            </a:r>
            <a:endParaRPr lang="en-US" sz="1300" dirty="0"/>
          </a:p>
        </p:txBody>
      </p:sp>
      <p:sp>
        <p:nvSpPr>
          <p:cNvPr id="8" name="Shape 6"/>
          <p:cNvSpPr/>
          <p:nvPr/>
        </p:nvSpPr>
        <p:spPr>
          <a:xfrm>
            <a:off x="548640" y="4297680"/>
            <a:ext cx="11064240" cy="1234440"/>
          </a:xfrm>
          <a:prstGeom prst="roundRect">
            <a:avLst>
              <a:gd name="adj" fmla="val 7407"/>
            </a:avLst>
          </a:prstGeom>
          <a:solidFill>
            <a:srgbClr val="FDE2DD"/>
          </a:solidFill>
          <a:ln w="12700">
            <a:solidFill>
              <a:srgbClr val="F76C5E"/>
            </a:solidFill>
            <a:prstDash val="solid"/>
          </a:ln>
        </p:spPr>
      </p:sp>
      <p:sp>
        <p:nvSpPr>
          <p:cNvPr id="9" name="Text 7"/>
          <p:cNvSpPr/>
          <p:nvPr/>
        </p:nvSpPr>
        <p:spPr>
          <a:xfrm>
            <a:off x="868680" y="4462272"/>
            <a:ext cx="10515600" cy="411480"/>
          </a:xfrm>
          <a:prstGeom prst="rect">
            <a:avLst/>
          </a:prstGeom>
          <a:noFill/>
          <a:ln/>
        </p:spPr>
        <p:txBody>
          <a:bodyPr wrap="square" lIns="0" tIns="0" rIns="0" bIns="0" rtlCol="0" anchor="ctr"/>
          <a:lstStyle/>
          <a:p>
            <a:pPr indent="0" marL="0">
              <a:buNone/>
            </a:pPr>
            <a:r>
              <a:rPr lang="en-US" sz="1700" b="1" dirty="0">
                <a:solidFill>
                  <a:srgbClr val="F76C5E"/>
                </a:solidFill>
                <a:latin typeface="Cambria" pitchFamily="34" charset="0"/>
                <a:ea typeface="Cambria" pitchFamily="34" charset="-122"/>
                <a:cs typeface="Cambria" pitchFamily="34" charset="-120"/>
              </a:rPr>
              <a:t>Optimizacion F2-Score (Elegido)</a:t>
            </a:r>
            <a:endParaRPr lang="en-US" sz="1700" dirty="0"/>
          </a:p>
        </p:txBody>
      </p:sp>
      <p:sp>
        <p:nvSpPr>
          <p:cNvPr id="10" name="Text 8"/>
          <p:cNvSpPr/>
          <p:nvPr/>
        </p:nvSpPr>
        <p:spPr>
          <a:xfrm>
            <a:off x="868680" y="4937760"/>
            <a:ext cx="105156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Prioriza el Recall (sensibilidad) sobre la precisión. Evita silenciar reacciones raras y eleva la cobertura en pacientes al 57.7% sin requerir reentrenamiento.</a:t>
            </a:r>
            <a:endParaRPr lang="en-US" sz="1300" dirty="0"/>
          </a:p>
        </p:txBody>
      </p:sp>
      <p:sp>
        <p:nvSpPr>
          <p:cNvPr id="11" name="Text 9"/>
          <p:cNvSpPr/>
          <p:nvPr/>
        </p:nvSpPr>
        <p:spPr>
          <a:xfrm>
            <a:off x="548640" y="5989320"/>
            <a:ext cx="11155680" cy="365760"/>
          </a:xfrm>
          <a:prstGeom prst="rect">
            <a:avLst/>
          </a:prstGeom>
          <a:noFill/>
          <a:ln/>
        </p:spPr>
        <p:txBody>
          <a:bodyPr wrap="square" lIns="0" tIns="0" rIns="0" bIns="0"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La recalibración se realiza en segundos usando una caché local de predicciones de validación.</a:t>
            </a:r>
            <a:endParaRPr lang="en-US" sz="120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09  ·  RESULTADOS</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Resultados y Metricas Finales (Test Set)</a:t>
            </a:r>
            <a:endParaRPr lang="en-US" sz="3600" dirty="0"/>
          </a:p>
        </p:txBody>
      </p:sp>
      <p:sp>
        <p:nvSpPr>
          <p:cNvPr id="4" name="Shape 2"/>
          <p:cNvSpPr/>
          <p:nvPr/>
        </p:nvSpPr>
        <p:spPr>
          <a:xfrm>
            <a:off x="548640" y="1783080"/>
            <a:ext cx="2697480" cy="2468880"/>
          </a:xfrm>
          <a:prstGeom prst="roundRect">
            <a:avLst>
              <a:gd name="adj" fmla="val 3704"/>
            </a:avLst>
          </a:prstGeom>
          <a:solidFill>
            <a:srgbClr val="FFFFFF"/>
          </a:solidFill>
          <a:ln w="12700">
            <a:solidFill>
              <a:srgbClr val="E5E7EB"/>
            </a:solidFill>
            <a:prstDash val="solid"/>
          </a:ln>
        </p:spPr>
      </p:sp>
      <p:sp>
        <p:nvSpPr>
          <p:cNvPr id="5" name="Text 3"/>
          <p:cNvSpPr/>
          <p:nvPr/>
        </p:nvSpPr>
        <p:spPr>
          <a:xfrm>
            <a:off x="548640" y="1874520"/>
            <a:ext cx="2697480" cy="731520"/>
          </a:xfrm>
          <a:prstGeom prst="rect">
            <a:avLst/>
          </a:prstGeom>
          <a:noFill/>
          <a:ln/>
        </p:spPr>
        <p:txBody>
          <a:bodyPr wrap="square" lIns="0" tIns="0" rIns="0" bIns="0" rtlCol="0" anchor="ctr"/>
          <a:lstStyle/>
          <a:p>
            <a:pPr algn="ctr" indent="0" marL="0">
              <a:buNone/>
            </a:pPr>
            <a:r>
              <a:rPr lang="en-US" sz="4400" b="1" dirty="0">
                <a:solidFill>
                  <a:srgbClr val="F76C5E"/>
                </a:solidFill>
                <a:latin typeface="Cambria" pitchFamily="34" charset="0"/>
                <a:ea typeface="Cambria" pitchFamily="34" charset="-122"/>
                <a:cs typeface="Cambria" pitchFamily="34" charset="-120"/>
              </a:rPr>
              <a:t>53.7%</a:t>
            </a:r>
            <a:endParaRPr lang="en-US" sz="4400" dirty="0"/>
          </a:p>
        </p:txBody>
      </p:sp>
      <p:sp>
        <p:nvSpPr>
          <p:cNvPr id="6" name="Text 4"/>
          <p:cNvSpPr/>
          <p:nvPr/>
        </p:nvSpPr>
        <p:spPr>
          <a:xfrm>
            <a:off x="548640" y="2606040"/>
            <a:ext cx="2697480"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Acierto en Pacientes</a:t>
            </a:r>
            <a:endParaRPr lang="en-US" sz="1300" dirty="0"/>
          </a:p>
        </p:txBody>
      </p:sp>
      <p:sp>
        <p:nvSpPr>
          <p:cNvPr id="7" name="Text 5"/>
          <p:cNvSpPr/>
          <p:nvPr/>
        </p:nvSpPr>
        <p:spPr>
          <a:xfrm>
            <a:off x="685800" y="2971800"/>
            <a:ext cx="2423160" cy="11887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En más de la mitad de los casos del test set, el modelo predijo correctamente al menos 1 reacción adversa real del paciente.</a:t>
            </a:r>
            <a:endParaRPr lang="en-US" sz="1000" dirty="0"/>
          </a:p>
        </p:txBody>
      </p:sp>
      <p:sp>
        <p:nvSpPr>
          <p:cNvPr id="8" name="Shape 6"/>
          <p:cNvSpPr/>
          <p:nvPr/>
        </p:nvSpPr>
        <p:spPr>
          <a:xfrm>
            <a:off x="3337560" y="1783080"/>
            <a:ext cx="2697480" cy="2468880"/>
          </a:xfrm>
          <a:prstGeom prst="roundRect">
            <a:avLst>
              <a:gd name="adj" fmla="val 3704"/>
            </a:avLst>
          </a:prstGeom>
          <a:solidFill>
            <a:srgbClr val="FFFFFF"/>
          </a:solidFill>
          <a:ln w="12700">
            <a:solidFill>
              <a:srgbClr val="E5E7EB"/>
            </a:solidFill>
            <a:prstDash val="solid"/>
          </a:ln>
        </p:spPr>
      </p:sp>
      <p:sp>
        <p:nvSpPr>
          <p:cNvPr id="9" name="Text 7"/>
          <p:cNvSpPr/>
          <p:nvPr/>
        </p:nvSpPr>
        <p:spPr>
          <a:xfrm>
            <a:off x="3337560" y="1874520"/>
            <a:ext cx="2697480" cy="731520"/>
          </a:xfrm>
          <a:prstGeom prst="rect">
            <a:avLst/>
          </a:prstGeom>
          <a:noFill/>
          <a:ln/>
        </p:spPr>
        <p:txBody>
          <a:bodyPr wrap="square" lIns="0" tIns="0" rIns="0" bIns="0" rtlCol="0" anchor="ctr"/>
          <a:lstStyle/>
          <a:p>
            <a:pPr algn="ctr" indent="0" marL="0">
              <a:buNone/>
            </a:pPr>
            <a:r>
              <a:rPr lang="en-US" sz="4400" b="1" dirty="0">
                <a:solidFill>
                  <a:srgbClr val="4361EE"/>
                </a:solidFill>
                <a:latin typeface="Cambria" pitchFamily="34" charset="0"/>
                <a:ea typeface="Cambria" pitchFamily="34" charset="-122"/>
                <a:cs typeface="Cambria" pitchFamily="34" charset="-120"/>
              </a:rPr>
              <a:t>44.4%</a:t>
            </a:r>
            <a:endParaRPr lang="en-US" sz="4400" dirty="0"/>
          </a:p>
        </p:txBody>
      </p:sp>
      <p:sp>
        <p:nvSpPr>
          <p:cNvPr id="10" name="Text 8"/>
          <p:cNvSpPr/>
          <p:nvPr/>
        </p:nvSpPr>
        <p:spPr>
          <a:xfrm>
            <a:off x="3337560" y="2606040"/>
            <a:ext cx="2697480"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Recall Promedio</a:t>
            </a:r>
            <a:endParaRPr lang="en-US" sz="1300" dirty="0"/>
          </a:p>
        </p:txBody>
      </p:sp>
      <p:sp>
        <p:nvSpPr>
          <p:cNvPr id="11" name="Text 9"/>
          <p:cNvSpPr/>
          <p:nvPr/>
        </p:nvSpPr>
        <p:spPr>
          <a:xfrm>
            <a:off x="3474720" y="2971800"/>
            <a:ext cx="2423160" cy="11887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El modelo captura y alerta de manera preventiva casi la mitad (44.4%) del total de efectos adversos reales registrados.</a:t>
            </a:r>
            <a:endParaRPr lang="en-US" sz="1000" dirty="0"/>
          </a:p>
        </p:txBody>
      </p:sp>
      <p:sp>
        <p:nvSpPr>
          <p:cNvPr id="12" name="Shape 10"/>
          <p:cNvSpPr/>
          <p:nvPr/>
        </p:nvSpPr>
        <p:spPr>
          <a:xfrm>
            <a:off x="6126480" y="1783080"/>
            <a:ext cx="2697480" cy="2468880"/>
          </a:xfrm>
          <a:prstGeom prst="roundRect">
            <a:avLst>
              <a:gd name="adj" fmla="val 3704"/>
            </a:avLst>
          </a:prstGeom>
          <a:solidFill>
            <a:srgbClr val="FFFFFF"/>
          </a:solidFill>
          <a:ln w="12700">
            <a:solidFill>
              <a:srgbClr val="E5E7EB"/>
            </a:solidFill>
            <a:prstDash val="solid"/>
          </a:ln>
        </p:spPr>
      </p:sp>
      <p:sp>
        <p:nvSpPr>
          <p:cNvPr id="13" name="Text 11"/>
          <p:cNvSpPr/>
          <p:nvPr/>
        </p:nvSpPr>
        <p:spPr>
          <a:xfrm>
            <a:off x="6126480" y="1874520"/>
            <a:ext cx="2697480" cy="731520"/>
          </a:xfrm>
          <a:prstGeom prst="rect">
            <a:avLst/>
          </a:prstGeom>
          <a:noFill/>
          <a:ln/>
        </p:spPr>
        <p:txBody>
          <a:bodyPr wrap="square" lIns="0" tIns="0" rIns="0" bIns="0"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18.1%</a:t>
            </a:r>
            <a:endParaRPr lang="en-US" sz="4400" dirty="0"/>
          </a:p>
        </p:txBody>
      </p:sp>
      <p:sp>
        <p:nvSpPr>
          <p:cNvPr id="14" name="Text 12"/>
          <p:cNvSpPr/>
          <p:nvPr/>
        </p:nvSpPr>
        <p:spPr>
          <a:xfrm>
            <a:off x="6126480" y="2606040"/>
            <a:ext cx="2697480"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Precision Media</a:t>
            </a:r>
            <a:endParaRPr lang="en-US" sz="1300" dirty="0"/>
          </a:p>
        </p:txBody>
      </p:sp>
      <p:sp>
        <p:nvSpPr>
          <p:cNvPr id="15" name="Text 13"/>
          <p:cNvSpPr/>
          <p:nvPr/>
        </p:nvSpPr>
        <p:spPr>
          <a:xfrm>
            <a:off x="6263640" y="2971800"/>
            <a:ext cx="2423160" cy="11887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Alerta con ruido controlado. En medicina preventiva es preferible alertar de más (falso positivo) a omitir un riesgo.</a:t>
            </a:r>
            <a:endParaRPr lang="en-US" sz="1000" dirty="0"/>
          </a:p>
        </p:txBody>
      </p:sp>
      <p:sp>
        <p:nvSpPr>
          <p:cNvPr id="16" name="Shape 14"/>
          <p:cNvSpPr/>
          <p:nvPr/>
        </p:nvSpPr>
        <p:spPr>
          <a:xfrm>
            <a:off x="8915400" y="1783080"/>
            <a:ext cx="2697480" cy="2468880"/>
          </a:xfrm>
          <a:prstGeom prst="roundRect">
            <a:avLst>
              <a:gd name="adj" fmla="val 3704"/>
            </a:avLst>
          </a:prstGeom>
          <a:solidFill>
            <a:srgbClr val="FFFFFF"/>
          </a:solidFill>
          <a:ln w="12700">
            <a:solidFill>
              <a:srgbClr val="E5E7EB"/>
            </a:solidFill>
            <a:prstDash val="solid"/>
          </a:ln>
        </p:spPr>
      </p:sp>
      <p:sp>
        <p:nvSpPr>
          <p:cNvPr id="17" name="Text 15"/>
          <p:cNvSpPr/>
          <p:nvPr/>
        </p:nvSpPr>
        <p:spPr>
          <a:xfrm>
            <a:off x="8915400" y="1874520"/>
            <a:ext cx="2697480" cy="731520"/>
          </a:xfrm>
          <a:prstGeom prst="rect">
            <a:avLst/>
          </a:prstGeom>
          <a:noFill/>
          <a:ln/>
        </p:spPr>
        <p:txBody>
          <a:bodyPr wrap="square" lIns="0" tIns="0" rIns="0" bIns="0" rtlCol="0" anchor="ctr"/>
          <a:lstStyle/>
          <a:p>
            <a:pPr algn="ctr" indent="0" marL="0">
              <a:buNone/>
            </a:pPr>
            <a:r>
              <a:rPr lang="en-US" sz="4400" b="1" dirty="0">
                <a:solidFill>
                  <a:srgbClr val="F76C5E"/>
                </a:solidFill>
                <a:latin typeface="Cambria" pitchFamily="34" charset="0"/>
                <a:ea typeface="Cambria" pitchFamily="34" charset="-122"/>
                <a:cs typeface="Cambria" pitchFamily="34" charset="-120"/>
              </a:rPr>
              <a:t>6x</a:t>
            </a:r>
            <a:endParaRPr lang="en-US" sz="4400" dirty="0"/>
          </a:p>
        </p:txBody>
      </p:sp>
      <p:sp>
        <p:nvSpPr>
          <p:cNvPr id="18" name="Text 16"/>
          <p:cNvSpPr/>
          <p:nvPr/>
        </p:nvSpPr>
        <p:spPr>
          <a:xfrm>
            <a:off x="8915400" y="2606040"/>
            <a:ext cx="2697480" cy="3200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Desempeño vs Azar</a:t>
            </a:r>
            <a:endParaRPr lang="en-US" sz="1300" dirty="0"/>
          </a:p>
        </p:txBody>
      </p:sp>
      <p:sp>
        <p:nvSpPr>
          <p:cNvPr id="19" name="Text 17"/>
          <p:cNvSpPr/>
          <p:nvPr/>
        </p:nvSpPr>
        <p:spPr>
          <a:xfrm>
            <a:off x="9052560" y="2971800"/>
            <a:ext cx="2423160" cy="11887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Por la baja densidad del dataset (2%), clasificar al azar da F1 macro de 0.02. Nuestro modelo rinde 6 veces más.</a:t>
            </a:r>
            <a:endParaRPr lang="en-US" sz="1000" dirty="0"/>
          </a:p>
        </p:txBody>
      </p:sp>
      <p:sp>
        <p:nvSpPr>
          <p:cNvPr id="20" name="Shape 18"/>
          <p:cNvSpPr/>
          <p:nvPr/>
        </p:nvSpPr>
        <p:spPr>
          <a:xfrm>
            <a:off x="548640" y="4434840"/>
            <a:ext cx="11064240" cy="1828800"/>
          </a:xfrm>
          <a:prstGeom prst="roundRect">
            <a:avLst>
              <a:gd name="adj" fmla="val 4000"/>
            </a:avLst>
          </a:prstGeom>
          <a:solidFill>
            <a:srgbClr val="FFFFFF"/>
          </a:solidFill>
          <a:ln w="12700">
            <a:solidFill>
              <a:srgbClr val="CADCFC"/>
            </a:solidFill>
            <a:prstDash val="solid"/>
          </a:ln>
        </p:spPr>
      </p:sp>
      <p:sp>
        <p:nvSpPr>
          <p:cNvPr id="21" name="Text 19"/>
          <p:cNvSpPr/>
          <p:nvPr/>
        </p:nvSpPr>
        <p:spPr>
          <a:xfrm>
            <a:off x="777240" y="4526280"/>
            <a:ext cx="10607040" cy="27432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Interpretacion Clinica y Academica del Resultado</a:t>
            </a:r>
            <a:endParaRPr lang="en-US" sz="1400" dirty="0"/>
          </a:p>
        </p:txBody>
      </p:sp>
      <p:sp>
        <p:nvSpPr>
          <p:cNvPr id="22" name="Text 20"/>
          <p:cNvSpPr/>
          <p:nvPr/>
        </p:nvSpPr>
        <p:spPr>
          <a:xfrm>
            <a:off x="777240" y="4892040"/>
            <a:ext cx="10607040" cy="1280160"/>
          </a:xfrm>
          <a:prstGeom prst="rect">
            <a:avLst/>
          </a:prstGeom>
          <a:noFill/>
          <a:ln/>
        </p:spPr>
        <p:txBody>
          <a:bodyPr wrap="square" rtlCol="0" anchor="ctr"/>
          <a:lstStyle/>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Utilidad Práctica Real: Al evaluar sobre reportes de la FDA (ruidosos, con múltiples fármacos e indicaciones de pacientes reales), el 53.7% de cobertura provee una herramienta de alerta temprana sumamente robusta.</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Validación Externa Cruzada vs SIDER: El 59% de las predicciones frecuentes del modelo coinciden con prospectos oficiales de la base de datos SIDER (no usada en entrenamiento). Esto comprueba que BioBERT generaliza conocimiento médico real en lugar de sobreajustar.</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24" name="Text 2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320040"/>
            <a:ext cx="11247120" cy="36576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10  ·  DEMO</a:t>
            </a:r>
            <a:endParaRPr lang="en-US" sz="1100" dirty="0"/>
          </a:p>
        </p:txBody>
      </p:sp>
      <p:sp>
        <p:nvSpPr>
          <p:cNvPr id="3" name="Text 1"/>
          <p:cNvSpPr/>
          <p:nvPr/>
        </p:nvSpPr>
        <p:spPr>
          <a:xfrm>
            <a:off x="457200" y="685800"/>
            <a:ext cx="11247120" cy="822960"/>
          </a:xfrm>
          <a:prstGeom prst="rect">
            <a:avLst/>
          </a:prstGeom>
          <a:noFill/>
          <a:ln/>
        </p:spPr>
        <p:txBody>
          <a:bodyPr wrap="square" lIns="0" tIns="0" rIns="0" bIns="0" rtlCol="0" anchor="ctr"/>
          <a:lstStyle/>
          <a:p>
            <a:pPr indent="0" marL="0">
              <a:buNone/>
            </a:pPr>
            <a:r>
              <a:rPr lang="en-US" sz="3600" b="1" dirty="0">
                <a:solidFill>
                  <a:srgbClr val="1A1A2E"/>
                </a:solidFill>
                <a:latin typeface="Cambria" pitchFamily="34" charset="0"/>
                <a:ea typeface="Cambria" pitchFamily="34" charset="-122"/>
                <a:cs typeface="Cambria" pitchFamily="34" charset="-120"/>
              </a:rPr>
              <a:t>La aplicacion en vivo</a:t>
            </a:r>
            <a:endParaRPr lang="en-US" sz="3600" dirty="0"/>
          </a:p>
        </p:txBody>
      </p:sp>
      <p:sp>
        <p:nvSpPr>
          <p:cNvPr id="4" name="Text 2"/>
          <p:cNvSpPr/>
          <p:nvPr/>
        </p:nvSpPr>
        <p:spPr>
          <a:xfrm>
            <a:off x="548640" y="1691640"/>
            <a:ext cx="1115568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Streamlit. El usuario carga datos de un paciente y el modelo le devuelve los efectos adversos mas probables, mas un veredicto comparado contra SIDER.</a:t>
            </a:r>
            <a:endParaRPr lang="en-US" sz="1400" dirty="0"/>
          </a:p>
        </p:txBody>
      </p:sp>
      <p:sp>
        <p:nvSpPr>
          <p:cNvPr id="5" name="Shape 3"/>
          <p:cNvSpPr/>
          <p:nvPr/>
        </p:nvSpPr>
        <p:spPr>
          <a:xfrm>
            <a:off x="548640" y="2606040"/>
            <a:ext cx="640080" cy="640080"/>
          </a:xfrm>
          <a:prstGeom prst="ellipse">
            <a:avLst/>
          </a:prstGeom>
          <a:solidFill>
            <a:srgbClr val="1E2761"/>
          </a:solidFill>
          <a:ln w="12700">
            <a:solidFill>
              <a:srgbClr val="1E2761"/>
            </a:solidFill>
            <a:prstDash val="solid"/>
          </a:ln>
        </p:spPr>
      </p:sp>
      <p:sp>
        <p:nvSpPr>
          <p:cNvPr id="6" name="Text 4"/>
          <p:cNvSpPr/>
          <p:nvPr/>
        </p:nvSpPr>
        <p:spPr>
          <a:xfrm>
            <a:off x="548640" y="2606040"/>
            <a:ext cx="640080" cy="640080"/>
          </a:xfrm>
          <a:prstGeom prst="rect">
            <a:avLst/>
          </a:prstGeom>
          <a:noFill/>
          <a:ln/>
        </p:spPr>
        <p:txBody>
          <a:bodyPr wrap="square" lIns="0" tIns="0" rIns="0" bIns="0" rtlCol="0" anchor="ctr"/>
          <a:lstStyle/>
          <a:p>
            <a:pPr algn="ctr" indent="0" marL="0">
              <a:buNone/>
            </a:pPr>
            <a:r>
              <a:rPr lang="en-US" sz="2400" b="1" dirty="0">
                <a:solidFill>
                  <a:srgbClr val="F76C5E"/>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417320" y="2624328"/>
            <a:ext cx="41148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Formulario</a:t>
            </a:r>
            <a:endParaRPr lang="en-US" sz="1700" dirty="0"/>
          </a:p>
        </p:txBody>
      </p:sp>
      <p:sp>
        <p:nvSpPr>
          <p:cNvPr id="8" name="Text 6"/>
          <p:cNvSpPr/>
          <p:nvPr/>
        </p:nvSpPr>
        <p:spPr>
          <a:xfrm>
            <a:off x="1417320" y="2971800"/>
            <a:ext cx="1005840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Farmaco, edad, sexo, peso, medicaciones, indicaciones</a:t>
            </a:r>
            <a:endParaRPr lang="en-US" sz="1200" dirty="0"/>
          </a:p>
        </p:txBody>
      </p:sp>
      <p:sp>
        <p:nvSpPr>
          <p:cNvPr id="9" name="Shape 7"/>
          <p:cNvSpPr/>
          <p:nvPr/>
        </p:nvSpPr>
        <p:spPr>
          <a:xfrm>
            <a:off x="548640" y="3474720"/>
            <a:ext cx="640080" cy="640080"/>
          </a:xfrm>
          <a:prstGeom prst="ellipse">
            <a:avLst/>
          </a:prstGeom>
          <a:solidFill>
            <a:srgbClr val="1E2761"/>
          </a:solidFill>
          <a:ln w="12700">
            <a:solidFill>
              <a:srgbClr val="1E2761"/>
            </a:solidFill>
            <a:prstDash val="solid"/>
          </a:ln>
        </p:spPr>
      </p:sp>
      <p:sp>
        <p:nvSpPr>
          <p:cNvPr id="10" name="Text 8"/>
          <p:cNvSpPr/>
          <p:nvPr/>
        </p:nvSpPr>
        <p:spPr>
          <a:xfrm>
            <a:off x="548640" y="3474720"/>
            <a:ext cx="640080" cy="640080"/>
          </a:xfrm>
          <a:prstGeom prst="rect">
            <a:avLst/>
          </a:prstGeom>
          <a:noFill/>
          <a:ln/>
        </p:spPr>
        <p:txBody>
          <a:bodyPr wrap="square" lIns="0" tIns="0" rIns="0" bIns="0" rtlCol="0" anchor="ctr"/>
          <a:lstStyle/>
          <a:p>
            <a:pPr algn="ctr" indent="0" marL="0">
              <a:buNone/>
            </a:pPr>
            <a:r>
              <a:rPr lang="en-US" sz="2400" b="1" dirty="0">
                <a:solidFill>
                  <a:srgbClr val="F76C5E"/>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1417320" y="3493008"/>
            <a:ext cx="41148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Inferencia</a:t>
            </a:r>
            <a:endParaRPr lang="en-US" sz="1700" dirty="0"/>
          </a:p>
        </p:txBody>
      </p:sp>
      <p:sp>
        <p:nvSpPr>
          <p:cNvPr id="12" name="Text 10"/>
          <p:cNvSpPr/>
          <p:nvPr/>
        </p:nvSpPr>
        <p:spPr>
          <a:xfrm>
            <a:off x="1417320" y="3840480"/>
            <a:ext cx="1005840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Texto canonico → BioBERT → 98 probabilidades</a:t>
            </a:r>
            <a:endParaRPr lang="en-US" sz="1200" dirty="0"/>
          </a:p>
        </p:txBody>
      </p:sp>
      <p:sp>
        <p:nvSpPr>
          <p:cNvPr id="13" name="Shape 11"/>
          <p:cNvSpPr/>
          <p:nvPr/>
        </p:nvSpPr>
        <p:spPr>
          <a:xfrm>
            <a:off x="548640" y="4343400"/>
            <a:ext cx="640080" cy="640080"/>
          </a:xfrm>
          <a:prstGeom prst="ellipse">
            <a:avLst/>
          </a:prstGeom>
          <a:solidFill>
            <a:srgbClr val="1E2761"/>
          </a:solidFill>
          <a:ln w="12700">
            <a:solidFill>
              <a:srgbClr val="1E2761"/>
            </a:solidFill>
            <a:prstDash val="solid"/>
          </a:ln>
        </p:spPr>
      </p:sp>
      <p:sp>
        <p:nvSpPr>
          <p:cNvPr id="14" name="Text 12"/>
          <p:cNvSpPr/>
          <p:nvPr/>
        </p:nvSpPr>
        <p:spPr>
          <a:xfrm>
            <a:off x="548640" y="4343400"/>
            <a:ext cx="640080" cy="640080"/>
          </a:xfrm>
          <a:prstGeom prst="rect">
            <a:avLst/>
          </a:prstGeom>
          <a:noFill/>
          <a:ln/>
        </p:spPr>
        <p:txBody>
          <a:bodyPr wrap="square" lIns="0" tIns="0" rIns="0" bIns="0" rtlCol="0" anchor="ctr"/>
          <a:lstStyle/>
          <a:p>
            <a:pPr algn="ctr" indent="0" marL="0">
              <a:buNone/>
            </a:pPr>
            <a:r>
              <a:rPr lang="en-US" sz="2400" b="1" dirty="0">
                <a:solidFill>
                  <a:srgbClr val="F76C5E"/>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1417320" y="4361688"/>
            <a:ext cx="41148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Filtrado</a:t>
            </a:r>
            <a:endParaRPr lang="en-US" sz="1700" dirty="0"/>
          </a:p>
        </p:txBody>
      </p:sp>
      <p:sp>
        <p:nvSpPr>
          <p:cNvPr id="16" name="Text 14"/>
          <p:cNvSpPr/>
          <p:nvPr/>
        </p:nvSpPr>
        <p:spPr>
          <a:xfrm>
            <a:off x="1417320" y="4709160"/>
            <a:ext cx="1005840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Aplica umbral calibrado F2 por etiqueta</a:t>
            </a:r>
            <a:endParaRPr lang="en-US" sz="1200" dirty="0"/>
          </a:p>
        </p:txBody>
      </p:sp>
      <p:sp>
        <p:nvSpPr>
          <p:cNvPr id="17" name="Shape 15"/>
          <p:cNvSpPr/>
          <p:nvPr/>
        </p:nvSpPr>
        <p:spPr>
          <a:xfrm>
            <a:off x="548640" y="5212080"/>
            <a:ext cx="640080" cy="640080"/>
          </a:xfrm>
          <a:prstGeom prst="ellipse">
            <a:avLst/>
          </a:prstGeom>
          <a:solidFill>
            <a:srgbClr val="1E2761"/>
          </a:solidFill>
          <a:ln w="12700">
            <a:solidFill>
              <a:srgbClr val="1E2761"/>
            </a:solidFill>
            <a:prstDash val="solid"/>
          </a:ln>
        </p:spPr>
      </p:sp>
      <p:sp>
        <p:nvSpPr>
          <p:cNvPr id="18" name="Text 16"/>
          <p:cNvSpPr/>
          <p:nvPr/>
        </p:nvSpPr>
        <p:spPr>
          <a:xfrm>
            <a:off x="548640" y="5212080"/>
            <a:ext cx="640080" cy="640080"/>
          </a:xfrm>
          <a:prstGeom prst="rect">
            <a:avLst/>
          </a:prstGeom>
          <a:noFill/>
          <a:ln/>
        </p:spPr>
        <p:txBody>
          <a:bodyPr wrap="square" lIns="0" tIns="0" rIns="0" bIns="0" rtlCol="0" anchor="ctr"/>
          <a:lstStyle/>
          <a:p>
            <a:pPr algn="ctr" indent="0" marL="0">
              <a:buNone/>
            </a:pPr>
            <a:r>
              <a:rPr lang="en-US" sz="2400" b="1" dirty="0">
                <a:solidFill>
                  <a:srgbClr val="F76C5E"/>
                </a:solidFill>
                <a:latin typeface="Cambria" pitchFamily="34" charset="0"/>
                <a:ea typeface="Cambria" pitchFamily="34" charset="-122"/>
                <a:cs typeface="Cambria" pitchFamily="34" charset="-120"/>
              </a:rPr>
              <a:t>4</a:t>
            </a:r>
            <a:endParaRPr lang="en-US" sz="2400" dirty="0"/>
          </a:p>
        </p:txBody>
      </p:sp>
      <p:sp>
        <p:nvSpPr>
          <p:cNvPr id="19" name="Text 17"/>
          <p:cNvSpPr/>
          <p:nvPr/>
        </p:nvSpPr>
        <p:spPr>
          <a:xfrm>
            <a:off x="1417320" y="5230368"/>
            <a:ext cx="41148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Verificacion</a:t>
            </a:r>
            <a:endParaRPr lang="en-US" sz="1700" dirty="0"/>
          </a:p>
        </p:txBody>
      </p:sp>
      <p:sp>
        <p:nvSpPr>
          <p:cNvPr id="20" name="Text 18"/>
          <p:cNvSpPr/>
          <p:nvPr/>
        </p:nvSpPr>
        <p:spPr>
          <a:xfrm>
            <a:off x="1417320" y="5577840"/>
            <a:ext cx="1005840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Compara contra SIDER → veredicto MUY BUENA / BUENA / ACEPTABLE / POBRE</a:t>
            </a:r>
            <a:endParaRPr lang="en-US" sz="1200" dirty="0"/>
          </a:p>
        </p:txBody>
      </p:sp>
      <p:sp>
        <p:nvSpPr>
          <p:cNvPr id="21" name="Shape 19"/>
          <p:cNvSpPr/>
          <p:nvPr/>
        </p:nvSpPr>
        <p:spPr>
          <a:xfrm>
            <a:off x="548640" y="6035040"/>
            <a:ext cx="11064240" cy="365760"/>
          </a:xfrm>
          <a:prstGeom prst="roundRect">
            <a:avLst>
              <a:gd name="adj" fmla="val 12500"/>
            </a:avLst>
          </a:prstGeom>
          <a:solidFill>
            <a:srgbClr val="F76C5E"/>
          </a:solidFill>
          <a:ln w="12700">
            <a:solidFill>
              <a:srgbClr val="F76C5E"/>
            </a:solidFill>
            <a:prstDash val="solid"/>
          </a:ln>
        </p:spPr>
      </p:sp>
      <p:sp>
        <p:nvSpPr>
          <p:cNvPr id="22" name="Text 20"/>
          <p:cNvSpPr/>
          <p:nvPr/>
        </p:nvSpPr>
        <p:spPr>
          <a:xfrm>
            <a:off x="777240" y="6035040"/>
            <a:ext cx="10698480" cy="36576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streamlit run app.py</a:t>
            </a:r>
            <a:endParaRPr lang="en-US" sz="12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7280"/>
                </a:solidFill>
              </a:rPr>
              <a:t>MTAA · farmApp · Defensa final</a:t>
            </a:r>
            <a:endParaRPr lang="en-US" sz="900" dirty="0"/>
          </a:p>
        </p:txBody>
      </p:sp>
      <p:sp>
        <p:nvSpPr>
          <p:cNvPr id="24" name="Text 2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822960"/>
            <a:ext cx="10972800" cy="457200"/>
          </a:xfrm>
          <a:prstGeom prst="rect">
            <a:avLst/>
          </a:prstGeom>
          <a:noFill/>
          <a:ln/>
        </p:spPr>
        <p:txBody>
          <a:bodyPr wrap="square" lIns="0" tIns="0" rIns="0" bIns="0" rtlCol="0" anchor="ctr"/>
          <a:lstStyle/>
          <a:p>
            <a:pPr indent="0" marL="0">
              <a:buNone/>
            </a:pPr>
            <a:r>
              <a:rPr lang="en-US" sz="1400" b="1" spc="600" kern="0" dirty="0">
                <a:solidFill>
                  <a:srgbClr val="F76C5E"/>
                </a:solidFill>
              </a:rPr>
              <a:t>CONCLUSIONES</a:t>
            </a:r>
            <a:endParaRPr lang="en-US" sz="1400" dirty="0"/>
          </a:p>
        </p:txBody>
      </p:sp>
      <p:sp>
        <p:nvSpPr>
          <p:cNvPr id="3" name="Text 1"/>
          <p:cNvSpPr/>
          <p:nvPr/>
        </p:nvSpPr>
        <p:spPr>
          <a:xfrm>
            <a:off x="548640" y="128016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 aprendimos</a:t>
            </a:r>
            <a:endParaRPr lang="en-US" sz="4400" dirty="0"/>
          </a:p>
        </p:txBody>
      </p:sp>
      <p:sp>
        <p:nvSpPr>
          <p:cNvPr id="4" name="Shape 2"/>
          <p:cNvSpPr/>
          <p:nvPr/>
        </p:nvSpPr>
        <p:spPr>
          <a:xfrm>
            <a:off x="548640" y="2880360"/>
            <a:ext cx="365760" cy="365760"/>
          </a:xfrm>
          <a:prstGeom prst="ellipse">
            <a:avLst/>
          </a:prstGeom>
          <a:solidFill>
            <a:srgbClr val="F76C5E"/>
          </a:solidFill>
          <a:ln w="12700">
            <a:solidFill>
              <a:srgbClr val="F76C5E"/>
            </a:solidFill>
            <a:prstDash val="solid"/>
          </a:ln>
        </p:spPr>
      </p:sp>
      <p:sp>
        <p:nvSpPr>
          <p:cNvPr id="5" name="Text 3"/>
          <p:cNvSpPr/>
          <p:nvPr/>
        </p:nvSpPr>
        <p:spPr>
          <a:xfrm>
            <a:off x="54864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097280" y="2834640"/>
            <a:ext cx="105156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La representación semántica contextual (BioBERT) supera drásticamente al enfoque rígido de frecuencia (TF-IDF).</a:t>
            </a:r>
            <a:endParaRPr lang="en-US" sz="1400" dirty="0"/>
          </a:p>
        </p:txBody>
      </p:sp>
      <p:sp>
        <p:nvSpPr>
          <p:cNvPr id="7" name="Shape 5"/>
          <p:cNvSpPr/>
          <p:nvPr/>
        </p:nvSpPr>
        <p:spPr>
          <a:xfrm>
            <a:off x="548640" y="3657600"/>
            <a:ext cx="365760" cy="365760"/>
          </a:xfrm>
          <a:prstGeom prst="ellipse">
            <a:avLst/>
          </a:prstGeom>
          <a:solidFill>
            <a:srgbClr val="F76C5E"/>
          </a:solidFill>
          <a:ln w="12700">
            <a:solidFill>
              <a:srgbClr val="F76C5E"/>
            </a:solidFill>
            <a:prstDash val="solid"/>
          </a:ln>
        </p:spPr>
      </p:sp>
      <p:sp>
        <p:nvSpPr>
          <p:cNvPr id="8" name="Text 6"/>
          <p:cNvSpPr/>
          <p:nvPr/>
        </p:nvSpPr>
        <p:spPr>
          <a:xfrm>
            <a:off x="548640" y="3657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097280" y="3611880"/>
            <a:ext cx="105156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La calibración individual de umbrales F2 es fundamental para que etiquetas desbalanceadas no queden silenciadas.</a:t>
            </a:r>
            <a:endParaRPr lang="en-US" sz="1400" dirty="0"/>
          </a:p>
        </p:txBody>
      </p:sp>
      <p:sp>
        <p:nvSpPr>
          <p:cNvPr id="10" name="Shape 8"/>
          <p:cNvSpPr/>
          <p:nvPr/>
        </p:nvSpPr>
        <p:spPr>
          <a:xfrm>
            <a:off x="548640" y="4434840"/>
            <a:ext cx="365760" cy="365760"/>
          </a:xfrm>
          <a:prstGeom prst="ellipse">
            <a:avLst/>
          </a:prstGeom>
          <a:solidFill>
            <a:srgbClr val="F76C5E"/>
          </a:solidFill>
          <a:ln w="12700">
            <a:solidFill>
              <a:srgbClr val="F76C5E"/>
            </a:solidFill>
            <a:prstDash val="solid"/>
          </a:ln>
        </p:spPr>
      </p:sp>
      <p:sp>
        <p:nvSpPr>
          <p:cNvPr id="11" name="Text 9"/>
          <p:cNvSpPr/>
          <p:nvPr/>
        </p:nvSpPr>
        <p:spPr>
          <a:xfrm>
            <a:off x="548640"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097280" y="4389120"/>
            <a:ext cx="105156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La validación honesta contra bases externas independientes (SIDER) previene el sobreajuste y garantiza la utilidad práctica.</a:t>
            </a:r>
            <a:endParaRPr lang="en-US" sz="1400" dirty="0"/>
          </a:p>
        </p:txBody>
      </p:sp>
      <p:sp>
        <p:nvSpPr>
          <p:cNvPr id="13" name="Shape 11"/>
          <p:cNvSpPr/>
          <p:nvPr/>
        </p:nvSpPr>
        <p:spPr>
          <a:xfrm>
            <a:off x="548640" y="5212080"/>
            <a:ext cx="365760" cy="365760"/>
          </a:xfrm>
          <a:prstGeom prst="ellipse">
            <a:avLst/>
          </a:prstGeom>
          <a:solidFill>
            <a:srgbClr val="F76C5E"/>
          </a:solidFill>
          <a:ln w="12700">
            <a:solidFill>
              <a:srgbClr val="F76C5E"/>
            </a:solidFill>
            <a:prstDash val="solid"/>
          </a:ln>
        </p:spPr>
      </p:sp>
      <p:sp>
        <p:nvSpPr>
          <p:cNvPr id="14" name="Text 12"/>
          <p:cNvSpPr/>
          <p:nvPr/>
        </p:nvSpPr>
        <p:spPr>
          <a:xfrm>
            <a:off x="548640" y="5212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097280" y="5166360"/>
            <a:ext cx="105156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El pipeline funciona end-to-end con una interfaz web en vivo apta para soporte de decisiones clínicas y farmacovigilancia.</a:t>
            </a:r>
            <a:endParaRPr lang="en-US" sz="1400" dirty="0"/>
          </a:p>
        </p:txBody>
      </p:sp>
      <p:sp>
        <p:nvSpPr>
          <p:cNvPr id="16" name="Text 14"/>
          <p:cNvSpPr/>
          <p:nvPr/>
        </p:nvSpPr>
        <p:spPr>
          <a:xfrm>
            <a:off x="548640" y="5989320"/>
            <a:ext cx="10972800" cy="548640"/>
          </a:xfrm>
          <a:prstGeom prst="rect">
            <a:avLst/>
          </a:prstGeom>
          <a:noFill/>
          <a:ln/>
        </p:spPr>
        <p:txBody>
          <a:bodyPr wrap="square" lIns="0" tIns="0" rIns="0" bIns="0" rtlCol="0" anchor="ctr"/>
          <a:lstStyle/>
          <a:p>
            <a:pPr indent="0" marL="0">
              <a:buNone/>
            </a:pPr>
            <a:r>
              <a:rPr lang="en-US" sz="2400" b="1" i="1" dirty="0">
                <a:solidFill>
                  <a:srgbClr val="F76C5E"/>
                </a:solidFill>
                <a:latin typeface="Cambria" pitchFamily="34" charset="0"/>
                <a:ea typeface="Cambria" pitchFamily="34" charset="-122"/>
                <a:cs typeface="Cambria" pitchFamily="34" charset="-120"/>
              </a:rPr>
              <a:t>¿Preguntas?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Prediccion de Efectos Adversos de Farmacos</dc:title>
  <dc:subject>PptxGenJS Presentation</dc:subject>
  <dc:creator>Alzugaray Agustin · Cabrera Tamalet Lautaro</dc:creator>
  <cp:lastModifiedBy>Alzugaray Agustin · Cabrera Tamalet Lautaro</cp:lastModifiedBy>
  <cp:revision>1</cp:revision>
  <dcterms:created xsi:type="dcterms:W3CDTF">2026-06-25T19:07:10Z</dcterms:created>
  <dcterms:modified xsi:type="dcterms:W3CDTF">2026-06-25T19:07:10Z</dcterms:modified>
</cp:coreProperties>
</file>