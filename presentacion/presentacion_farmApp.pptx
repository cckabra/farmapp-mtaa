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0332720" y="640080"/>
            <a:ext cx="1371600" cy="1371600"/>
          </a:xfrm>
          <a:prstGeom prst="ellipse">
            <a:avLst/>
          </a:prstGeom>
          <a:solidFill>
            <a:srgbClr val="F76C5E"/>
          </a:solidFill>
          <a:ln w="12700">
            <a:solidFill>
              <a:srgbClr val="F76C5E"/>
            </a:solidFill>
            <a:prstDash val="solid"/>
          </a:ln>
        </p:spPr>
      </p:sp>
      <p:sp>
        <p:nvSpPr>
          <p:cNvPr id="3" name="Text 1"/>
          <p:cNvSpPr/>
          <p:nvPr/>
        </p:nvSpPr>
        <p:spPr>
          <a:xfrm>
            <a:off x="10332720" y="640080"/>
            <a:ext cx="1371600" cy="13716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Rx</a:t>
            </a:r>
            <a:endParaRPr lang="en-US" sz="4800" dirty="0"/>
          </a:p>
        </p:txBody>
      </p:sp>
      <p:sp>
        <p:nvSpPr>
          <p:cNvPr id="4" name="Text 2"/>
          <p:cNvSpPr/>
          <p:nvPr/>
        </p:nvSpPr>
        <p:spPr>
          <a:xfrm>
            <a:off x="548640" y="914400"/>
            <a:ext cx="9144000" cy="457200"/>
          </a:xfrm>
          <a:prstGeom prst="rect">
            <a:avLst/>
          </a:prstGeom>
          <a:noFill/>
          <a:ln/>
        </p:spPr>
        <p:txBody>
          <a:bodyPr wrap="square" lIns="0" tIns="0" rIns="0" bIns="0" rtlCol="0" anchor="ctr"/>
          <a:lstStyle/>
          <a:p>
            <a:pPr indent="0" marL="0">
              <a:buNone/>
            </a:pPr>
            <a:r>
              <a:rPr lang="en-US" sz="1400" b="1" spc="600" kern="0" dirty="0">
                <a:solidFill>
                  <a:srgbClr val="CADCFC"/>
                </a:solidFill>
              </a:rPr>
              <a:t>PROYECTO FINAL — MTAA 2026</a:t>
            </a:r>
            <a:endParaRPr lang="en-US" sz="1400" dirty="0"/>
          </a:p>
        </p:txBody>
      </p:sp>
      <p:sp>
        <p:nvSpPr>
          <p:cNvPr id="5" name="Text 3"/>
          <p:cNvSpPr/>
          <p:nvPr/>
        </p:nvSpPr>
        <p:spPr>
          <a:xfrm>
            <a:off x="548640" y="1554480"/>
            <a:ext cx="10972800" cy="21031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Sistema de Prediccion de</a:t>
            </a:r>
            <a:endParaRPr lang="en-US" sz="5400" dirty="0"/>
          </a:p>
          <a:p>
            <a:pPr indent="0" marL="0">
              <a:buNone/>
            </a:pPr>
            <a:r>
              <a:rPr lang="en-US" sz="5400" b="1" dirty="0">
                <a:solidFill>
                  <a:srgbClr val="FFFFFF"/>
                </a:solidFill>
                <a:latin typeface="Cambria" pitchFamily="34" charset="0"/>
                <a:ea typeface="Cambria" pitchFamily="34" charset="-122"/>
                <a:cs typeface="Cambria" pitchFamily="34" charset="-120"/>
              </a:rPr>
              <a:t>Efectos Adversos de Farmacos</a:t>
            </a:r>
            <a:endParaRPr lang="en-US" sz="5400" dirty="0"/>
          </a:p>
        </p:txBody>
      </p:sp>
      <p:sp>
        <p:nvSpPr>
          <p:cNvPr id="6" name="Text 4"/>
          <p:cNvSpPr/>
          <p:nvPr/>
        </p:nvSpPr>
        <p:spPr>
          <a:xfrm>
            <a:off x="548640" y="4114800"/>
            <a:ext cx="10515600" cy="914400"/>
          </a:xfrm>
          <a:prstGeom prst="rect">
            <a:avLst/>
          </a:prstGeom>
          <a:noFill/>
          <a:ln/>
        </p:spPr>
        <p:txBody>
          <a:bodyPr wrap="square" lIns="0" tIns="0" rIns="0" bIns="0"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Mineria de Texto y Aprendizaje Automatico aplicada a reportes reales de la FDA (FAERS) y validacion contra SIDER 4.1</a:t>
            </a:r>
            <a:endParaRPr lang="en-US" sz="1800" dirty="0"/>
          </a:p>
        </p:txBody>
      </p:sp>
      <p:sp>
        <p:nvSpPr>
          <p:cNvPr id="7" name="Shape 5"/>
          <p:cNvSpPr/>
          <p:nvPr/>
        </p:nvSpPr>
        <p:spPr>
          <a:xfrm>
            <a:off x="548640" y="5486400"/>
            <a:ext cx="54864" cy="640080"/>
          </a:xfrm>
          <a:prstGeom prst="rect">
            <a:avLst/>
          </a:prstGeom>
          <a:solidFill>
            <a:srgbClr val="F76C5E"/>
          </a:solidFill>
          <a:ln w="12700">
            <a:solidFill>
              <a:srgbClr val="F76C5E"/>
            </a:solidFill>
            <a:prstDash val="solid"/>
          </a:ln>
        </p:spPr>
      </p:sp>
      <p:sp>
        <p:nvSpPr>
          <p:cNvPr id="8" name="Text 6"/>
          <p:cNvSpPr/>
          <p:nvPr/>
        </p:nvSpPr>
        <p:spPr>
          <a:xfrm>
            <a:off x="777240" y="5440680"/>
            <a:ext cx="7315200" cy="365760"/>
          </a:xfrm>
          <a:prstGeom prst="rect">
            <a:avLst/>
          </a:prstGeom>
          <a:noFill/>
          <a:ln/>
        </p:spPr>
        <p:txBody>
          <a:bodyPr wrap="square" lIns="0" tIns="0" rIns="0" bIns="0" rtlCol="0" anchor="ctr"/>
          <a:lstStyle/>
          <a:p>
            <a:pPr indent="0" marL="0">
              <a:buNone/>
            </a:pPr>
            <a:r>
              <a:rPr lang="en-US" sz="1600" b="1" dirty="0">
                <a:solidFill>
                  <a:srgbClr val="FFFFFF"/>
                </a:solidFill>
              </a:rPr>
              <a:t>Alzugaray Agustin Ezequiel</a:t>
            </a:r>
            <a:endParaRPr lang="en-US" sz="1600" dirty="0"/>
          </a:p>
        </p:txBody>
      </p:sp>
      <p:sp>
        <p:nvSpPr>
          <p:cNvPr id="9" name="Text 7"/>
          <p:cNvSpPr/>
          <p:nvPr/>
        </p:nvSpPr>
        <p:spPr>
          <a:xfrm>
            <a:off x="777240" y="5760720"/>
            <a:ext cx="7315200" cy="365760"/>
          </a:xfrm>
          <a:prstGeom prst="rect">
            <a:avLst/>
          </a:prstGeom>
          <a:noFill/>
          <a:ln/>
        </p:spPr>
        <p:txBody>
          <a:bodyPr wrap="square" lIns="0" tIns="0" rIns="0" bIns="0" rtlCol="0" anchor="ctr"/>
          <a:lstStyle/>
          <a:p>
            <a:pPr indent="0" marL="0">
              <a:buNone/>
            </a:pPr>
            <a:r>
              <a:rPr lang="en-US" sz="1600" b="1" dirty="0">
                <a:solidFill>
                  <a:srgbClr val="FFFFFF"/>
                </a:solidFill>
              </a:rPr>
              <a:t>Cabrera Tamalet Lautaro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B"/>
        </a:solidFill>
      </p:bgPr>
    </p:bg>
    <p:spTree>
      <p:nvGrpSpPr>
        <p:cNvPr id="1" name=""/>
        <p:cNvGrpSpPr/>
        <p:nvPr/>
      </p:nvGrpSpPr>
      <p:grpSpPr>
        <a:xfrm>
          <a:off x="0" y="0"/>
          <a:ext cx="0" cy="0"/>
          <a:chOff x="0" y="0"/>
          <a:chExt cx="0" cy="0"/>
        </a:xfrm>
      </p:grpSpPr>
      <p:sp>
        <p:nvSpPr>
          <p:cNvPr id="2" name="Text 0"/>
          <p:cNvSpPr/>
          <p:nvPr/>
        </p:nvSpPr>
        <p:spPr>
          <a:xfrm>
            <a:off x="457200" y="320040"/>
            <a:ext cx="11247120" cy="365760"/>
          </a:xfrm>
          <a:prstGeom prst="rect">
            <a:avLst/>
          </a:prstGeom>
          <a:noFill/>
          <a:ln/>
        </p:spPr>
        <p:txBody>
          <a:bodyPr wrap="square" lIns="0" tIns="0" rIns="0" bIns="0" rtlCol="0" anchor="ctr"/>
          <a:lstStyle/>
          <a:p>
            <a:pPr indent="0" marL="0">
              <a:buNone/>
            </a:pPr>
            <a:r>
              <a:rPr lang="en-US" sz="1100" b="1" spc="400" kern="0" dirty="0">
                <a:solidFill>
                  <a:srgbClr val="6B7280"/>
                </a:solidFill>
                <a:latin typeface="Calibri" pitchFamily="34" charset="0"/>
                <a:ea typeface="Calibri" pitchFamily="34" charset="-122"/>
                <a:cs typeface="Calibri" pitchFamily="34" charset="-120"/>
              </a:rPr>
              <a:t>01  ·  CONTEXTO</a:t>
            </a:r>
            <a:endParaRPr lang="en-US" sz="1100" dirty="0"/>
          </a:p>
        </p:txBody>
      </p:sp>
      <p:sp>
        <p:nvSpPr>
          <p:cNvPr id="3" name="Text 1"/>
          <p:cNvSpPr/>
          <p:nvPr/>
        </p:nvSpPr>
        <p:spPr>
          <a:xfrm>
            <a:off x="457200" y="685800"/>
            <a:ext cx="11247120" cy="822960"/>
          </a:xfrm>
          <a:prstGeom prst="rect">
            <a:avLst/>
          </a:prstGeom>
          <a:noFill/>
          <a:ln/>
        </p:spPr>
        <p:txBody>
          <a:bodyPr wrap="square" lIns="0" tIns="0" rIns="0" bIns="0" rtlCol="0" anchor="ctr"/>
          <a:lstStyle/>
          <a:p>
            <a:pPr indent="0" marL="0">
              <a:buNone/>
            </a:pPr>
            <a:r>
              <a:rPr lang="en-US" sz="3600" b="1" dirty="0">
                <a:solidFill>
                  <a:srgbClr val="1A1A2E"/>
                </a:solidFill>
                <a:latin typeface="Cambria" pitchFamily="34" charset="0"/>
                <a:ea typeface="Cambria" pitchFamily="34" charset="-122"/>
                <a:cs typeface="Cambria" pitchFamily="34" charset="-120"/>
              </a:rPr>
              <a:t>¿Por que predecir efectos adversos?</a:t>
            </a:r>
            <a:endParaRPr lang="en-US" sz="3600" dirty="0"/>
          </a:p>
        </p:txBody>
      </p:sp>
      <p:sp>
        <p:nvSpPr>
          <p:cNvPr id="4" name="Text 2"/>
          <p:cNvSpPr/>
          <p:nvPr/>
        </p:nvSpPr>
        <p:spPr>
          <a:xfrm>
            <a:off x="548640" y="1691640"/>
            <a:ext cx="11155680" cy="1097280"/>
          </a:xfrm>
          <a:prstGeom prst="rect">
            <a:avLst/>
          </a:prstGeom>
          <a:noFill/>
          <a:ln/>
        </p:spPr>
        <p:txBody>
          <a:bodyPr wrap="square" lIns="0" tIns="0" rIns="0" bIns="0" rtlCol="0" anchor="ctr"/>
          <a:lstStyle/>
          <a:p>
            <a:pPr indent="0" marL="0">
              <a:buNone/>
            </a:pPr>
            <a:r>
              <a:rPr lang="en-US" sz="1600" dirty="0">
                <a:solidFill>
                  <a:srgbClr val="1A1A2E"/>
                </a:solidFill>
                <a:latin typeface="Calibri" pitchFamily="34" charset="0"/>
                <a:ea typeface="Calibri" pitchFamily="34" charset="-122"/>
                <a:cs typeface="Calibri" pitchFamily="34" charset="-120"/>
              </a:rPr>
              <a:t>Las reacciones adversas a medicamentos son una de las principales causas de hospitalizacion evitable. Cada paciente combina edad, sexo, peso, comorbilidades y otras drogas — variaciones que rara vez aparecen en los ensayos clinicos originales.</a:t>
            </a:r>
            <a:endParaRPr lang="en-US" sz="1600" dirty="0"/>
          </a:p>
        </p:txBody>
      </p:sp>
      <p:sp>
        <p:nvSpPr>
          <p:cNvPr id="5" name="Shape 3"/>
          <p:cNvSpPr/>
          <p:nvPr/>
        </p:nvSpPr>
        <p:spPr>
          <a:xfrm>
            <a:off x="548640" y="3017520"/>
            <a:ext cx="3566160" cy="2286000"/>
          </a:xfrm>
          <a:prstGeom prst="roundRect">
            <a:avLst>
              <a:gd name="adj" fmla="val 6000"/>
            </a:avLst>
          </a:prstGeom>
          <a:solidFill>
            <a:srgbClr val="FFFFFF"/>
          </a:solidFill>
          <a:ln w="12700">
            <a:solidFill>
              <a:srgbClr val="E5E7EB"/>
            </a:solidFill>
            <a:prstDash val="solid"/>
          </a:ln>
        </p:spPr>
      </p:sp>
      <p:sp>
        <p:nvSpPr>
          <p:cNvPr id="6" name="Text 4"/>
          <p:cNvSpPr/>
          <p:nvPr/>
        </p:nvSpPr>
        <p:spPr>
          <a:xfrm>
            <a:off x="548640" y="3200400"/>
            <a:ext cx="3566160" cy="1097280"/>
          </a:xfrm>
          <a:prstGeom prst="rect">
            <a:avLst/>
          </a:prstGeom>
          <a:noFill/>
          <a:ln/>
        </p:spPr>
        <p:txBody>
          <a:bodyPr wrap="square" lIns="0" tIns="0" rIns="0" bIns="0" rtlCol="0" anchor="ctr"/>
          <a:lstStyle/>
          <a:p>
            <a:pPr algn="ctr" indent="0" marL="0">
              <a:buNone/>
            </a:pPr>
            <a:r>
              <a:rPr lang="en-US" sz="5600" b="1" dirty="0">
                <a:solidFill>
                  <a:srgbClr val="4361EE"/>
                </a:solidFill>
                <a:latin typeface="Cambria" pitchFamily="34" charset="0"/>
                <a:ea typeface="Cambria" pitchFamily="34" charset="-122"/>
                <a:cs typeface="Cambria" pitchFamily="34" charset="-120"/>
              </a:rPr>
              <a:t>+2 M</a:t>
            </a:r>
            <a:endParaRPr lang="en-US" sz="5600" dirty="0"/>
          </a:p>
        </p:txBody>
      </p:sp>
      <p:sp>
        <p:nvSpPr>
          <p:cNvPr id="7" name="Text 5"/>
          <p:cNvSpPr/>
          <p:nvPr/>
        </p:nvSpPr>
        <p:spPr>
          <a:xfrm>
            <a:off x="777240" y="4434840"/>
            <a:ext cx="3108960" cy="822960"/>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Hospitalizaciones por año en EE.UU. por reacciones adversas</a:t>
            </a:r>
            <a:endParaRPr lang="en-US" sz="1200" dirty="0"/>
          </a:p>
        </p:txBody>
      </p:sp>
      <p:sp>
        <p:nvSpPr>
          <p:cNvPr id="8" name="Shape 6"/>
          <p:cNvSpPr/>
          <p:nvPr/>
        </p:nvSpPr>
        <p:spPr>
          <a:xfrm>
            <a:off x="4343400" y="3017520"/>
            <a:ext cx="3566160" cy="2286000"/>
          </a:xfrm>
          <a:prstGeom prst="roundRect">
            <a:avLst>
              <a:gd name="adj" fmla="val 6000"/>
            </a:avLst>
          </a:prstGeom>
          <a:solidFill>
            <a:srgbClr val="FFFFFF"/>
          </a:solidFill>
          <a:ln w="12700">
            <a:solidFill>
              <a:srgbClr val="E5E7EB"/>
            </a:solidFill>
            <a:prstDash val="solid"/>
          </a:ln>
        </p:spPr>
      </p:sp>
      <p:sp>
        <p:nvSpPr>
          <p:cNvPr id="9" name="Text 7"/>
          <p:cNvSpPr/>
          <p:nvPr/>
        </p:nvSpPr>
        <p:spPr>
          <a:xfrm>
            <a:off x="4343400" y="3200400"/>
            <a:ext cx="3566160" cy="1097280"/>
          </a:xfrm>
          <a:prstGeom prst="rect">
            <a:avLst/>
          </a:prstGeom>
          <a:noFill/>
          <a:ln/>
        </p:spPr>
        <p:txBody>
          <a:bodyPr wrap="square" lIns="0" tIns="0" rIns="0" bIns="0" rtlCol="0" anchor="ctr"/>
          <a:lstStyle/>
          <a:p>
            <a:pPr algn="ctr" indent="0" marL="0">
              <a:buNone/>
            </a:pPr>
            <a:r>
              <a:rPr lang="en-US" sz="5600" b="1" dirty="0">
                <a:solidFill>
                  <a:srgbClr val="F76C5E"/>
                </a:solidFill>
                <a:latin typeface="Cambria" pitchFamily="34" charset="0"/>
                <a:ea typeface="Cambria" pitchFamily="34" charset="-122"/>
                <a:cs typeface="Cambria" pitchFamily="34" charset="-120"/>
              </a:rPr>
              <a:t>97</a:t>
            </a:r>
            <a:endParaRPr lang="en-US" sz="5600" dirty="0"/>
          </a:p>
        </p:txBody>
      </p:sp>
      <p:sp>
        <p:nvSpPr>
          <p:cNvPr id="10" name="Text 8"/>
          <p:cNvSpPr/>
          <p:nvPr/>
        </p:nvSpPr>
        <p:spPr>
          <a:xfrm>
            <a:off x="4572000" y="4434840"/>
            <a:ext cx="3108960" cy="822960"/>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Efectos adversos distintos que aprende a predecir el modelo</a:t>
            </a:r>
            <a:endParaRPr lang="en-US" sz="1200" dirty="0"/>
          </a:p>
        </p:txBody>
      </p:sp>
      <p:sp>
        <p:nvSpPr>
          <p:cNvPr id="11" name="Shape 9"/>
          <p:cNvSpPr/>
          <p:nvPr/>
        </p:nvSpPr>
        <p:spPr>
          <a:xfrm>
            <a:off x="8138160" y="3017520"/>
            <a:ext cx="3566160" cy="2286000"/>
          </a:xfrm>
          <a:prstGeom prst="roundRect">
            <a:avLst>
              <a:gd name="adj" fmla="val 6000"/>
            </a:avLst>
          </a:prstGeom>
          <a:solidFill>
            <a:srgbClr val="FFFFFF"/>
          </a:solidFill>
          <a:ln w="12700">
            <a:solidFill>
              <a:srgbClr val="E5E7EB"/>
            </a:solidFill>
            <a:prstDash val="solid"/>
          </a:ln>
        </p:spPr>
      </p:sp>
      <p:sp>
        <p:nvSpPr>
          <p:cNvPr id="12" name="Text 10"/>
          <p:cNvSpPr/>
          <p:nvPr/>
        </p:nvSpPr>
        <p:spPr>
          <a:xfrm>
            <a:off x="8138160" y="3200400"/>
            <a:ext cx="3566160" cy="1097280"/>
          </a:xfrm>
          <a:prstGeom prst="rect">
            <a:avLst/>
          </a:prstGeom>
          <a:noFill/>
          <a:ln/>
        </p:spPr>
        <p:txBody>
          <a:bodyPr wrap="square" lIns="0" tIns="0" rIns="0" bIns="0" rtlCol="0" anchor="ctr"/>
          <a:lstStyle/>
          <a:p>
            <a:pPr algn="ctr" indent="0" marL="0">
              <a:buNone/>
            </a:pPr>
            <a:r>
              <a:rPr lang="en-US" sz="5600" b="1" dirty="0">
                <a:solidFill>
                  <a:srgbClr val="1E2761"/>
                </a:solidFill>
                <a:latin typeface="Cambria" pitchFamily="34" charset="0"/>
                <a:ea typeface="Cambria" pitchFamily="34" charset="-122"/>
                <a:cs typeface="Cambria" pitchFamily="34" charset="-120"/>
              </a:rPr>
              <a:t>55 K</a:t>
            </a:r>
            <a:endParaRPr lang="en-US" sz="5600" dirty="0"/>
          </a:p>
        </p:txBody>
      </p:sp>
      <p:sp>
        <p:nvSpPr>
          <p:cNvPr id="13" name="Text 11"/>
          <p:cNvSpPr/>
          <p:nvPr/>
        </p:nvSpPr>
        <p:spPr>
          <a:xfrm>
            <a:off x="8366760" y="4434840"/>
            <a:ext cx="3108960" cy="822960"/>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Reportes reales de FAERS usados como dataset de entrenamiento</a:t>
            </a:r>
            <a:endParaRPr lang="en-US" sz="1200" dirty="0"/>
          </a:p>
        </p:txBody>
      </p:sp>
      <p:sp>
        <p:nvSpPr>
          <p:cNvPr id="14" name="Text 12"/>
          <p:cNvSpPr/>
          <p:nvPr/>
        </p:nvSpPr>
        <p:spPr>
          <a:xfrm>
            <a:off x="548640" y="5669280"/>
            <a:ext cx="11155680" cy="548640"/>
          </a:xfrm>
          <a:prstGeom prst="rect">
            <a:avLst/>
          </a:prstGeom>
          <a:noFill/>
          <a:ln/>
        </p:spPr>
        <p:txBody>
          <a:bodyPr wrap="square" lIns="0" tIns="0" rIns="0" bIns="0" rtlCol="0" anchor="ctr"/>
          <a:lstStyle/>
          <a:p>
            <a:pPr indent="0" marL="0">
              <a:buNone/>
            </a:pPr>
            <a:r>
              <a:rPr lang="en-US" sz="1600" b="1" i="1" dirty="0">
                <a:solidFill>
                  <a:srgbClr val="1E2761"/>
                </a:solidFill>
                <a:latin typeface="Calibri" pitchFamily="34" charset="0"/>
                <a:ea typeface="Calibri" pitchFamily="34" charset="-122"/>
                <a:cs typeface="Calibri" pitchFamily="34" charset="-120"/>
              </a:rPr>
              <a:t>Nuestra pregunta: dado un paciente nuevo (farmaco + perfil clinico), ¿que efectos adversos es mas probable que sufra?</a:t>
            </a:r>
            <a:endParaRPr lang="en-US" sz="1600" dirty="0"/>
          </a:p>
        </p:txBody>
      </p:sp>
      <p:sp>
        <p:nvSpPr>
          <p:cNvPr id="15" name="Text 13"/>
          <p:cNvSpPr/>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rgbClr val="6B7280"/>
                </a:solidFill>
              </a:rPr>
              <a:t>MTAA · farmApp · Defensa final</a:t>
            </a:r>
            <a:endParaRPr lang="en-US" sz="900" dirty="0"/>
          </a:p>
        </p:txBody>
      </p:sp>
      <p:sp>
        <p:nvSpPr>
          <p:cNvPr id="16" name="Text 14"/>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rPr>
              <a:t>2 / 16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B"/>
        </a:solidFill>
      </p:bgPr>
    </p:bg>
    <p:spTree>
      <p:nvGrpSpPr>
        <p:cNvPr id="1" name=""/>
        <p:cNvGrpSpPr/>
        <p:nvPr/>
      </p:nvGrpSpPr>
      <p:grpSpPr>
        <a:xfrm>
          <a:off x="0" y="0"/>
          <a:ext cx="0" cy="0"/>
          <a:chOff x="0" y="0"/>
          <a:chExt cx="0" cy="0"/>
        </a:xfrm>
      </p:grpSpPr>
      <p:sp>
        <p:nvSpPr>
          <p:cNvPr id="2" name="Text 0"/>
          <p:cNvSpPr/>
          <p:nvPr/>
        </p:nvSpPr>
        <p:spPr>
          <a:xfrm>
            <a:off x="457200" y="320040"/>
            <a:ext cx="11247120" cy="365760"/>
          </a:xfrm>
          <a:prstGeom prst="rect">
            <a:avLst/>
          </a:prstGeom>
          <a:noFill/>
          <a:ln/>
        </p:spPr>
        <p:txBody>
          <a:bodyPr wrap="square" lIns="0" tIns="0" rIns="0" bIns="0" rtlCol="0" anchor="ctr"/>
          <a:lstStyle/>
          <a:p>
            <a:pPr indent="0" marL="0">
              <a:buNone/>
            </a:pPr>
            <a:r>
              <a:rPr lang="en-US" sz="1100" b="1" spc="400" kern="0" dirty="0">
                <a:solidFill>
                  <a:srgbClr val="6B7280"/>
                </a:solidFill>
                <a:latin typeface="Calibri" pitchFamily="34" charset="0"/>
                <a:ea typeface="Calibri" pitchFamily="34" charset="-122"/>
                <a:cs typeface="Calibri" pitchFamily="34" charset="-120"/>
              </a:rPr>
              <a:t>02  ·  DATOS</a:t>
            </a:r>
            <a:endParaRPr lang="en-US" sz="1100" dirty="0"/>
          </a:p>
        </p:txBody>
      </p:sp>
      <p:sp>
        <p:nvSpPr>
          <p:cNvPr id="3" name="Text 1"/>
          <p:cNvSpPr/>
          <p:nvPr/>
        </p:nvSpPr>
        <p:spPr>
          <a:xfrm>
            <a:off x="457200" y="685800"/>
            <a:ext cx="11247120" cy="822960"/>
          </a:xfrm>
          <a:prstGeom prst="rect">
            <a:avLst/>
          </a:prstGeom>
          <a:noFill/>
          <a:ln/>
        </p:spPr>
        <p:txBody>
          <a:bodyPr wrap="square" lIns="0" tIns="0" rIns="0" bIns="0" rtlCol="0" anchor="ctr"/>
          <a:lstStyle/>
          <a:p>
            <a:pPr indent="0" marL="0">
              <a:buNone/>
            </a:pPr>
            <a:r>
              <a:rPr lang="en-US" sz="3600" b="1" dirty="0">
                <a:solidFill>
                  <a:srgbClr val="1A1A2E"/>
                </a:solidFill>
                <a:latin typeface="Cambria" pitchFamily="34" charset="0"/>
                <a:ea typeface="Cambria" pitchFamily="34" charset="-122"/>
                <a:cs typeface="Cambria" pitchFamily="34" charset="-120"/>
              </a:rPr>
              <a:t>Las dos fuentes de informacion</a:t>
            </a:r>
            <a:endParaRPr lang="en-US" sz="3600" dirty="0"/>
          </a:p>
        </p:txBody>
      </p:sp>
      <p:sp>
        <p:nvSpPr>
          <p:cNvPr id="4" name="Shape 2"/>
          <p:cNvSpPr/>
          <p:nvPr/>
        </p:nvSpPr>
        <p:spPr>
          <a:xfrm>
            <a:off x="548640" y="1783080"/>
            <a:ext cx="5577840" cy="4297680"/>
          </a:xfrm>
          <a:prstGeom prst="roundRect">
            <a:avLst>
              <a:gd name="adj" fmla="val 3191"/>
            </a:avLst>
          </a:prstGeom>
          <a:solidFill>
            <a:srgbClr val="FFFFFF"/>
          </a:solidFill>
          <a:ln w="25400">
            <a:solidFill>
              <a:srgbClr val="1E2761"/>
            </a:solidFill>
            <a:prstDash val="solid"/>
          </a:ln>
        </p:spPr>
      </p:sp>
      <p:sp>
        <p:nvSpPr>
          <p:cNvPr id="5" name="Text 3"/>
          <p:cNvSpPr/>
          <p:nvPr/>
        </p:nvSpPr>
        <p:spPr>
          <a:xfrm>
            <a:off x="777240" y="1965960"/>
            <a:ext cx="5120640" cy="457200"/>
          </a:xfrm>
          <a:prstGeom prst="rect">
            <a:avLst/>
          </a:prstGeom>
          <a:noFill/>
          <a:ln/>
        </p:spPr>
        <p:txBody>
          <a:bodyPr wrap="square" lIns="0" tIns="0" rIns="0" bIns="0"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FDA FAERS</a:t>
            </a:r>
            <a:endParaRPr lang="en-US" sz="2200" dirty="0"/>
          </a:p>
        </p:txBody>
      </p:sp>
      <p:sp>
        <p:nvSpPr>
          <p:cNvPr id="6" name="Text 4"/>
          <p:cNvSpPr/>
          <p:nvPr/>
        </p:nvSpPr>
        <p:spPr>
          <a:xfrm>
            <a:off x="777240" y="2377440"/>
            <a:ext cx="5120640" cy="274320"/>
          </a:xfrm>
          <a:prstGeom prst="rect">
            <a:avLst/>
          </a:prstGeom>
          <a:noFill/>
          <a:ln/>
        </p:spPr>
        <p:txBody>
          <a:bodyPr wrap="square" lIns="0" tIns="0" rIns="0" bIns="0" rtlCol="0" anchor="ctr"/>
          <a:lstStyle/>
          <a:p>
            <a:pPr indent="0" marL="0">
              <a:buNone/>
            </a:pPr>
            <a:r>
              <a:rPr lang="en-US" sz="1100" i="1" dirty="0">
                <a:solidFill>
                  <a:srgbClr val="6B7280"/>
                </a:solidFill>
              </a:rPr>
              <a:t>Para entrenar el modelo</a:t>
            </a:r>
            <a:endParaRPr lang="en-US" sz="1100" dirty="0"/>
          </a:p>
        </p:txBody>
      </p:sp>
      <p:sp>
        <p:nvSpPr>
          <p:cNvPr id="7" name="Text 5"/>
          <p:cNvSpPr/>
          <p:nvPr/>
        </p:nvSpPr>
        <p:spPr>
          <a:xfrm>
            <a:off x="777240" y="2788920"/>
            <a:ext cx="5120640" cy="2103120"/>
          </a:xfrm>
          <a:prstGeom prst="rect">
            <a:avLst/>
          </a:prstGeom>
          <a:noFill/>
          <a:ln/>
        </p:spPr>
        <p:txBody>
          <a:bodyPr wrap="square" rtlCol="0" anchor="ctr"/>
          <a:lstStyle/>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Reportes reales de pacientes con reacciones adversas</a:t>
            </a:r>
            <a:endParaRPr lang="en-US" sz="1300" dirty="0"/>
          </a:p>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4 archivos por trimestre: DEMO, DRUG, REAC, INDI</a:t>
            </a:r>
            <a:endParaRPr lang="en-US" sz="1300" dirty="0"/>
          </a:p>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Se unen por primaryid (ID del caso)</a:t>
            </a:r>
            <a:endParaRPr lang="en-US" sz="1300" dirty="0"/>
          </a:p>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Sampleamos 55.000 casos con semilla fija</a:t>
            </a:r>
            <a:endParaRPr lang="en-US" sz="1300" dirty="0"/>
          </a:p>
        </p:txBody>
      </p:sp>
      <p:sp>
        <p:nvSpPr>
          <p:cNvPr id="8" name="Text 6"/>
          <p:cNvSpPr/>
          <p:nvPr/>
        </p:nvSpPr>
        <p:spPr>
          <a:xfrm>
            <a:off x="777240" y="5349240"/>
            <a:ext cx="5120640" cy="548640"/>
          </a:xfrm>
          <a:prstGeom prst="rect">
            <a:avLst/>
          </a:prstGeom>
          <a:noFill/>
          <a:ln/>
        </p:spPr>
        <p:txBody>
          <a:bodyPr wrap="square" lIns="0" tIns="0" rIns="0" bIns="0" rtlCol="0" anchor="ctr"/>
          <a:lstStyle/>
          <a:p>
            <a:pPr indent="0" marL="0">
              <a:buNone/>
            </a:pPr>
            <a:r>
              <a:rPr lang="en-US" sz="1100" i="1" dirty="0">
                <a:solidFill>
                  <a:srgbClr val="4361EE"/>
                </a:solidFill>
                <a:latin typeface="Courier New" pitchFamily="34" charset="0"/>
                <a:ea typeface="Courier New" pitchFamily="34" charset="-122"/>
                <a:cs typeface="Courier New" pitchFamily="34" charset="-120"/>
              </a:rPr>
              <a:t>Ejemplo de fila: 67 años, F, ASPIRIN + METFORMIN → NAUSEA, HEADACHE</a:t>
            </a:r>
            <a:endParaRPr lang="en-US" sz="1100" dirty="0"/>
          </a:p>
        </p:txBody>
      </p:sp>
      <p:sp>
        <p:nvSpPr>
          <p:cNvPr id="9" name="Shape 7"/>
          <p:cNvSpPr/>
          <p:nvPr/>
        </p:nvSpPr>
        <p:spPr>
          <a:xfrm>
            <a:off x="6355080" y="1783080"/>
            <a:ext cx="5577840" cy="4297680"/>
          </a:xfrm>
          <a:prstGeom prst="roundRect">
            <a:avLst>
              <a:gd name="adj" fmla="val 3191"/>
            </a:avLst>
          </a:prstGeom>
          <a:solidFill>
            <a:srgbClr val="FFFFFF"/>
          </a:solidFill>
          <a:ln w="25400">
            <a:solidFill>
              <a:srgbClr val="F76C5E"/>
            </a:solidFill>
            <a:prstDash val="solid"/>
          </a:ln>
        </p:spPr>
      </p:sp>
      <p:sp>
        <p:nvSpPr>
          <p:cNvPr id="10" name="Text 8"/>
          <p:cNvSpPr/>
          <p:nvPr/>
        </p:nvSpPr>
        <p:spPr>
          <a:xfrm>
            <a:off x="6583680" y="1965960"/>
            <a:ext cx="5120640" cy="457200"/>
          </a:xfrm>
          <a:prstGeom prst="rect">
            <a:avLst/>
          </a:prstGeom>
          <a:noFill/>
          <a:ln/>
        </p:spPr>
        <p:txBody>
          <a:bodyPr wrap="square" lIns="0" tIns="0" rIns="0" bIns="0" rtlCol="0" anchor="ctr"/>
          <a:lstStyle/>
          <a:p>
            <a:pPr indent="0" marL="0">
              <a:buNone/>
            </a:pPr>
            <a:r>
              <a:rPr lang="en-US" sz="2200" b="1" dirty="0">
                <a:solidFill>
                  <a:srgbClr val="F76C5E"/>
                </a:solidFill>
                <a:latin typeface="Cambria" pitchFamily="34" charset="0"/>
                <a:ea typeface="Cambria" pitchFamily="34" charset="-122"/>
                <a:cs typeface="Cambria" pitchFamily="34" charset="-120"/>
              </a:rPr>
              <a:t>SIDER 4.1</a:t>
            </a:r>
            <a:endParaRPr lang="en-US" sz="2200" dirty="0"/>
          </a:p>
        </p:txBody>
      </p:sp>
      <p:sp>
        <p:nvSpPr>
          <p:cNvPr id="11" name="Text 9"/>
          <p:cNvSpPr/>
          <p:nvPr/>
        </p:nvSpPr>
        <p:spPr>
          <a:xfrm>
            <a:off x="6583680" y="2377440"/>
            <a:ext cx="5120640" cy="274320"/>
          </a:xfrm>
          <a:prstGeom prst="rect">
            <a:avLst/>
          </a:prstGeom>
          <a:noFill/>
          <a:ln/>
        </p:spPr>
        <p:txBody>
          <a:bodyPr wrap="square" lIns="0" tIns="0" rIns="0" bIns="0" rtlCol="0" anchor="ctr"/>
          <a:lstStyle/>
          <a:p>
            <a:pPr indent="0" marL="0">
              <a:buNone/>
            </a:pPr>
            <a:r>
              <a:rPr lang="en-US" sz="1100" i="1" dirty="0">
                <a:solidFill>
                  <a:srgbClr val="6B7280"/>
                </a:solidFill>
              </a:rPr>
              <a:t>Para validar (verdad de referencia)</a:t>
            </a:r>
            <a:endParaRPr lang="en-US" sz="1100" dirty="0"/>
          </a:p>
        </p:txBody>
      </p:sp>
      <p:sp>
        <p:nvSpPr>
          <p:cNvPr id="12" name="Text 10"/>
          <p:cNvSpPr/>
          <p:nvPr/>
        </p:nvSpPr>
        <p:spPr>
          <a:xfrm>
            <a:off x="6583680" y="2788920"/>
            <a:ext cx="5120640" cy="2103120"/>
          </a:xfrm>
          <a:prstGeom prst="rect">
            <a:avLst/>
          </a:prstGeom>
          <a:noFill/>
          <a:ln/>
        </p:spPr>
        <p:txBody>
          <a:bodyPr wrap="square" rtlCol="0" anchor="ctr"/>
          <a:lstStyle/>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Base curada manualmente desde prospectos oficiales</a:t>
            </a:r>
            <a:endParaRPr lang="en-US" sz="1300" dirty="0"/>
          </a:p>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1.430 farmacos con sus efectos adversos conocidos</a:t>
            </a:r>
            <a:endParaRPr lang="en-US" sz="1300" dirty="0"/>
          </a:p>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Independiente de FAERS — no se uso en entrenamiento</a:t>
            </a:r>
            <a:endParaRPr lang="en-US" sz="1300" dirty="0"/>
          </a:p>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Sirve para detectar sesgos del dataset de entrenamiento</a:t>
            </a:r>
            <a:endParaRPr lang="en-US" sz="1300" dirty="0"/>
          </a:p>
        </p:txBody>
      </p:sp>
      <p:sp>
        <p:nvSpPr>
          <p:cNvPr id="13" name="Text 11"/>
          <p:cNvSpPr/>
          <p:nvPr/>
        </p:nvSpPr>
        <p:spPr>
          <a:xfrm>
            <a:off x="6583680" y="5349240"/>
            <a:ext cx="5120640" cy="548640"/>
          </a:xfrm>
          <a:prstGeom prst="rect">
            <a:avLst/>
          </a:prstGeom>
          <a:noFill/>
          <a:ln/>
        </p:spPr>
        <p:txBody>
          <a:bodyPr wrap="square" lIns="0" tIns="0" rIns="0" bIns="0" rtlCol="0" anchor="ctr"/>
          <a:lstStyle/>
          <a:p>
            <a:pPr indent="0" marL="0">
              <a:buNone/>
            </a:pPr>
            <a:r>
              <a:rPr lang="en-US" sz="1100" i="1" dirty="0">
                <a:solidFill>
                  <a:srgbClr val="F76C5E"/>
                </a:solidFill>
                <a:latin typeface="Courier New" pitchFamily="34" charset="0"/>
                <a:ea typeface="Courier New" pitchFamily="34" charset="-122"/>
                <a:cs typeface="Courier New" pitchFamily="34" charset="-120"/>
              </a:rPr>
              <a:t>METFORMIN → 114 efectos documentados en SIDER</a:t>
            </a:r>
            <a:endParaRPr lang="en-US" sz="1100" dirty="0"/>
          </a:p>
        </p:txBody>
      </p:sp>
      <p:sp>
        <p:nvSpPr>
          <p:cNvPr id="14" name="Text 12"/>
          <p:cNvSpPr/>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rgbClr val="6B7280"/>
                </a:solidFill>
              </a:rPr>
              <a:t>MTAA · farmApp · Defensa final</a:t>
            </a:r>
            <a:endParaRPr lang="en-US" sz="900" dirty="0"/>
          </a:p>
        </p:txBody>
      </p:sp>
      <p:sp>
        <p:nvSpPr>
          <p:cNvPr id="15" name="Text 13"/>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rPr>
              <a:t>3 / 16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B"/>
        </a:solidFill>
      </p:bgPr>
    </p:bg>
    <p:spTree>
      <p:nvGrpSpPr>
        <p:cNvPr id="1" name=""/>
        <p:cNvGrpSpPr/>
        <p:nvPr/>
      </p:nvGrpSpPr>
      <p:grpSpPr>
        <a:xfrm>
          <a:off x="0" y="0"/>
          <a:ext cx="0" cy="0"/>
          <a:chOff x="0" y="0"/>
          <a:chExt cx="0" cy="0"/>
        </a:xfrm>
      </p:grpSpPr>
      <p:sp>
        <p:nvSpPr>
          <p:cNvPr id="2" name="Text 0"/>
          <p:cNvSpPr/>
          <p:nvPr/>
        </p:nvSpPr>
        <p:spPr>
          <a:xfrm>
            <a:off x="457200" y="320040"/>
            <a:ext cx="11247120" cy="365760"/>
          </a:xfrm>
          <a:prstGeom prst="rect">
            <a:avLst/>
          </a:prstGeom>
          <a:noFill/>
          <a:ln/>
        </p:spPr>
        <p:txBody>
          <a:bodyPr wrap="square" lIns="0" tIns="0" rIns="0" bIns="0" rtlCol="0" anchor="ctr"/>
          <a:lstStyle/>
          <a:p>
            <a:pPr indent="0" marL="0">
              <a:buNone/>
            </a:pPr>
            <a:r>
              <a:rPr lang="en-US" sz="1100" b="1" spc="400" kern="0" dirty="0">
                <a:solidFill>
                  <a:srgbClr val="6B7280"/>
                </a:solidFill>
                <a:latin typeface="Calibri" pitchFamily="34" charset="0"/>
                <a:ea typeface="Calibri" pitchFamily="34" charset="-122"/>
                <a:cs typeface="Calibri" pitchFamily="34" charset="-120"/>
              </a:rPr>
              <a:t>03  ·  DESAFIOS</a:t>
            </a:r>
            <a:endParaRPr lang="en-US" sz="1100" dirty="0"/>
          </a:p>
        </p:txBody>
      </p:sp>
      <p:sp>
        <p:nvSpPr>
          <p:cNvPr id="3" name="Text 1"/>
          <p:cNvSpPr/>
          <p:nvPr/>
        </p:nvSpPr>
        <p:spPr>
          <a:xfrm>
            <a:off x="457200" y="685800"/>
            <a:ext cx="11247120" cy="822960"/>
          </a:xfrm>
          <a:prstGeom prst="rect">
            <a:avLst/>
          </a:prstGeom>
          <a:noFill/>
          <a:ln/>
        </p:spPr>
        <p:txBody>
          <a:bodyPr wrap="square" lIns="0" tIns="0" rIns="0" bIns="0" rtlCol="0" anchor="ctr"/>
          <a:lstStyle/>
          <a:p>
            <a:pPr indent="0" marL="0">
              <a:buNone/>
            </a:pPr>
            <a:r>
              <a:rPr lang="en-US" sz="3600" b="1" dirty="0">
                <a:solidFill>
                  <a:srgbClr val="1A1A2E"/>
                </a:solidFill>
                <a:latin typeface="Cambria" pitchFamily="34" charset="0"/>
                <a:ea typeface="Cambria" pitchFamily="34" charset="-122"/>
                <a:cs typeface="Cambria" pitchFamily="34" charset="-120"/>
              </a:rPr>
              <a:t>Por que este problema es dificil</a:t>
            </a:r>
            <a:endParaRPr lang="en-US" sz="3600" dirty="0"/>
          </a:p>
        </p:txBody>
      </p:sp>
      <p:sp>
        <p:nvSpPr>
          <p:cNvPr id="4" name="Shape 2"/>
          <p:cNvSpPr/>
          <p:nvPr/>
        </p:nvSpPr>
        <p:spPr>
          <a:xfrm>
            <a:off x="548640" y="1828800"/>
            <a:ext cx="5577840" cy="1920240"/>
          </a:xfrm>
          <a:prstGeom prst="roundRect">
            <a:avLst>
              <a:gd name="adj" fmla="val 4762"/>
            </a:avLst>
          </a:prstGeom>
          <a:solidFill>
            <a:srgbClr val="FFFFFF"/>
          </a:solidFill>
          <a:ln w="12700">
            <a:solidFill>
              <a:srgbClr val="E5E7EB"/>
            </a:solidFill>
            <a:prstDash val="solid"/>
          </a:ln>
        </p:spPr>
      </p:sp>
      <p:sp>
        <p:nvSpPr>
          <p:cNvPr id="5" name="Shape 3"/>
          <p:cNvSpPr/>
          <p:nvPr/>
        </p:nvSpPr>
        <p:spPr>
          <a:xfrm>
            <a:off x="822960" y="2103120"/>
            <a:ext cx="502920" cy="502920"/>
          </a:xfrm>
          <a:prstGeom prst="ellipse">
            <a:avLst/>
          </a:prstGeom>
          <a:solidFill>
            <a:srgbClr val="F76C5E"/>
          </a:solidFill>
          <a:ln w="12700">
            <a:solidFill>
              <a:srgbClr val="F76C5E"/>
            </a:solidFill>
            <a:prstDash val="solid"/>
          </a:ln>
        </p:spPr>
      </p:sp>
      <p:sp>
        <p:nvSpPr>
          <p:cNvPr id="6" name="Text 4"/>
          <p:cNvSpPr/>
          <p:nvPr/>
        </p:nvSpPr>
        <p:spPr>
          <a:xfrm>
            <a:off x="822960" y="21031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1463040" y="2121408"/>
            <a:ext cx="457200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Multi-label</a:t>
            </a:r>
            <a:endParaRPr lang="en-US" sz="1800" dirty="0"/>
          </a:p>
        </p:txBody>
      </p:sp>
      <p:sp>
        <p:nvSpPr>
          <p:cNvPr id="8" name="Text 6"/>
          <p:cNvSpPr/>
          <p:nvPr/>
        </p:nvSpPr>
        <p:spPr>
          <a:xfrm>
            <a:off x="868680" y="2697480"/>
            <a:ext cx="4937760" cy="100584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Cada paciente puede sufrir varias reacciones a la vez. La materia enseña clasificacion binaria/multiclase; aqui necesitamos una etiqueta binaria por cada uno de los 97 efectos.</a:t>
            </a:r>
            <a:endParaRPr lang="en-US" sz="1200" dirty="0"/>
          </a:p>
        </p:txBody>
      </p:sp>
      <p:sp>
        <p:nvSpPr>
          <p:cNvPr id="9" name="Shape 7"/>
          <p:cNvSpPr/>
          <p:nvPr/>
        </p:nvSpPr>
        <p:spPr>
          <a:xfrm>
            <a:off x="6355080" y="1828800"/>
            <a:ext cx="5577840" cy="1920240"/>
          </a:xfrm>
          <a:prstGeom prst="roundRect">
            <a:avLst>
              <a:gd name="adj" fmla="val 4762"/>
            </a:avLst>
          </a:prstGeom>
          <a:solidFill>
            <a:srgbClr val="FFFFFF"/>
          </a:solidFill>
          <a:ln w="12700">
            <a:solidFill>
              <a:srgbClr val="E5E7EB"/>
            </a:solidFill>
            <a:prstDash val="solid"/>
          </a:ln>
        </p:spPr>
      </p:sp>
      <p:sp>
        <p:nvSpPr>
          <p:cNvPr id="10" name="Shape 8"/>
          <p:cNvSpPr/>
          <p:nvPr/>
        </p:nvSpPr>
        <p:spPr>
          <a:xfrm>
            <a:off x="6629400" y="2103120"/>
            <a:ext cx="502920" cy="502920"/>
          </a:xfrm>
          <a:prstGeom prst="ellipse">
            <a:avLst/>
          </a:prstGeom>
          <a:solidFill>
            <a:srgbClr val="F76C5E"/>
          </a:solidFill>
          <a:ln w="12700">
            <a:solidFill>
              <a:srgbClr val="F76C5E"/>
            </a:solidFill>
            <a:prstDash val="solid"/>
          </a:ln>
        </p:spPr>
      </p:sp>
      <p:sp>
        <p:nvSpPr>
          <p:cNvPr id="11" name="Text 9"/>
          <p:cNvSpPr/>
          <p:nvPr/>
        </p:nvSpPr>
        <p:spPr>
          <a:xfrm>
            <a:off x="6629400" y="21031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7269480" y="2121408"/>
            <a:ext cx="457200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Desbalance severo</a:t>
            </a:r>
            <a:endParaRPr lang="en-US" sz="1800" dirty="0"/>
          </a:p>
        </p:txBody>
      </p:sp>
      <p:sp>
        <p:nvSpPr>
          <p:cNvPr id="13" name="Text 11"/>
          <p:cNvSpPr/>
          <p:nvPr/>
        </p:nvSpPr>
        <p:spPr>
          <a:xfrm>
            <a:off x="6675120" y="2697480"/>
            <a:ext cx="4937760" cy="100584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Algunas etiquetas aparecen en menos del 2% de los casos. Un modelo ingenuo aprende a decir 'no' a todo y obtiene buena 'accuracy' pero F1 cero.</a:t>
            </a:r>
            <a:endParaRPr lang="en-US" sz="1200" dirty="0"/>
          </a:p>
        </p:txBody>
      </p:sp>
      <p:sp>
        <p:nvSpPr>
          <p:cNvPr id="14" name="Shape 12"/>
          <p:cNvSpPr/>
          <p:nvPr/>
        </p:nvSpPr>
        <p:spPr>
          <a:xfrm>
            <a:off x="548640" y="3977640"/>
            <a:ext cx="5577840" cy="1920240"/>
          </a:xfrm>
          <a:prstGeom prst="roundRect">
            <a:avLst>
              <a:gd name="adj" fmla="val 4762"/>
            </a:avLst>
          </a:prstGeom>
          <a:solidFill>
            <a:srgbClr val="FFFFFF"/>
          </a:solidFill>
          <a:ln w="12700">
            <a:solidFill>
              <a:srgbClr val="E5E7EB"/>
            </a:solidFill>
            <a:prstDash val="solid"/>
          </a:ln>
        </p:spPr>
      </p:sp>
      <p:sp>
        <p:nvSpPr>
          <p:cNvPr id="15" name="Shape 13"/>
          <p:cNvSpPr/>
          <p:nvPr/>
        </p:nvSpPr>
        <p:spPr>
          <a:xfrm>
            <a:off x="822960" y="4251960"/>
            <a:ext cx="502920" cy="502920"/>
          </a:xfrm>
          <a:prstGeom prst="ellipse">
            <a:avLst/>
          </a:prstGeom>
          <a:solidFill>
            <a:srgbClr val="F76C5E"/>
          </a:solidFill>
          <a:ln w="12700">
            <a:solidFill>
              <a:srgbClr val="F76C5E"/>
            </a:solidFill>
            <a:prstDash val="solid"/>
          </a:ln>
        </p:spPr>
      </p:sp>
      <p:sp>
        <p:nvSpPr>
          <p:cNvPr id="16" name="Text 14"/>
          <p:cNvSpPr/>
          <p:nvPr/>
        </p:nvSpPr>
        <p:spPr>
          <a:xfrm>
            <a:off x="822960" y="42519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463040" y="4270248"/>
            <a:ext cx="457200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Texto clinico ruidoso</a:t>
            </a:r>
            <a:endParaRPr lang="en-US" sz="1800" dirty="0"/>
          </a:p>
        </p:txBody>
      </p:sp>
      <p:sp>
        <p:nvSpPr>
          <p:cNvPr id="18" name="Text 16"/>
          <p:cNvSpPr/>
          <p:nvPr/>
        </p:nvSpPr>
        <p:spPr>
          <a:xfrm>
            <a:off x="868680" y="4846320"/>
            <a:ext cx="4937760" cy="100584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Los reportes FAERS usan terminologia MedDRA con sinonimos, abreviaturas y errores tipograficos. 'Headache' y 'cephalalgia' son la misma cosa.</a:t>
            </a:r>
            <a:endParaRPr lang="en-US" sz="1200" dirty="0"/>
          </a:p>
        </p:txBody>
      </p:sp>
      <p:sp>
        <p:nvSpPr>
          <p:cNvPr id="19" name="Shape 17"/>
          <p:cNvSpPr/>
          <p:nvPr/>
        </p:nvSpPr>
        <p:spPr>
          <a:xfrm>
            <a:off x="6355080" y="3977640"/>
            <a:ext cx="5577840" cy="1920240"/>
          </a:xfrm>
          <a:prstGeom prst="roundRect">
            <a:avLst>
              <a:gd name="adj" fmla="val 4762"/>
            </a:avLst>
          </a:prstGeom>
          <a:solidFill>
            <a:srgbClr val="FFFFFF"/>
          </a:solidFill>
          <a:ln w="12700">
            <a:solidFill>
              <a:srgbClr val="E5E7EB"/>
            </a:solidFill>
            <a:prstDash val="solid"/>
          </a:ln>
        </p:spPr>
      </p:sp>
      <p:sp>
        <p:nvSpPr>
          <p:cNvPr id="20" name="Shape 18"/>
          <p:cNvSpPr/>
          <p:nvPr/>
        </p:nvSpPr>
        <p:spPr>
          <a:xfrm>
            <a:off x="6629400" y="4251960"/>
            <a:ext cx="502920" cy="502920"/>
          </a:xfrm>
          <a:prstGeom prst="ellipse">
            <a:avLst/>
          </a:prstGeom>
          <a:solidFill>
            <a:srgbClr val="F76C5E"/>
          </a:solidFill>
          <a:ln w="12700">
            <a:solidFill>
              <a:srgbClr val="F76C5E"/>
            </a:solidFill>
            <a:prstDash val="solid"/>
          </a:ln>
        </p:spPr>
      </p:sp>
      <p:sp>
        <p:nvSpPr>
          <p:cNvPr id="21" name="Text 19"/>
          <p:cNvSpPr/>
          <p:nvPr/>
        </p:nvSpPr>
        <p:spPr>
          <a:xfrm>
            <a:off x="6629400" y="42519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7269480" y="4270248"/>
            <a:ext cx="457200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Reportes parciales</a:t>
            </a:r>
            <a:endParaRPr lang="en-US" sz="1800" dirty="0"/>
          </a:p>
        </p:txBody>
      </p:sp>
      <p:sp>
        <p:nvSpPr>
          <p:cNvPr id="23" name="Text 21"/>
          <p:cNvSpPr/>
          <p:nvPr/>
        </p:nvSpPr>
        <p:spPr>
          <a:xfrm>
            <a:off x="6675120" y="4846320"/>
            <a:ext cx="4937760" cy="100584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FAERS tiene 2-4 reacciones por caso, pero un farmaco puede causar 100+. El modelo no puede aprender lo que nunca se reporto.</a:t>
            </a:r>
            <a:endParaRPr lang="en-US" sz="1200" dirty="0"/>
          </a:p>
        </p:txBody>
      </p:sp>
      <p:sp>
        <p:nvSpPr>
          <p:cNvPr id="24" name="Text 22"/>
          <p:cNvSpPr/>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rgbClr val="6B7280"/>
                </a:solidFill>
              </a:rPr>
              <a:t>MTAA · farmApp · Defensa final</a:t>
            </a:r>
            <a:endParaRPr lang="en-US" sz="900" dirty="0"/>
          </a:p>
        </p:txBody>
      </p:sp>
      <p:sp>
        <p:nvSpPr>
          <p:cNvPr id="25" name="Text 23"/>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rPr>
              <a:t>4 / 16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B"/>
        </a:solidFill>
      </p:bgPr>
    </p:bg>
    <p:spTree>
      <p:nvGrpSpPr>
        <p:cNvPr id="1" name=""/>
        <p:cNvGrpSpPr/>
        <p:nvPr/>
      </p:nvGrpSpPr>
      <p:grpSpPr>
        <a:xfrm>
          <a:off x="0" y="0"/>
          <a:ext cx="0" cy="0"/>
          <a:chOff x="0" y="0"/>
          <a:chExt cx="0" cy="0"/>
        </a:xfrm>
      </p:grpSpPr>
      <p:sp>
        <p:nvSpPr>
          <p:cNvPr id="2" name="Text 0"/>
          <p:cNvSpPr/>
          <p:nvPr/>
        </p:nvSpPr>
        <p:spPr>
          <a:xfrm>
            <a:off x="457200" y="320040"/>
            <a:ext cx="11247120" cy="365760"/>
          </a:xfrm>
          <a:prstGeom prst="rect">
            <a:avLst/>
          </a:prstGeom>
          <a:noFill/>
          <a:ln/>
        </p:spPr>
        <p:txBody>
          <a:bodyPr wrap="square" lIns="0" tIns="0" rIns="0" bIns="0" rtlCol="0" anchor="ctr"/>
          <a:lstStyle/>
          <a:p>
            <a:pPr indent="0" marL="0">
              <a:buNone/>
            </a:pPr>
            <a:r>
              <a:rPr lang="en-US" sz="1100" b="1" spc="400" kern="0" dirty="0">
                <a:solidFill>
                  <a:srgbClr val="6B7280"/>
                </a:solidFill>
                <a:latin typeface="Calibri" pitchFamily="34" charset="0"/>
                <a:ea typeface="Calibri" pitchFamily="34" charset="-122"/>
                <a:cs typeface="Calibri" pitchFamily="34" charset="-120"/>
              </a:rPr>
              <a:t>04  ·  SOLUCION</a:t>
            </a:r>
            <a:endParaRPr lang="en-US" sz="1100" dirty="0"/>
          </a:p>
        </p:txBody>
      </p:sp>
      <p:sp>
        <p:nvSpPr>
          <p:cNvPr id="3" name="Text 1"/>
          <p:cNvSpPr/>
          <p:nvPr/>
        </p:nvSpPr>
        <p:spPr>
          <a:xfrm>
            <a:off x="457200" y="685800"/>
            <a:ext cx="11247120" cy="822960"/>
          </a:xfrm>
          <a:prstGeom prst="rect">
            <a:avLst/>
          </a:prstGeom>
          <a:noFill/>
          <a:ln/>
        </p:spPr>
        <p:txBody>
          <a:bodyPr wrap="square" lIns="0" tIns="0" rIns="0" bIns="0" rtlCol="0" anchor="ctr"/>
          <a:lstStyle/>
          <a:p>
            <a:pPr indent="0" marL="0">
              <a:buNone/>
            </a:pPr>
            <a:r>
              <a:rPr lang="en-US" sz="3600" b="1" dirty="0">
                <a:solidFill>
                  <a:srgbClr val="1A1A2E"/>
                </a:solidFill>
                <a:latin typeface="Cambria" pitchFamily="34" charset="0"/>
                <a:ea typeface="Cambria" pitchFamily="34" charset="-122"/>
                <a:cs typeface="Cambria" pitchFamily="34" charset="-120"/>
              </a:rPr>
              <a:t>El pipeline de minería de texto, en 7 etapas</a:t>
            </a:r>
            <a:endParaRPr lang="en-US" sz="3600" dirty="0"/>
          </a:p>
        </p:txBody>
      </p:sp>
      <p:sp>
        <p:nvSpPr>
          <p:cNvPr id="4" name="Shape 2"/>
          <p:cNvSpPr/>
          <p:nvPr/>
        </p:nvSpPr>
        <p:spPr>
          <a:xfrm>
            <a:off x="548640" y="2011680"/>
            <a:ext cx="1508760" cy="1828800"/>
          </a:xfrm>
          <a:prstGeom prst="roundRect">
            <a:avLst>
              <a:gd name="adj" fmla="val 6061"/>
            </a:avLst>
          </a:prstGeom>
          <a:solidFill>
            <a:srgbClr val="FFFFFF"/>
          </a:solidFill>
          <a:ln w="12700">
            <a:solidFill>
              <a:srgbClr val="D1D5DB"/>
            </a:solidFill>
            <a:prstDash val="solid"/>
          </a:ln>
        </p:spPr>
      </p:sp>
      <p:sp>
        <p:nvSpPr>
          <p:cNvPr id="5" name="Text 3"/>
          <p:cNvSpPr/>
          <p:nvPr/>
        </p:nvSpPr>
        <p:spPr>
          <a:xfrm>
            <a:off x="548640" y="2148840"/>
            <a:ext cx="1508760" cy="457200"/>
          </a:xfrm>
          <a:prstGeom prst="rect">
            <a:avLst/>
          </a:prstGeom>
          <a:noFill/>
          <a:ln/>
        </p:spPr>
        <p:txBody>
          <a:bodyPr wrap="square" lIns="0" tIns="0" rIns="0" bIns="0" rtlCol="0" anchor="ctr"/>
          <a:lstStyle/>
          <a:p>
            <a:pPr algn="ctr" indent="0" marL="0">
              <a:buNone/>
            </a:pPr>
            <a:r>
              <a:rPr lang="en-US" sz="2200" b="1" dirty="0">
                <a:solidFill>
                  <a:srgbClr val="1E2761"/>
                </a:solidFill>
                <a:latin typeface="Cambria" pitchFamily="34" charset="0"/>
                <a:ea typeface="Cambria" pitchFamily="34" charset="-122"/>
                <a:cs typeface="Cambria" pitchFamily="34" charset="-120"/>
              </a:rPr>
              <a:t>1</a:t>
            </a:r>
            <a:endParaRPr lang="en-US" sz="2200" dirty="0"/>
          </a:p>
        </p:txBody>
      </p:sp>
      <p:sp>
        <p:nvSpPr>
          <p:cNvPr id="6" name="Text 4"/>
          <p:cNvSpPr/>
          <p:nvPr/>
        </p:nvSpPr>
        <p:spPr>
          <a:xfrm>
            <a:off x="640080" y="2606040"/>
            <a:ext cx="1325880" cy="73152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Datos</a:t>
            </a:r>
            <a:endParaRPr lang="en-US" sz="1300" dirty="0"/>
          </a:p>
          <a:p>
            <a:pPr algn="ctr" indent="0" marL="0">
              <a:buNone/>
            </a:pPr>
            <a:r>
              <a:rPr lang="en-US" sz="1300" b="1" dirty="0">
                <a:solidFill>
                  <a:srgbClr val="1A1A2E"/>
                </a:solidFill>
                <a:latin typeface="Calibri" pitchFamily="34" charset="0"/>
                <a:ea typeface="Calibri" pitchFamily="34" charset="-122"/>
                <a:cs typeface="Calibri" pitchFamily="34" charset="-120"/>
              </a:rPr>
              <a:t>crudos</a:t>
            </a:r>
            <a:endParaRPr lang="en-US" sz="1300" dirty="0"/>
          </a:p>
        </p:txBody>
      </p:sp>
      <p:sp>
        <p:nvSpPr>
          <p:cNvPr id="7" name="Text 5"/>
          <p:cNvSpPr/>
          <p:nvPr/>
        </p:nvSpPr>
        <p:spPr>
          <a:xfrm>
            <a:off x="594360" y="3383280"/>
            <a:ext cx="1417320" cy="411480"/>
          </a:xfrm>
          <a:prstGeom prst="rect">
            <a:avLst/>
          </a:prstGeom>
          <a:noFill/>
          <a:ln/>
        </p:spPr>
        <p:txBody>
          <a:bodyPr wrap="square" lIns="0" tIns="0" rIns="0" bIns="0" rtlCol="0" anchor="ctr"/>
          <a:lstStyle/>
          <a:p>
            <a:pPr algn="ctr" indent="0" marL="0">
              <a:buNone/>
            </a:pPr>
            <a:r>
              <a:rPr lang="en-US" sz="900" i="1" dirty="0">
                <a:solidFill>
                  <a:srgbClr val="6B7280"/>
                </a:solidFill>
                <a:latin typeface="Courier New" pitchFamily="34" charset="0"/>
                <a:ea typeface="Courier New" pitchFamily="34" charset="-122"/>
                <a:cs typeface="Courier New" pitchFamily="34" charset="-120"/>
              </a:rPr>
              <a:t>FAERS .txt</a:t>
            </a:r>
            <a:endParaRPr lang="en-US" sz="900" dirty="0"/>
          </a:p>
        </p:txBody>
      </p:sp>
      <p:sp>
        <p:nvSpPr>
          <p:cNvPr id="8" name="Shape 6"/>
          <p:cNvSpPr/>
          <p:nvPr/>
        </p:nvSpPr>
        <p:spPr>
          <a:xfrm rot="5400000">
            <a:off x="2061972" y="2788920"/>
            <a:ext cx="82296" cy="274320"/>
          </a:xfrm>
          <a:prstGeom prst="rtTriangle">
            <a:avLst/>
          </a:prstGeom>
          <a:solidFill>
            <a:srgbClr val="6B7280"/>
          </a:solidFill>
          <a:ln w="12700">
            <a:solidFill>
              <a:srgbClr val="6B7280"/>
            </a:solidFill>
            <a:prstDash val="solid"/>
          </a:ln>
        </p:spPr>
      </p:sp>
      <p:sp>
        <p:nvSpPr>
          <p:cNvPr id="9" name="Shape 7"/>
          <p:cNvSpPr/>
          <p:nvPr/>
        </p:nvSpPr>
        <p:spPr>
          <a:xfrm>
            <a:off x="2148840" y="2011680"/>
            <a:ext cx="1508760" cy="1828800"/>
          </a:xfrm>
          <a:prstGeom prst="roundRect">
            <a:avLst>
              <a:gd name="adj" fmla="val 6061"/>
            </a:avLst>
          </a:prstGeom>
          <a:solidFill>
            <a:srgbClr val="FFFFFF"/>
          </a:solidFill>
          <a:ln w="12700">
            <a:solidFill>
              <a:srgbClr val="D1D5DB"/>
            </a:solidFill>
            <a:prstDash val="solid"/>
          </a:ln>
        </p:spPr>
      </p:sp>
      <p:sp>
        <p:nvSpPr>
          <p:cNvPr id="10" name="Text 8"/>
          <p:cNvSpPr/>
          <p:nvPr/>
        </p:nvSpPr>
        <p:spPr>
          <a:xfrm>
            <a:off x="2148840" y="2148840"/>
            <a:ext cx="1508760" cy="457200"/>
          </a:xfrm>
          <a:prstGeom prst="rect">
            <a:avLst/>
          </a:prstGeom>
          <a:noFill/>
          <a:ln/>
        </p:spPr>
        <p:txBody>
          <a:bodyPr wrap="square" lIns="0" tIns="0" rIns="0" bIns="0" rtlCol="0" anchor="ctr"/>
          <a:lstStyle/>
          <a:p>
            <a:pPr algn="ctr" indent="0" marL="0">
              <a:buNone/>
            </a:pPr>
            <a:r>
              <a:rPr lang="en-US" sz="2200" b="1" dirty="0">
                <a:solidFill>
                  <a:srgbClr val="1E2761"/>
                </a:solidFill>
                <a:latin typeface="Cambria" pitchFamily="34" charset="0"/>
                <a:ea typeface="Cambria" pitchFamily="34" charset="-122"/>
                <a:cs typeface="Cambria" pitchFamily="34" charset="-120"/>
              </a:rPr>
              <a:t>2</a:t>
            </a:r>
            <a:endParaRPr lang="en-US" sz="2200" dirty="0"/>
          </a:p>
        </p:txBody>
      </p:sp>
      <p:sp>
        <p:nvSpPr>
          <p:cNvPr id="11" name="Text 9"/>
          <p:cNvSpPr/>
          <p:nvPr/>
        </p:nvSpPr>
        <p:spPr>
          <a:xfrm>
            <a:off x="2240280" y="2606040"/>
            <a:ext cx="1325880" cy="73152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Limpieza</a:t>
            </a:r>
            <a:endParaRPr lang="en-US" sz="1300" dirty="0"/>
          </a:p>
        </p:txBody>
      </p:sp>
      <p:sp>
        <p:nvSpPr>
          <p:cNvPr id="12" name="Text 10"/>
          <p:cNvSpPr/>
          <p:nvPr/>
        </p:nvSpPr>
        <p:spPr>
          <a:xfrm>
            <a:off x="2194560" y="3383280"/>
            <a:ext cx="1417320" cy="411480"/>
          </a:xfrm>
          <a:prstGeom prst="rect">
            <a:avLst/>
          </a:prstGeom>
          <a:noFill/>
          <a:ln/>
        </p:spPr>
        <p:txBody>
          <a:bodyPr wrap="square" lIns="0" tIns="0" rIns="0" bIns="0" rtlCol="0" anchor="ctr"/>
          <a:lstStyle/>
          <a:p>
            <a:pPr algn="ctr" indent="0" marL="0">
              <a:buNone/>
            </a:pPr>
            <a:r>
              <a:rPr lang="en-US" sz="900" i="1" dirty="0">
                <a:solidFill>
                  <a:srgbClr val="6B7280"/>
                </a:solidFill>
                <a:latin typeface="Courier New" pitchFamily="34" charset="0"/>
                <a:ea typeface="Courier New" pitchFamily="34" charset="-122"/>
                <a:cs typeface="Courier New" pitchFamily="34" charset="-120"/>
              </a:rPr>
              <a:t>dataset.csv</a:t>
            </a:r>
            <a:endParaRPr lang="en-US" sz="900" dirty="0"/>
          </a:p>
        </p:txBody>
      </p:sp>
      <p:sp>
        <p:nvSpPr>
          <p:cNvPr id="13" name="Shape 11"/>
          <p:cNvSpPr/>
          <p:nvPr/>
        </p:nvSpPr>
        <p:spPr>
          <a:xfrm rot="5400000">
            <a:off x="3662172" y="2788920"/>
            <a:ext cx="82296" cy="274320"/>
          </a:xfrm>
          <a:prstGeom prst="rtTriangle">
            <a:avLst/>
          </a:prstGeom>
          <a:solidFill>
            <a:srgbClr val="6B7280"/>
          </a:solidFill>
          <a:ln w="12700">
            <a:solidFill>
              <a:srgbClr val="6B7280"/>
            </a:solidFill>
            <a:prstDash val="solid"/>
          </a:ln>
        </p:spPr>
      </p:sp>
      <p:sp>
        <p:nvSpPr>
          <p:cNvPr id="14" name="Shape 12"/>
          <p:cNvSpPr/>
          <p:nvPr/>
        </p:nvSpPr>
        <p:spPr>
          <a:xfrm>
            <a:off x="3749040" y="2011680"/>
            <a:ext cx="1508760" cy="1828800"/>
          </a:xfrm>
          <a:prstGeom prst="roundRect">
            <a:avLst>
              <a:gd name="adj" fmla="val 6061"/>
            </a:avLst>
          </a:prstGeom>
          <a:solidFill>
            <a:srgbClr val="FFFFFF"/>
          </a:solidFill>
          <a:ln w="12700">
            <a:solidFill>
              <a:srgbClr val="D1D5DB"/>
            </a:solidFill>
            <a:prstDash val="solid"/>
          </a:ln>
        </p:spPr>
      </p:sp>
      <p:sp>
        <p:nvSpPr>
          <p:cNvPr id="15" name="Text 13"/>
          <p:cNvSpPr/>
          <p:nvPr/>
        </p:nvSpPr>
        <p:spPr>
          <a:xfrm>
            <a:off x="3749040" y="2148840"/>
            <a:ext cx="1508760" cy="457200"/>
          </a:xfrm>
          <a:prstGeom prst="rect">
            <a:avLst/>
          </a:prstGeom>
          <a:noFill/>
          <a:ln/>
        </p:spPr>
        <p:txBody>
          <a:bodyPr wrap="square" lIns="0" tIns="0" rIns="0" bIns="0" rtlCol="0" anchor="ctr"/>
          <a:lstStyle/>
          <a:p>
            <a:pPr algn="ctr" indent="0" marL="0">
              <a:buNone/>
            </a:pPr>
            <a:r>
              <a:rPr lang="en-US" sz="2200" b="1" dirty="0">
                <a:solidFill>
                  <a:srgbClr val="1E2761"/>
                </a:solidFill>
                <a:latin typeface="Cambria" pitchFamily="34" charset="0"/>
                <a:ea typeface="Cambria" pitchFamily="34" charset="-122"/>
                <a:cs typeface="Cambria" pitchFamily="34" charset="-120"/>
              </a:rPr>
              <a:t>3</a:t>
            </a:r>
            <a:endParaRPr lang="en-US" sz="2200" dirty="0"/>
          </a:p>
        </p:txBody>
      </p:sp>
      <p:sp>
        <p:nvSpPr>
          <p:cNvPr id="16" name="Text 14"/>
          <p:cNvSpPr/>
          <p:nvPr/>
        </p:nvSpPr>
        <p:spPr>
          <a:xfrm>
            <a:off x="3840480" y="2606040"/>
            <a:ext cx="1325880" cy="73152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Texto</a:t>
            </a:r>
            <a:endParaRPr lang="en-US" sz="1300" dirty="0"/>
          </a:p>
          <a:p>
            <a:pPr algn="ctr" indent="0" marL="0">
              <a:buNone/>
            </a:pPr>
            <a:r>
              <a:rPr lang="en-US" sz="1300" b="1" dirty="0">
                <a:solidFill>
                  <a:srgbClr val="1A1A2E"/>
                </a:solidFill>
                <a:latin typeface="Calibri" pitchFamily="34" charset="0"/>
                <a:ea typeface="Calibri" pitchFamily="34" charset="-122"/>
                <a:cs typeface="Calibri" pitchFamily="34" charset="-120"/>
              </a:rPr>
              <a:t>canonico</a:t>
            </a:r>
            <a:endParaRPr lang="en-US" sz="1300" dirty="0"/>
          </a:p>
        </p:txBody>
      </p:sp>
      <p:sp>
        <p:nvSpPr>
          <p:cNvPr id="17" name="Text 15"/>
          <p:cNvSpPr/>
          <p:nvPr/>
        </p:nvSpPr>
        <p:spPr>
          <a:xfrm>
            <a:off x="3794760" y="3383280"/>
            <a:ext cx="1417320" cy="411480"/>
          </a:xfrm>
          <a:prstGeom prst="rect">
            <a:avLst/>
          </a:prstGeom>
          <a:noFill/>
          <a:ln/>
        </p:spPr>
        <p:txBody>
          <a:bodyPr wrap="square" lIns="0" tIns="0" rIns="0" bIns="0" rtlCol="0" anchor="ctr"/>
          <a:lstStyle/>
          <a:p>
            <a:pPr algn="ctr" indent="0" marL="0">
              <a:buNone/>
            </a:pPr>
            <a:r>
              <a:rPr lang="en-US" sz="900" i="1" dirty="0">
                <a:solidFill>
                  <a:srgbClr val="6B7280"/>
                </a:solidFill>
                <a:latin typeface="Courier New" pitchFamily="34" charset="0"/>
                <a:ea typeface="Courier New" pitchFamily="34" charset="-122"/>
                <a:cs typeface="Courier New" pitchFamily="34" charset="-120"/>
              </a:rPr>
              <a:t>patient_text</a:t>
            </a:r>
            <a:endParaRPr lang="en-US" sz="900" dirty="0"/>
          </a:p>
        </p:txBody>
      </p:sp>
      <p:sp>
        <p:nvSpPr>
          <p:cNvPr id="18" name="Shape 16"/>
          <p:cNvSpPr/>
          <p:nvPr/>
        </p:nvSpPr>
        <p:spPr>
          <a:xfrm rot="5400000">
            <a:off x="5262372" y="2788920"/>
            <a:ext cx="82296" cy="274320"/>
          </a:xfrm>
          <a:prstGeom prst="rtTriangle">
            <a:avLst/>
          </a:prstGeom>
          <a:solidFill>
            <a:srgbClr val="6B7280"/>
          </a:solidFill>
          <a:ln w="12700">
            <a:solidFill>
              <a:srgbClr val="6B7280"/>
            </a:solidFill>
            <a:prstDash val="solid"/>
          </a:ln>
        </p:spPr>
      </p:sp>
      <p:sp>
        <p:nvSpPr>
          <p:cNvPr id="19" name="Shape 17"/>
          <p:cNvSpPr/>
          <p:nvPr/>
        </p:nvSpPr>
        <p:spPr>
          <a:xfrm>
            <a:off x="5349240" y="2011680"/>
            <a:ext cx="1508760" cy="1828800"/>
          </a:xfrm>
          <a:prstGeom prst="roundRect">
            <a:avLst>
              <a:gd name="adj" fmla="val 6061"/>
            </a:avLst>
          </a:prstGeom>
          <a:solidFill>
            <a:srgbClr val="FFFFFF"/>
          </a:solidFill>
          <a:ln w="12700">
            <a:solidFill>
              <a:srgbClr val="D1D5DB"/>
            </a:solidFill>
            <a:prstDash val="solid"/>
          </a:ln>
        </p:spPr>
      </p:sp>
      <p:sp>
        <p:nvSpPr>
          <p:cNvPr id="20" name="Text 18"/>
          <p:cNvSpPr/>
          <p:nvPr/>
        </p:nvSpPr>
        <p:spPr>
          <a:xfrm>
            <a:off x="5349240" y="2148840"/>
            <a:ext cx="1508760" cy="457200"/>
          </a:xfrm>
          <a:prstGeom prst="rect">
            <a:avLst/>
          </a:prstGeom>
          <a:noFill/>
          <a:ln/>
        </p:spPr>
        <p:txBody>
          <a:bodyPr wrap="square" lIns="0" tIns="0" rIns="0" bIns="0" rtlCol="0" anchor="ctr"/>
          <a:lstStyle/>
          <a:p>
            <a:pPr algn="ctr" indent="0" marL="0">
              <a:buNone/>
            </a:pPr>
            <a:r>
              <a:rPr lang="en-US" sz="2200" b="1" dirty="0">
                <a:solidFill>
                  <a:srgbClr val="1E2761"/>
                </a:solidFill>
                <a:latin typeface="Cambria" pitchFamily="34" charset="0"/>
                <a:ea typeface="Cambria" pitchFamily="34" charset="-122"/>
                <a:cs typeface="Cambria" pitchFamily="34" charset="-120"/>
              </a:rPr>
              <a:t>4</a:t>
            </a:r>
            <a:endParaRPr lang="en-US" sz="2200" dirty="0"/>
          </a:p>
        </p:txBody>
      </p:sp>
      <p:sp>
        <p:nvSpPr>
          <p:cNvPr id="21" name="Text 19"/>
          <p:cNvSpPr/>
          <p:nvPr/>
        </p:nvSpPr>
        <p:spPr>
          <a:xfrm>
            <a:off x="5440680" y="2606040"/>
            <a:ext cx="1325880" cy="73152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Representacion</a:t>
            </a:r>
            <a:endParaRPr lang="en-US" sz="1300" dirty="0"/>
          </a:p>
        </p:txBody>
      </p:sp>
      <p:sp>
        <p:nvSpPr>
          <p:cNvPr id="22" name="Text 20"/>
          <p:cNvSpPr/>
          <p:nvPr/>
        </p:nvSpPr>
        <p:spPr>
          <a:xfrm>
            <a:off x="5394960" y="3383280"/>
            <a:ext cx="1417320" cy="411480"/>
          </a:xfrm>
          <a:prstGeom prst="rect">
            <a:avLst/>
          </a:prstGeom>
          <a:noFill/>
          <a:ln/>
        </p:spPr>
        <p:txBody>
          <a:bodyPr wrap="square" lIns="0" tIns="0" rIns="0" bIns="0" rtlCol="0" anchor="ctr"/>
          <a:lstStyle/>
          <a:p>
            <a:pPr algn="ctr" indent="0" marL="0">
              <a:buNone/>
            </a:pPr>
            <a:r>
              <a:rPr lang="en-US" sz="900" i="1" dirty="0">
                <a:solidFill>
                  <a:srgbClr val="6B7280"/>
                </a:solidFill>
                <a:latin typeface="Courier New" pitchFamily="34" charset="0"/>
                <a:ea typeface="Courier New" pitchFamily="34" charset="-122"/>
                <a:cs typeface="Courier New" pitchFamily="34" charset="-120"/>
              </a:rPr>
              <a:t>TF-IDF / BioBERT</a:t>
            </a:r>
            <a:endParaRPr lang="en-US" sz="900" dirty="0"/>
          </a:p>
        </p:txBody>
      </p:sp>
      <p:sp>
        <p:nvSpPr>
          <p:cNvPr id="23" name="Shape 21"/>
          <p:cNvSpPr/>
          <p:nvPr/>
        </p:nvSpPr>
        <p:spPr>
          <a:xfrm rot="5400000">
            <a:off x="6862572" y="2788920"/>
            <a:ext cx="82296" cy="274320"/>
          </a:xfrm>
          <a:prstGeom prst="rtTriangle">
            <a:avLst/>
          </a:prstGeom>
          <a:solidFill>
            <a:srgbClr val="6B7280"/>
          </a:solidFill>
          <a:ln w="12700">
            <a:solidFill>
              <a:srgbClr val="6B7280"/>
            </a:solidFill>
            <a:prstDash val="solid"/>
          </a:ln>
        </p:spPr>
      </p:sp>
      <p:sp>
        <p:nvSpPr>
          <p:cNvPr id="24" name="Shape 22"/>
          <p:cNvSpPr/>
          <p:nvPr/>
        </p:nvSpPr>
        <p:spPr>
          <a:xfrm>
            <a:off x="6949440" y="2011680"/>
            <a:ext cx="1508760" cy="1828800"/>
          </a:xfrm>
          <a:prstGeom prst="roundRect">
            <a:avLst>
              <a:gd name="adj" fmla="val 6061"/>
            </a:avLst>
          </a:prstGeom>
          <a:solidFill>
            <a:srgbClr val="1E2761"/>
          </a:solidFill>
          <a:ln w="12700">
            <a:solidFill>
              <a:srgbClr val="1E2761"/>
            </a:solidFill>
            <a:prstDash val="solid"/>
          </a:ln>
        </p:spPr>
      </p:sp>
      <p:sp>
        <p:nvSpPr>
          <p:cNvPr id="25" name="Text 23"/>
          <p:cNvSpPr/>
          <p:nvPr/>
        </p:nvSpPr>
        <p:spPr>
          <a:xfrm>
            <a:off x="6949440" y="2148840"/>
            <a:ext cx="1508760" cy="457200"/>
          </a:xfrm>
          <a:prstGeom prst="rect">
            <a:avLst/>
          </a:prstGeom>
          <a:noFill/>
          <a:ln/>
        </p:spPr>
        <p:txBody>
          <a:bodyPr wrap="square" lIns="0" tIns="0" rIns="0" bIns="0" rtlCol="0" anchor="ctr"/>
          <a:lstStyle/>
          <a:p>
            <a:pPr algn="ctr" indent="0" marL="0">
              <a:buNone/>
            </a:pPr>
            <a:r>
              <a:rPr lang="en-US" sz="2200" b="1" dirty="0">
                <a:solidFill>
                  <a:srgbClr val="F76C5E"/>
                </a:solidFill>
                <a:latin typeface="Cambria" pitchFamily="34" charset="0"/>
                <a:ea typeface="Cambria" pitchFamily="34" charset="-122"/>
                <a:cs typeface="Cambria" pitchFamily="34" charset="-120"/>
              </a:rPr>
              <a:t>5</a:t>
            </a:r>
            <a:endParaRPr lang="en-US" sz="2200" dirty="0"/>
          </a:p>
        </p:txBody>
      </p:sp>
      <p:sp>
        <p:nvSpPr>
          <p:cNvPr id="26" name="Text 24"/>
          <p:cNvSpPr/>
          <p:nvPr/>
        </p:nvSpPr>
        <p:spPr>
          <a:xfrm>
            <a:off x="7040880" y="2606040"/>
            <a:ext cx="1325880" cy="7315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Modelo</a:t>
            </a:r>
            <a:endParaRPr lang="en-US" sz="1300" dirty="0"/>
          </a:p>
        </p:txBody>
      </p:sp>
      <p:sp>
        <p:nvSpPr>
          <p:cNvPr id="27" name="Text 25"/>
          <p:cNvSpPr/>
          <p:nvPr/>
        </p:nvSpPr>
        <p:spPr>
          <a:xfrm>
            <a:off x="6995160" y="3383280"/>
            <a:ext cx="1417320" cy="411480"/>
          </a:xfrm>
          <a:prstGeom prst="rect">
            <a:avLst/>
          </a:prstGeom>
          <a:noFill/>
          <a:ln/>
        </p:spPr>
        <p:txBody>
          <a:bodyPr wrap="square" lIns="0" tIns="0" rIns="0" bIns="0" rtlCol="0" anchor="ctr"/>
          <a:lstStyle/>
          <a:p>
            <a:pPr algn="ctr" indent="0" marL="0">
              <a:buNone/>
            </a:pPr>
            <a:r>
              <a:rPr lang="en-US" sz="900" i="1" dirty="0">
                <a:solidFill>
                  <a:srgbClr val="CADCFC"/>
                </a:solidFill>
                <a:latin typeface="Courier New" pitchFamily="34" charset="0"/>
                <a:ea typeface="Courier New" pitchFamily="34" charset="-122"/>
                <a:cs typeface="Courier New" pitchFamily="34" charset="-120"/>
              </a:rPr>
              <a:t>BioBERT fine-tune</a:t>
            </a:r>
            <a:endParaRPr lang="en-US" sz="900" dirty="0"/>
          </a:p>
        </p:txBody>
      </p:sp>
      <p:sp>
        <p:nvSpPr>
          <p:cNvPr id="28" name="Shape 26"/>
          <p:cNvSpPr/>
          <p:nvPr/>
        </p:nvSpPr>
        <p:spPr>
          <a:xfrm rot="5400000">
            <a:off x="8462772" y="2788920"/>
            <a:ext cx="82296" cy="274320"/>
          </a:xfrm>
          <a:prstGeom prst="rtTriangle">
            <a:avLst/>
          </a:prstGeom>
          <a:solidFill>
            <a:srgbClr val="6B7280"/>
          </a:solidFill>
          <a:ln w="12700">
            <a:solidFill>
              <a:srgbClr val="6B7280"/>
            </a:solidFill>
            <a:prstDash val="solid"/>
          </a:ln>
        </p:spPr>
      </p:sp>
      <p:sp>
        <p:nvSpPr>
          <p:cNvPr id="29" name="Shape 27"/>
          <p:cNvSpPr/>
          <p:nvPr/>
        </p:nvSpPr>
        <p:spPr>
          <a:xfrm>
            <a:off x="8549640" y="2011680"/>
            <a:ext cx="1508760" cy="1828800"/>
          </a:xfrm>
          <a:prstGeom prst="roundRect">
            <a:avLst>
              <a:gd name="adj" fmla="val 6061"/>
            </a:avLst>
          </a:prstGeom>
          <a:solidFill>
            <a:srgbClr val="FFFFFF"/>
          </a:solidFill>
          <a:ln w="12700">
            <a:solidFill>
              <a:srgbClr val="D1D5DB"/>
            </a:solidFill>
            <a:prstDash val="solid"/>
          </a:ln>
        </p:spPr>
      </p:sp>
      <p:sp>
        <p:nvSpPr>
          <p:cNvPr id="30" name="Text 28"/>
          <p:cNvSpPr/>
          <p:nvPr/>
        </p:nvSpPr>
        <p:spPr>
          <a:xfrm>
            <a:off x="8549640" y="2148840"/>
            <a:ext cx="1508760" cy="457200"/>
          </a:xfrm>
          <a:prstGeom prst="rect">
            <a:avLst/>
          </a:prstGeom>
          <a:noFill/>
          <a:ln/>
        </p:spPr>
        <p:txBody>
          <a:bodyPr wrap="square" lIns="0" tIns="0" rIns="0" bIns="0" rtlCol="0" anchor="ctr"/>
          <a:lstStyle/>
          <a:p>
            <a:pPr algn="ctr" indent="0" marL="0">
              <a:buNone/>
            </a:pPr>
            <a:r>
              <a:rPr lang="en-US" sz="2200" b="1" dirty="0">
                <a:solidFill>
                  <a:srgbClr val="1E2761"/>
                </a:solidFill>
                <a:latin typeface="Cambria" pitchFamily="34" charset="0"/>
                <a:ea typeface="Cambria" pitchFamily="34" charset="-122"/>
                <a:cs typeface="Cambria" pitchFamily="34" charset="-120"/>
              </a:rPr>
              <a:t>6</a:t>
            </a:r>
            <a:endParaRPr lang="en-US" sz="2200" dirty="0"/>
          </a:p>
        </p:txBody>
      </p:sp>
      <p:sp>
        <p:nvSpPr>
          <p:cNvPr id="31" name="Text 29"/>
          <p:cNvSpPr/>
          <p:nvPr/>
        </p:nvSpPr>
        <p:spPr>
          <a:xfrm>
            <a:off x="8641080" y="2606040"/>
            <a:ext cx="1325880" cy="73152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Umbral</a:t>
            </a:r>
            <a:endParaRPr lang="en-US" sz="1300" dirty="0"/>
          </a:p>
        </p:txBody>
      </p:sp>
      <p:sp>
        <p:nvSpPr>
          <p:cNvPr id="32" name="Text 30"/>
          <p:cNvSpPr/>
          <p:nvPr/>
        </p:nvSpPr>
        <p:spPr>
          <a:xfrm>
            <a:off x="8595360" y="3383280"/>
            <a:ext cx="1417320" cy="411480"/>
          </a:xfrm>
          <a:prstGeom prst="rect">
            <a:avLst/>
          </a:prstGeom>
          <a:noFill/>
          <a:ln/>
        </p:spPr>
        <p:txBody>
          <a:bodyPr wrap="square" lIns="0" tIns="0" rIns="0" bIns="0" rtlCol="0" anchor="ctr"/>
          <a:lstStyle/>
          <a:p>
            <a:pPr algn="ctr" indent="0" marL="0">
              <a:buNone/>
            </a:pPr>
            <a:r>
              <a:rPr lang="en-US" sz="900" i="1" dirty="0">
                <a:solidFill>
                  <a:srgbClr val="6B7280"/>
                </a:solidFill>
                <a:latin typeface="Courier New" pitchFamily="34" charset="0"/>
                <a:ea typeface="Courier New" pitchFamily="34" charset="-122"/>
                <a:cs typeface="Courier New" pitchFamily="34" charset="-120"/>
              </a:rPr>
              <a:t>thresholds.npy</a:t>
            </a:r>
            <a:endParaRPr lang="en-US" sz="900" dirty="0"/>
          </a:p>
        </p:txBody>
      </p:sp>
      <p:sp>
        <p:nvSpPr>
          <p:cNvPr id="33" name="Shape 31"/>
          <p:cNvSpPr/>
          <p:nvPr/>
        </p:nvSpPr>
        <p:spPr>
          <a:xfrm rot="5400000">
            <a:off x="10062972" y="2788920"/>
            <a:ext cx="82296" cy="274320"/>
          </a:xfrm>
          <a:prstGeom prst="rtTriangle">
            <a:avLst/>
          </a:prstGeom>
          <a:solidFill>
            <a:srgbClr val="6B7280"/>
          </a:solidFill>
          <a:ln w="12700">
            <a:solidFill>
              <a:srgbClr val="6B7280"/>
            </a:solidFill>
            <a:prstDash val="solid"/>
          </a:ln>
        </p:spPr>
      </p:sp>
      <p:sp>
        <p:nvSpPr>
          <p:cNvPr id="34" name="Shape 32"/>
          <p:cNvSpPr/>
          <p:nvPr/>
        </p:nvSpPr>
        <p:spPr>
          <a:xfrm>
            <a:off x="10149840" y="2011680"/>
            <a:ext cx="1508760" cy="1828800"/>
          </a:xfrm>
          <a:prstGeom prst="roundRect">
            <a:avLst>
              <a:gd name="adj" fmla="val 6061"/>
            </a:avLst>
          </a:prstGeom>
          <a:solidFill>
            <a:srgbClr val="FFFFFF"/>
          </a:solidFill>
          <a:ln w="12700">
            <a:solidFill>
              <a:srgbClr val="D1D5DB"/>
            </a:solidFill>
            <a:prstDash val="solid"/>
          </a:ln>
        </p:spPr>
      </p:sp>
      <p:sp>
        <p:nvSpPr>
          <p:cNvPr id="35" name="Text 33"/>
          <p:cNvSpPr/>
          <p:nvPr/>
        </p:nvSpPr>
        <p:spPr>
          <a:xfrm>
            <a:off x="10149840" y="2148840"/>
            <a:ext cx="1508760" cy="457200"/>
          </a:xfrm>
          <a:prstGeom prst="rect">
            <a:avLst/>
          </a:prstGeom>
          <a:noFill/>
          <a:ln/>
        </p:spPr>
        <p:txBody>
          <a:bodyPr wrap="square" lIns="0" tIns="0" rIns="0" bIns="0" rtlCol="0" anchor="ctr"/>
          <a:lstStyle/>
          <a:p>
            <a:pPr algn="ctr" indent="0" marL="0">
              <a:buNone/>
            </a:pPr>
            <a:r>
              <a:rPr lang="en-US" sz="2200" b="1" dirty="0">
                <a:solidFill>
                  <a:srgbClr val="1E2761"/>
                </a:solidFill>
                <a:latin typeface="Cambria" pitchFamily="34" charset="0"/>
                <a:ea typeface="Cambria" pitchFamily="34" charset="-122"/>
                <a:cs typeface="Cambria" pitchFamily="34" charset="-120"/>
              </a:rPr>
              <a:t>7</a:t>
            </a:r>
            <a:endParaRPr lang="en-US" sz="2200" dirty="0"/>
          </a:p>
        </p:txBody>
      </p:sp>
      <p:sp>
        <p:nvSpPr>
          <p:cNvPr id="36" name="Text 34"/>
          <p:cNvSpPr/>
          <p:nvPr/>
        </p:nvSpPr>
        <p:spPr>
          <a:xfrm>
            <a:off x="10241280" y="2606040"/>
            <a:ext cx="1325880" cy="73152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Prediccion</a:t>
            </a:r>
            <a:endParaRPr lang="en-US" sz="1300" dirty="0"/>
          </a:p>
        </p:txBody>
      </p:sp>
      <p:sp>
        <p:nvSpPr>
          <p:cNvPr id="37" name="Text 35"/>
          <p:cNvSpPr/>
          <p:nvPr/>
        </p:nvSpPr>
        <p:spPr>
          <a:xfrm>
            <a:off x="10195560" y="3383280"/>
            <a:ext cx="1417320" cy="411480"/>
          </a:xfrm>
          <a:prstGeom prst="rect">
            <a:avLst/>
          </a:prstGeom>
          <a:noFill/>
          <a:ln/>
        </p:spPr>
        <p:txBody>
          <a:bodyPr wrap="square" lIns="0" tIns="0" rIns="0" bIns="0" rtlCol="0" anchor="ctr"/>
          <a:lstStyle/>
          <a:p>
            <a:pPr algn="ctr" indent="0" marL="0">
              <a:buNone/>
            </a:pPr>
            <a:r>
              <a:rPr lang="en-US" sz="900" i="1" dirty="0">
                <a:solidFill>
                  <a:srgbClr val="6B7280"/>
                </a:solidFill>
                <a:latin typeface="Courier New" pitchFamily="34" charset="0"/>
                <a:ea typeface="Courier New" pitchFamily="34" charset="-122"/>
                <a:cs typeface="Courier New" pitchFamily="34" charset="-120"/>
              </a:rPr>
              <a:t>efectos adversos</a:t>
            </a:r>
            <a:endParaRPr lang="en-US" sz="900" dirty="0"/>
          </a:p>
        </p:txBody>
      </p:sp>
      <p:sp>
        <p:nvSpPr>
          <p:cNvPr id="38" name="Shape 36"/>
          <p:cNvSpPr/>
          <p:nvPr/>
        </p:nvSpPr>
        <p:spPr>
          <a:xfrm>
            <a:off x="548640" y="4480560"/>
            <a:ext cx="11064240" cy="1645920"/>
          </a:xfrm>
          <a:prstGeom prst="roundRect">
            <a:avLst>
              <a:gd name="adj" fmla="val 5556"/>
            </a:avLst>
          </a:prstGeom>
          <a:solidFill>
            <a:srgbClr val="FFFFFF"/>
          </a:solidFill>
          <a:ln w="12700">
            <a:solidFill>
              <a:srgbClr val="CADCFC"/>
            </a:solidFill>
            <a:prstDash val="solid"/>
          </a:ln>
        </p:spPr>
      </p:sp>
      <p:sp>
        <p:nvSpPr>
          <p:cNvPr id="39" name="Text 37"/>
          <p:cNvSpPr/>
          <p:nvPr/>
        </p:nvSpPr>
        <p:spPr>
          <a:xfrm>
            <a:off x="777240" y="4617720"/>
            <a:ext cx="10515600" cy="45720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El mismo dato cambia de forma en cada etapa</a:t>
            </a:r>
            <a:endParaRPr lang="en-US" sz="1600" dirty="0"/>
          </a:p>
        </p:txBody>
      </p:sp>
      <p:sp>
        <p:nvSpPr>
          <p:cNvPr id="40" name="Text 38"/>
          <p:cNvSpPr/>
          <p:nvPr/>
        </p:nvSpPr>
        <p:spPr>
          <a:xfrm>
            <a:off x="777240" y="5074920"/>
            <a:ext cx="10515600" cy="91440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Empieza como filas separadas en 4 archivos → se convierte en una fila tabular → en una oracion en ingles → en un vector de 768 numeros → en 97 probabilidades → en una lista final de efectos en español.</a:t>
            </a:r>
            <a:endParaRPr lang="en-US" sz="1300" dirty="0"/>
          </a:p>
        </p:txBody>
      </p:sp>
      <p:sp>
        <p:nvSpPr>
          <p:cNvPr id="41" name="Text 39"/>
          <p:cNvSpPr/>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rgbClr val="6B7280"/>
                </a:solidFill>
              </a:rPr>
              <a:t>MTAA · farmApp · Defensa final</a:t>
            </a:r>
            <a:endParaRPr lang="en-US" sz="900" dirty="0"/>
          </a:p>
        </p:txBody>
      </p:sp>
      <p:sp>
        <p:nvSpPr>
          <p:cNvPr id="42" name="Text 40"/>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rPr>
              <a:t>5 / 16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B"/>
        </a:solidFill>
      </p:bgPr>
    </p:bg>
    <p:spTree>
      <p:nvGrpSpPr>
        <p:cNvPr id="1" name=""/>
        <p:cNvGrpSpPr/>
        <p:nvPr/>
      </p:nvGrpSpPr>
      <p:grpSpPr>
        <a:xfrm>
          <a:off x="0" y="0"/>
          <a:ext cx="0" cy="0"/>
          <a:chOff x="0" y="0"/>
          <a:chExt cx="0" cy="0"/>
        </a:xfrm>
      </p:grpSpPr>
      <p:sp>
        <p:nvSpPr>
          <p:cNvPr id="2" name="Text 0"/>
          <p:cNvSpPr/>
          <p:nvPr/>
        </p:nvSpPr>
        <p:spPr>
          <a:xfrm>
            <a:off x="457200" y="320040"/>
            <a:ext cx="11247120" cy="365760"/>
          </a:xfrm>
          <a:prstGeom prst="rect">
            <a:avLst/>
          </a:prstGeom>
          <a:noFill/>
          <a:ln/>
        </p:spPr>
        <p:txBody>
          <a:bodyPr wrap="square" lIns="0" tIns="0" rIns="0" bIns="0" rtlCol="0" anchor="ctr"/>
          <a:lstStyle/>
          <a:p>
            <a:pPr indent="0" marL="0">
              <a:buNone/>
            </a:pPr>
            <a:r>
              <a:rPr lang="en-US" sz="1100" b="1" spc="400" kern="0" dirty="0">
                <a:solidFill>
                  <a:srgbClr val="6B7280"/>
                </a:solidFill>
                <a:latin typeface="Calibri" pitchFamily="34" charset="0"/>
                <a:ea typeface="Calibri" pitchFamily="34" charset="-122"/>
                <a:cs typeface="Calibri" pitchFamily="34" charset="-120"/>
              </a:rPr>
              <a:t>05  ·  PIPELINE — ETAPAS 1 A 3</a:t>
            </a:r>
            <a:endParaRPr lang="en-US" sz="1100" dirty="0"/>
          </a:p>
        </p:txBody>
      </p:sp>
      <p:sp>
        <p:nvSpPr>
          <p:cNvPr id="3" name="Text 1"/>
          <p:cNvSpPr/>
          <p:nvPr/>
        </p:nvSpPr>
        <p:spPr>
          <a:xfrm>
            <a:off x="457200" y="685800"/>
            <a:ext cx="11247120" cy="822960"/>
          </a:xfrm>
          <a:prstGeom prst="rect">
            <a:avLst/>
          </a:prstGeom>
          <a:noFill/>
          <a:ln/>
        </p:spPr>
        <p:txBody>
          <a:bodyPr wrap="square" lIns="0" tIns="0" rIns="0" bIns="0" rtlCol="0" anchor="ctr"/>
          <a:lstStyle/>
          <a:p>
            <a:pPr indent="0" marL="0">
              <a:buNone/>
            </a:pPr>
            <a:r>
              <a:rPr lang="en-US" sz="3600" b="1" dirty="0">
                <a:solidFill>
                  <a:srgbClr val="1A1A2E"/>
                </a:solidFill>
                <a:latin typeface="Cambria" pitchFamily="34" charset="0"/>
                <a:ea typeface="Cambria" pitchFamily="34" charset="-122"/>
                <a:cs typeface="Cambria" pitchFamily="34" charset="-120"/>
              </a:rPr>
              <a:t>Preparacion del dato</a:t>
            </a:r>
            <a:endParaRPr lang="en-US" sz="3600" dirty="0"/>
          </a:p>
        </p:txBody>
      </p:sp>
      <p:sp>
        <p:nvSpPr>
          <p:cNvPr id="4" name="Shape 2"/>
          <p:cNvSpPr/>
          <p:nvPr/>
        </p:nvSpPr>
        <p:spPr>
          <a:xfrm>
            <a:off x="548640" y="1920240"/>
            <a:ext cx="502920" cy="502920"/>
          </a:xfrm>
          <a:prstGeom prst="ellipse">
            <a:avLst/>
          </a:prstGeom>
          <a:solidFill>
            <a:srgbClr val="4361EE"/>
          </a:solidFill>
          <a:ln w="12700">
            <a:solidFill>
              <a:srgbClr val="4361EE"/>
            </a:solidFill>
            <a:prstDash val="solid"/>
          </a:ln>
        </p:spPr>
      </p:sp>
      <p:sp>
        <p:nvSpPr>
          <p:cNvPr id="5" name="Text 3"/>
          <p:cNvSpPr/>
          <p:nvPr/>
        </p:nvSpPr>
        <p:spPr>
          <a:xfrm>
            <a:off x="548640" y="19202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p:nvPr/>
        </p:nvSpPr>
        <p:spPr>
          <a:xfrm>
            <a:off x="1280160" y="1828800"/>
            <a:ext cx="10515600" cy="41148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preprocess.py</a:t>
            </a:r>
            <a:endParaRPr lang="en-US" sz="1800" dirty="0"/>
          </a:p>
        </p:txBody>
      </p:sp>
      <p:sp>
        <p:nvSpPr>
          <p:cNvPr id="7" name="Text 5"/>
          <p:cNvSpPr/>
          <p:nvPr/>
        </p:nvSpPr>
        <p:spPr>
          <a:xfrm>
            <a:off x="1280160" y="2286000"/>
            <a:ext cx="10515600" cy="86868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Une los 4 archivos FAERS por primaryid, normaliza edad y peso, descarta filas invalidas. Resultado: dataset.csv con una fila por caso clinico.</a:t>
            </a:r>
            <a:endParaRPr lang="en-US" sz="1300" dirty="0"/>
          </a:p>
        </p:txBody>
      </p:sp>
      <p:sp>
        <p:nvSpPr>
          <p:cNvPr id="8" name="Shape 6"/>
          <p:cNvSpPr/>
          <p:nvPr/>
        </p:nvSpPr>
        <p:spPr>
          <a:xfrm>
            <a:off x="548640" y="3337560"/>
            <a:ext cx="502920" cy="502920"/>
          </a:xfrm>
          <a:prstGeom prst="ellipse">
            <a:avLst/>
          </a:prstGeom>
          <a:solidFill>
            <a:srgbClr val="4361EE"/>
          </a:solidFill>
          <a:ln w="12700">
            <a:solidFill>
              <a:srgbClr val="4361EE"/>
            </a:solidFill>
            <a:prstDash val="solid"/>
          </a:ln>
        </p:spPr>
      </p:sp>
      <p:sp>
        <p:nvSpPr>
          <p:cNvPr id="9" name="Text 7"/>
          <p:cNvSpPr/>
          <p:nvPr/>
        </p:nvSpPr>
        <p:spPr>
          <a:xfrm>
            <a:off x="548640" y="33375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p:nvPr/>
        </p:nvSpPr>
        <p:spPr>
          <a:xfrm>
            <a:off x="1280160" y="3246120"/>
            <a:ext cx="10515600" cy="41148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prepare_features.py</a:t>
            </a:r>
            <a:endParaRPr lang="en-US" sz="1800" dirty="0"/>
          </a:p>
        </p:txBody>
      </p:sp>
      <p:sp>
        <p:nvSpPr>
          <p:cNvPr id="11" name="Text 9"/>
          <p:cNvSpPr/>
          <p:nvPr/>
        </p:nvSpPr>
        <p:spPr>
          <a:xfrm>
            <a:off x="1280160" y="3703320"/>
            <a:ext cx="10515600" cy="86868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Hace el split 70/30 PRIMERO, y despues ajusta TF-IDF y la mediana de edad SOLO sobre train. Asi no hay data leakage del test al modelo.</a:t>
            </a:r>
            <a:endParaRPr lang="en-US" sz="1300" dirty="0"/>
          </a:p>
        </p:txBody>
      </p:sp>
      <p:sp>
        <p:nvSpPr>
          <p:cNvPr id="12" name="Shape 10"/>
          <p:cNvSpPr/>
          <p:nvPr/>
        </p:nvSpPr>
        <p:spPr>
          <a:xfrm>
            <a:off x="548640" y="4754880"/>
            <a:ext cx="502920" cy="502920"/>
          </a:xfrm>
          <a:prstGeom prst="ellipse">
            <a:avLst/>
          </a:prstGeom>
          <a:solidFill>
            <a:srgbClr val="4361EE"/>
          </a:solidFill>
          <a:ln w="12700">
            <a:solidFill>
              <a:srgbClr val="4361EE"/>
            </a:solidFill>
            <a:prstDash val="solid"/>
          </a:ln>
        </p:spPr>
      </p:sp>
      <p:sp>
        <p:nvSpPr>
          <p:cNvPr id="13" name="Text 11"/>
          <p:cNvSpPr/>
          <p:nvPr/>
        </p:nvSpPr>
        <p:spPr>
          <a:xfrm>
            <a:off x="548640" y="47548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4" name="Text 12"/>
          <p:cNvSpPr/>
          <p:nvPr/>
        </p:nvSpPr>
        <p:spPr>
          <a:xfrm>
            <a:off x="1280160" y="4663440"/>
            <a:ext cx="10515600" cy="41148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patient_text.row_to_text</a:t>
            </a:r>
            <a:endParaRPr lang="en-US" sz="1800" dirty="0"/>
          </a:p>
        </p:txBody>
      </p:sp>
      <p:sp>
        <p:nvSpPr>
          <p:cNvPr id="15" name="Text 13"/>
          <p:cNvSpPr/>
          <p:nvPr/>
        </p:nvSpPr>
        <p:spPr>
          <a:xfrm>
            <a:off x="1280160" y="5120640"/>
            <a:ext cx="10515600" cy="86868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Construye una oracion canonica fija: 'Patient: 67 years old female, weight 72.5 kg. Drug: ASPIRIN. Indication: DIABETES.' Misma funcion en entrenamiento y prediccion.</a:t>
            </a:r>
            <a:endParaRPr lang="en-US" sz="1300" dirty="0"/>
          </a:p>
        </p:txBody>
      </p:sp>
      <p:sp>
        <p:nvSpPr>
          <p:cNvPr id="16" name="Shape 14"/>
          <p:cNvSpPr/>
          <p:nvPr/>
        </p:nvSpPr>
        <p:spPr>
          <a:xfrm>
            <a:off x="548640" y="5989320"/>
            <a:ext cx="11064240" cy="411480"/>
          </a:xfrm>
          <a:prstGeom prst="roundRect">
            <a:avLst>
              <a:gd name="adj" fmla="val 15556"/>
            </a:avLst>
          </a:prstGeom>
          <a:solidFill>
            <a:srgbClr val="1E2761"/>
          </a:solidFill>
          <a:ln w="12700">
            <a:solidFill>
              <a:srgbClr val="1E2761"/>
            </a:solidFill>
            <a:prstDash val="solid"/>
          </a:ln>
        </p:spPr>
      </p:sp>
      <p:sp>
        <p:nvSpPr>
          <p:cNvPr id="17" name="Text 15"/>
          <p:cNvSpPr/>
          <p:nvPr/>
        </p:nvSpPr>
        <p:spPr>
          <a:xfrm>
            <a:off x="777240" y="6035040"/>
            <a:ext cx="1069848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Concepto de Unidad 3: validacion train/test antes de cualquier transformacion para evitar data leakage.</a:t>
            </a:r>
            <a:endParaRPr lang="en-US" sz="1200" dirty="0"/>
          </a:p>
        </p:txBody>
      </p:sp>
      <p:sp>
        <p:nvSpPr>
          <p:cNvPr id="18" name="Text 16"/>
          <p:cNvSpPr/>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rgbClr val="6B7280"/>
                </a:solidFill>
              </a:rPr>
              <a:t>MTAA · farmApp · Defensa final</a:t>
            </a:r>
            <a:endParaRPr lang="en-US" sz="900" dirty="0"/>
          </a:p>
        </p:txBody>
      </p:sp>
      <p:sp>
        <p:nvSpPr>
          <p:cNvPr id="19" name="Text 17"/>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rPr>
              <a:t>6 / 16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B"/>
        </a:solidFill>
      </p:bgPr>
    </p:bg>
    <p:spTree>
      <p:nvGrpSpPr>
        <p:cNvPr id="1" name=""/>
        <p:cNvGrpSpPr/>
        <p:nvPr/>
      </p:nvGrpSpPr>
      <p:grpSpPr>
        <a:xfrm>
          <a:off x="0" y="0"/>
          <a:ext cx="0" cy="0"/>
          <a:chOff x="0" y="0"/>
          <a:chExt cx="0" cy="0"/>
        </a:xfrm>
      </p:grpSpPr>
      <p:sp>
        <p:nvSpPr>
          <p:cNvPr id="2" name="Text 0"/>
          <p:cNvSpPr/>
          <p:nvPr/>
        </p:nvSpPr>
        <p:spPr>
          <a:xfrm>
            <a:off x="457200" y="320040"/>
            <a:ext cx="11247120" cy="365760"/>
          </a:xfrm>
          <a:prstGeom prst="rect">
            <a:avLst/>
          </a:prstGeom>
          <a:noFill/>
          <a:ln/>
        </p:spPr>
        <p:txBody>
          <a:bodyPr wrap="square" lIns="0" tIns="0" rIns="0" bIns="0" rtlCol="0" anchor="ctr"/>
          <a:lstStyle/>
          <a:p>
            <a:pPr indent="0" marL="0">
              <a:buNone/>
            </a:pPr>
            <a:r>
              <a:rPr lang="en-US" sz="1100" b="1" spc="400" kern="0" dirty="0">
                <a:solidFill>
                  <a:srgbClr val="6B7280"/>
                </a:solidFill>
                <a:latin typeface="Calibri" pitchFamily="34" charset="0"/>
                <a:ea typeface="Calibri" pitchFamily="34" charset="-122"/>
                <a:cs typeface="Calibri" pitchFamily="34" charset="-120"/>
              </a:rPr>
              <a:t>06  ·  PIPELINE — ETAPA 4</a:t>
            </a:r>
            <a:endParaRPr lang="en-US" sz="1100" dirty="0"/>
          </a:p>
        </p:txBody>
      </p:sp>
      <p:sp>
        <p:nvSpPr>
          <p:cNvPr id="3" name="Text 1"/>
          <p:cNvSpPr/>
          <p:nvPr/>
        </p:nvSpPr>
        <p:spPr>
          <a:xfrm>
            <a:off x="457200" y="685800"/>
            <a:ext cx="11247120" cy="822960"/>
          </a:xfrm>
          <a:prstGeom prst="rect">
            <a:avLst/>
          </a:prstGeom>
          <a:noFill/>
          <a:ln/>
        </p:spPr>
        <p:txBody>
          <a:bodyPr wrap="square" lIns="0" tIns="0" rIns="0" bIns="0" rtlCol="0" anchor="ctr"/>
          <a:lstStyle/>
          <a:p>
            <a:pPr indent="0" marL="0">
              <a:buNone/>
            </a:pPr>
            <a:r>
              <a:rPr lang="en-US" sz="3600" b="1" dirty="0">
                <a:solidFill>
                  <a:srgbClr val="1A1A2E"/>
                </a:solidFill>
                <a:latin typeface="Cambria" pitchFamily="34" charset="0"/>
                <a:ea typeface="Cambria" pitchFamily="34" charset="-122"/>
                <a:cs typeface="Cambria" pitchFamily="34" charset="-120"/>
              </a:rPr>
              <a:t>Representacion vectorial del texto</a:t>
            </a:r>
            <a:endParaRPr lang="en-US" sz="3600" dirty="0"/>
          </a:p>
        </p:txBody>
      </p:sp>
      <p:sp>
        <p:nvSpPr>
          <p:cNvPr id="4" name="Shape 2"/>
          <p:cNvSpPr/>
          <p:nvPr/>
        </p:nvSpPr>
        <p:spPr>
          <a:xfrm>
            <a:off x="548640" y="1783080"/>
            <a:ext cx="5486400" cy="4572000"/>
          </a:xfrm>
          <a:prstGeom prst="roundRect">
            <a:avLst>
              <a:gd name="adj" fmla="val 3000"/>
            </a:avLst>
          </a:prstGeom>
          <a:solidFill>
            <a:srgbClr val="FFFFFF"/>
          </a:solidFill>
          <a:ln w="25400">
            <a:solidFill>
              <a:srgbClr val="4361EE"/>
            </a:solidFill>
            <a:prstDash val="solid"/>
          </a:ln>
        </p:spPr>
      </p:sp>
      <p:sp>
        <p:nvSpPr>
          <p:cNvPr id="5" name="Text 3"/>
          <p:cNvSpPr/>
          <p:nvPr/>
        </p:nvSpPr>
        <p:spPr>
          <a:xfrm>
            <a:off x="777240" y="1920240"/>
            <a:ext cx="5029200" cy="457200"/>
          </a:xfrm>
          <a:prstGeom prst="rect">
            <a:avLst/>
          </a:prstGeom>
          <a:noFill/>
          <a:ln/>
        </p:spPr>
        <p:txBody>
          <a:bodyPr wrap="square" lIns="0" tIns="0" rIns="0" bIns="0" rtlCol="0" anchor="ctr"/>
          <a:lstStyle/>
          <a:p>
            <a:pPr indent="0" marL="0">
              <a:buNone/>
            </a:pPr>
            <a:r>
              <a:rPr lang="en-US" sz="2200" b="1" dirty="0">
                <a:solidFill>
                  <a:srgbClr val="4361EE"/>
                </a:solidFill>
                <a:latin typeface="Cambria" pitchFamily="34" charset="0"/>
                <a:ea typeface="Cambria" pitchFamily="34" charset="-122"/>
                <a:cs typeface="Cambria" pitchFamily="34" charset="-120"/>
              </a:rPr>
              <a:t>TF-IDF</a:t>
            </a:r>
            <a:endParaRPr lang="en-US" sz="2200" dirty="0"/>
          </a:p>
        </p:txBody>
      </p:sp>
      <p:sp>
        <p:nvSpPr>
          <p:cNvPr id="6" name="Text 4"/>
          <p:cNvSpPr/>
          <p:nvPr/>
        </p:nvSpPr>
        <p:spPr>
          <a:xfrm>
            <a:off x="777240" y="2377440"/>
            <a:ext cx="5029200" cy="274320"/>
          </a:xfrm>
          <a:prstGeom prst="rect">
            <a:avLst/>
          </a:prstGeom>
          <a:noFill/>
          <a:ln/>
        </p:spPr>
        <p:txBody>
          <a:bodyPr wrap="square" lIns="0" tIns="0" rIns="0" bIns="0" rtlCol="0" anchor="ctr"/>
          <a:lstStyle/>
          <a:p>
            <a:pPr indent="0" marL="0">
              <a:buNone/>
            </a:pPr>
            <a:r>
              <a:rPr lang="en-US" sz="1100" i="1" dirty="0">
                <a:solidFill>
                  <a:srgbClr val="6B7280"/>
                </a:solidFill>
              </a:rPr>
              <a:t>Bolsa de palabras ponderada — Unidad 2</a:t>
            </a:r>
            <a:endParaRPr lang="en-US" sz="1100" dirty="0"/>
          </a:p>
        </p:txBody>
      </p:sp>
      <p:sp>
        <p:nvSpPr>
          <p:cNvPr id="7" name="Text 5"/>
          <p:cNvSpPr/>
          <p:nvPr/>
        </p:nvSpPr>
        <p:spPr>
          <a:xfrm>
            <a:off x="777240" y="2834640"/>
            <a:ext cx="5029200" cy="2286000"/>
          </a:xfrm>
          <a:prstGeom prst="rect">
            <a:avLst/>
          </a:prstGeom>
          <a:noFill/>
          <a:ln/>
        </p:spPr>
        <p:txBody>
          <a:bodyPr wrap="square" rtlCol="0" anchor="ctr"/>
          <a:lstStyle/>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Cuenta frecuencia de palabras, penaliza las muy comunes</a:t>
            </a:r>
            <a:endParaRPr lang="en-US" sz="1300" dirty="0"/>
          </a:p>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Vector disperso de ~100 features</a:t>
            </a:r>
            <a:endParaRPr lang="en-US" sz="1300" dirty="0"/>
          </a:p>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Rapido, interpretable</a:t>
            </a:r>
            <a:endParaRPr lang="en-US" sz="1300" dirty="0"/>
          </a:p>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NO entiende sinonimos: 'headache' ≠ 'cephalalgia'</a:t>
            </a:r>
            <a:endParaRPr lang="en-US" sz="1300" dirty="0"/>
          </a:p>
        </p:txBody>
      </p:sp>
      <p:sp>
        <p:nvSpPr>
          <p:cNvPr id="8" name="Text 6"/>
          <p:cNvSpPr/>
          <p:nvPr/>
        </p:nvSpPr>
        <p:spPr>
          <a:xfrm>
            <a:off x="777240" y="5760720"/>
            <a:ext cx="5029200" cy="365760"/>
          </a:xfrm>
          <a:prstGeom prst="rect">
            <a:avLst/>
          </a:prstGeom>
          <a:noFill/>
          <a:ln/>
        </p:spPr>
        <p:txBody>
          <a:bodyPr wrap="square" lIns="0" tIns="0" rIns="0" bIns="0" rtlCol="0" anchor="ctr"/>
          <a:lstStyle/>
          <a:p>
            <a:pPr indent="0" marL="0">
              <a:buNone/>
            </a:pPr>
            <a:r>
              <a:rPr lang="en-US" sz="1100" b="1" i="1" dirty="0">
                <a:solidFill>
                  <a:srgbClr val="4361EE"/>
                </a:solidFill>
              </a:rPr>
              <a:t>Usado por: Naive Bayes, Random Forest baseline</a:t>
            </a:r>
            <a:endParaRPr lang="en-US" sz="1100" dirty="0"/>
          </a:p>
        </p:txBody>
      </p:sp>
      <p:sp>
        <p:nvSpPr>
          <p:cNvPr id="9" name="Shape 7"/>
          <p:cNvSpPr/>
          <p:nvPr/>
        </p:nvSpPr>
        <p:spPr>
          <a:xfrm>
            <a:off x="6355080" y="1783080"/>
            <a:ext cx="5486400" cy="4572000"/>
          </a:xfrm>
          <a:prstGeom prst="roundRect">
            <a:avLst>
              <a:gd name="adj" fmla="val 3000"/>
            </a:avLst>
          </a:prstGeom>
          <a:solidFill>
            <a:srgbClr val="FFFFFF"/>
          </a:solidFill>
          <a:ln w="25400">
            <a:solidFill>
              <a:srgbClr val="F76C5E"/>
            </a:solidFill>
            <a:prstDash val="solid"/>
          </a:ln>
        </p:spPr>
      </p:sp>
      <p:sp>
        <p:nvSpPr>
          <p:cNvPr id="10" name="Text 8"/>
          <p:cNvSpPr/>
          <p:nvPr/>
        </p:nvSpPr>
        <p:spPr>
          <a:xfrm>
            <a:off x="6583680" y="1920240"/>
            <a:ext cx="5029200" cy="457200"/>
          </a:xfrm>
          <a:prstGeom prst="rect">
            <a:avLst/>
          </a:prstGeom>
          <a:noFill/>
          <a:ln/>
        </p:spPr>
        <p:txBody>
          <a:bodyPr wrap="square" lIns="0" tIns="0" rIns="0" bIns="0" rtlCol="0" anchor="ctr"/>
          <a:lstStyle/>
          <a:p>
            <a:pPr indent="0" marL="0">
              <a:buNone/>
            </a:pPr>
            <a:r>
              <a:rPr lang="en-US" sz="2200" b="1" dirty="0">
                <a:solidFill>
                  <a:srgbClr val="F76C5E"/>
                </a:solidFill>
                <a:latin typeface="Cambria" pitchFamily="34" charset="0"/>
                <a:ea typeface="Cambria" pitchFamily="34" charset="-122"/>
                <a:cs typeface="Cambria" pitchFamily="34" charset="-120"/>
              </a:rPr>
              <a:t>BioBERT embeddings</a:t>
            </a:r>
            <a:endParaRPr lang="en-US" sz="2200" dirty="0"/>
          </a:p>
        </p:txBody>
      </p:sp>
      <p:sp>
        <p:nvSpPr>
          <p:cNvPr id="11" name="Text 9"/>
          <p:cNvSpPr/>
          <p:nvPr/>
        </p:nvSpPr>
        <p:spPr>
          <a:xfrm>
            <a:off x="6583680" y="2377440"/>
            <a:ext cx="5029200" cy="274320"/>
          </a:xfrm>
          <a:prstGeom prst="rect">
            <a:avLst/>
          </a:prstGeom>
          <a:noFill/>
          <a:ln/>
        </p:spPr>
        <p:txBody>
          <a:bodyPr wrap="square" lIns="0" tIns="0" rIns="0" bIns="0" rtlCol="0" anchor="ctr"/>
          <a:lstStyle/>
          <a:p>
            <a:pPr indent="0" marL="0">
              <a:buNone/>
            </a:pPr>
            <a:r>
              <a:rPr lang="en-US" sz="1100" i="1" dirty="0">
                <a:solidFill>
                  <a:srgbClr val="6B7280"/>
                </a:solidFill>
              </a:rPr>
              <a:t>Representacion vectorial densa — Unidad 5 (II)</a:t>
            </a:r>
            <a:endParaRPr lang="en-US" sz="1100" dirty="0"/>
          </a:p>
        </p:txBody>
      </p:sp>
      <p:sp>
        <p:nvSpPr>
          <p:cNvPr id="12" name="Text 10"/>
          <p:cNvSpPr/>
          <p:nvPr/>
        </p:nvSpPr>
        <p:spPr>
          <a:xfrm>
            <a:off x="6583680" y="2834640"/>
            <a:ext cx="5029200" cy="2286000"/>
          </a:xfrm>
          <a:prstGeom prst="rect">
            <a:avLst/>
          </a:prstGeom>
          <a:noFill/>
          <a:ln/>
        </p:spPr>
        <p:txBody>
          <a:bodyPr wrap="square" rtlCol="0" anchor="ctr"/>
          <a:lstStyle/>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BERT pre-entrenado sobre literatura biomedica (PubMed)</a:t>
            </a:r>
            <a:endParaRPr lang="en-US" sz="1300" dirty="0"/>
          </a:p>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Vector denso de 768 dimensiones por caso</a:t>
            </a:r>
            <a:endParaRPr lang="en-US" sz="1300" dirty="0"/>
          </a:p>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Captura significado: 'headache' ≈ 'cephalalgia'</a:t>
            </a:r>
            <a:endParaRPr lang="en-US" sz="1300" dirty="0"/>
          </a:p>
          <a:p>
            <a:pPr marL="342900" indent="-342900">
              <a:spcAft>
                <a:spcPts val="600"/>
              </a:spcAft>
              <a:buSzPct val="100000"/>
              <a:buChar char="•"/>
            </a:pPr>
            <a:r>
              <a:rPr lang="en-US" sz="1300" dirty="0">
                <a:solidFill>
                  <a:srgbClr val="1A1A2E"/>
                </a:solidFill>
                <a:latin typeface="Calibri" pitchFamily="34" charset="0"/>
                <a:ea typeface="Calibri" pitchFamily="34" charset="-122"/>
                <a:cs typeface="Calibri" pitchFamily="34" charset="-120"/>
              </a:rPr>
              <a:t>Mean pooling enmascarado sobre los tokens</a:t>
            </a:r>
            <a:endParaRPr lang="en-US" sz="1300" dirty="0"/>
          </a:p>
        </p:txBody>
      </p:sp>
      <p:sp>
        <p:nvSpPr>
          <p:cNvPr id="13" name="Text 11"/>
          <p:cNvSpPr/>
          <p:nvPr/>
        </p:nvSpPr>
        <p:spPr>
          <a:xfrm>
            <a:off x="6583680" y="5760720"/>
            <a:ext cx="5029200" cy="365760"/>
          </a:xfrm>
          <a:prstGeom prst="rect">
            <a:avLst/>
          </a:prstGeom>
          <a:noFill/>
          <a:ln/>
        </p:spPr>
        <p:txBody>
          <a:bodyPr wrap="square" lIns="0" tIns="0" rIns="0" bIns="0" rtlCol="0" anchor="ctr"/>
          <a:lstStyle/>
          <a:p>
            <a:pPr indent="0" marL="0">
              <a:buNone/>
            </a:pPr>
            <a:r>
              <a:rPr lang="en-US" sz="1100" b="1" i="1" dirty="0">
                <a:solidFill>
                  <a:srgbClr val="F76C5E"/>
                </a:solidFill>
              </a:rPr>
              <a:t>Usado por: RF + embeddings, BioBERT fine-tuned</a:t>
            </a:r>
            <a:endParaRPr lang="en-US" sz="1100" dirty="0"/>
          </a:p>
        </p:txBody>
      </p:sp>
      <p:sp>
        <p:nvSpPr>
          <p:cNvPr id="14" name="Text 12"/>
          <p:cNvSpPr/>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rgbClr val="6B7280"/>
                </a:solidFill>
              </a:rPr>
              <a:t>MTAA · farmApp · Defensa final</a:t>
            </a:r>
            <a:endParaRPr lang="en-US" sz="900" dirty="0"/>
          </a:p>
        </p:txBody>
      </p:sp>
      <p:sp>
        <p:nvSpPr>
          <p:cNvPr id="15" name="Text 13"/>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rPr>
              <a:t>7 / 16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B"/>
        </a:solidFill>
      </p:bgPr>
    </p:bg>
    <p:spTree>
      <p:nvGrpSpPr>
        <p:cNvPr id="1" name=""/>
        <p:cNvGrpSpPr/>
        <p:nvPr/>
      </p:nvGrpSpPr>
      <p:grpSpPr>
        <a:xfrm>
          <a:off x="0" y="0"/>
          <a:ext cx="0" cy="0"/>
          <a:chOff x="0" y="0"/>
          <a:chExt cx="0" cy="0"/>
        </a:xfrm>
      </p:grpSpPr>
      <p:sp>
        <p:nvSpPr>
          <p:cNvPr id="2" name="Text 0"/>
          <p:cNvSpPr/>
          <p:nvPr/>
        </p:nvSpPr>
        <p:spPr>
          <a:xfrm>
            <a:off x="457200" y="320040"/>
            <a:ext cx="11247120" cy="365760"/>
          </a:xfrm>
          <a:prstGeom prst="rect">
            <a:avLst/>
          </a:prstGeom>
          <a:noFill/>
          <a:ln/>
        </p:spPr>
        <p:txBody>
          <a:bodyPr wrap="square" lIns="0" tIns="0" rIns="0" bIns="0" rtlCol="0" anchor="ctr"/>
          <a:lstStyle/>
          <a:p>
            <a:pPr indent="0" marL="0">
              <a:buNone/>
            </a:pPr>
            <a:r>
              <a:rPr lang="en-US" sz="1100" b="1" spc="400" kern="0" dirty="0">
                <a:solidFill>
                  <a:srgbClr val="6B7280"/>
                </a:solidFill>
                <a:latin typeface="Calibri" pitchFamily="34" charset="0"/>
                <a:ea typeface="Calibri" pitchFamily="34" charset="-122"/>
                <a:cs typeface="Calibri" pitchFamily="34" charset="-120"/>
              </a:rPr>
              <a:t>07  ·  MODELOS</a:t>
            </a:r>
            <a:endParaRPr lang="en-US" sz="1100" dirty="0"/>
          </a:p>
        </p:txBody>
      </p:sp>
      <p:sp>
        <p:nvSpPr>
          <p:cNvPr id="3" name="Text 1"/>
          <p:cNvSpPr/>
          <p:nvPr/>
        </p:nvSpPr>
        <p:spPr>
          <a:xfrm>
            <a:off x="457200" y="685800"/>
            <a:ext cx="11247120" cy="822960"/>
          </a:xfrm>
          <a:prstGeom prst="rect">
            <a:avLst/>
          </a:prstGeom>
          <a:noFill/>
          <a:ln/>
        </p:spPr>
        <p:txBody>
          <a:bodyPr wrap="square" lIns="0" tIns="0" rIns="0" bIns="0" rtlCol="0" anchor="ctr"/>
          <a:lstStyle/>
          <a:p>
            <a:pPr indent="0" marL="0">
              <a:buNone/>
            </a:pPr>
            <a:r>
              <a:rPr lang="en-US" sz="3600" b="1" dirty="0">
                <a:solidFill>
                  <a:srgbClr val="1A1A2E"/>
                </a:solidFill>
                <a:latin typeface="Cambria" pitchFamily="34" charset="0"/>
                <a:ea typeface="Cambria" pitchFamily="34" charset="-122"/>
                <a:cs typeface="Cambria" pitchFamily="34" charset="-120"/>
              </a:rPr>
              <a:t>Los cuatro modelos que entrenamos</a:t>
            </a:r>
            <a:endParaRPr lang="en-US" sz="3600" dirty="0"/>
          </a:p>
        </p:txBody>
      </p:sp>
      <p:sp>
        <p:nvSpPr>
          <p:cNvPr id="4" name="Text 2"/>
          <p:cNvSpPr/>
          <p:nvPr/>
        </p:nvSpPr>
        <p:spPr>
          <a:xfrm>
            <a:off x="548640" y="1691640"/>
            <a:ext cx="11155680" cy="73152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Antes de fine-tunear BioBERT (caro y lento) entrenamos 3 baselines. Cada uno cubre una Unidad distinta de la materia y permite aislar que parte aporta cada decision.</a:t>
            </a:r>
            <a:endParaRPr lang="en-US" sz="1400" dirty="0"/>
          </a:p>
        </p:txBody>
      </p:sp>
      <p:sp>
        <p:nvSpPr>
          <p:cNvPr id="5" name="Shape 3"/>
          <p:cNvSpPr/>
          <p:nvPr/>
        </p:nvSpPr>
        <p:spPr>
          <a:xfrm>
            <a:off x="548640" y="2606040"/>
            <a:ext cx="3657600" cy="502920"/>
          </a:xfrm>
          <a:prstGeom prst="rect">
            <a:avLst/>
          </a:prstGeom>
          <a:solidFill>
            <a:srgbClr val="1E2761"/>
          </a:solidFill>
          <a:ln w="6350">
            <a:solidFill>
              <a:srgbClr val="E5E7EB"/>
            </a:solidFill>
            <a:prstDash val="solid"/>
          </a:ln>
        </p:spPr>
      </p:sp>
      <p:sp>
        <p:nvSpPr>
          <p:cNvPr id="6" name="Text 4"/>
          <p:cNvSpPr/>
          <p:nvPr/>
        </p:nvSpPr>
        <p:spPr>
          <a:xfrm>
            <a:off x="640080" y="2606040"/>
            <a:ext cx="3474720" cy="5029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Modelo</a:t>
            </a:r>
            <a:endParaRPr lang="en-US" sz="1300" dirty="0"/>
          </a:p>
        </p:txBody>
      </p:sp>
      <p:sp>
        <p:nvSpPr>
          <p:cNvPr id="7" name="Shape 5"/>
          <p:cNvSpPr/>
          <p:nvPr/>
        </p:nvSpPr>
        <p:spPr>
          <a:xfrm>
            <a:off x="4206240" y="2606040"/>
            <a:ext cx="2560320" cy="502920"/>
          </a:xfrm>
          <a:prstGeom prst="rect">
            <a:avLst/>
          </a:prstGeom>
          <a:solidFill>
            <a:srgbClr val="1E2761"/>
          </a:solidFill>
          <a:ln w="6350">
            <a:solidFill>
              <a:srgbClr val="E5E7EB"/>
            </a:solidFill>
            <a:prstDash val="solid"/>
          </a:ln>
        </p:spPr>
      </p:sp>
      <p:sp>
        <p:nvSpPr>
          <p:cNvPr id="8" name="Text 6"/>
          <p:cNvSpPr/>
          <p:nvPr/>
        </p:nvSpPr>
        <p:spPr>
          <a:xfrm>
            <a:off x="4297680" y="2606040"/>
            <a:ext cx="237744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Representacion</a:t>
            </a:r>
            <a:endParaRPr lang="en-US" sz="1300" dirty="0"/>
          </a:p>
        </p:txBody>
      </p:sp>
      <p:sp>
        <p:nvSpPr>
          <p:cNvPr id="9" name="Shape 7"/>
          <p:cNvSpPr/>
          <p:nvPr/>
        </p:nvSpPr>
        <p:spPr>
          <a:xfrm>
            <a:off x="6766560" y="2606040"/>
            <a:ext cx="2103120" cy="502920"/>
          </a:xfrm>
          <a:prstGeom prst="rect">
            <a:avLst/>
          </a:prstGeom>
          <a:solidFill>
            <a:srgbClr val="1E2761"/>
          </a:solidFill>
          <a:ln w="6350">
            <a:solidFill>
              <a:srgbClr val="E5E7EB"/>
            </a:solidFill>
            <a:prstDash val="solid"/>
          </a:ln>
        </p:spPr>
      </p:sp>
      <p:sp>
        <p:nvSpPr>
          <p:cNvPr id="10" name="Text 8"/>
          <p:cNvSpPr/>
          <p:nvPr/>
        </p:nvSpPr>
        <p:spPr>
          <a:xfrm>
            <a:off x="6858000" y="2606040"/>
            <a:ext cx="192024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Unidad</a:t>
            </a:r>
            <a:endParaRPr lang="en-US" sz="1300" dirty="0"/>
          </a:p>
        </p:txBody>
      </p:sp>
      <p:sp>
        <p:nvSpPr>
          <p:cNvPr id="11" name="Shape 9"/>
          <p:cNvSpPr/>
          <p:nvPr/>
        </p:nvSpPr>
        <p:spPr>
          <a:xfrm>
            <a:off x="8869680" y="2606040"/>
            <a:ext cx="1463040" cy="502920"/>
          </a:xfrm>
          <a:prstGeom prst="rect">
            <a:avLst/>
          </a:prstGeom>
          <a:solidFill>
            <a:srgbClr val="1E2761"/>
          </a:solidFill>
          <a:ln w="6350">
            <a:solidFill>
              <a:srgbClr val="E5E7EB"/>
            </a:solidFill>
            <a:prstDash val="solid"/>
          </a:ln>
        </p:spPr>
      </p:sp>
      <p:sp>
        <p:nvSpPr>
          <p:cNvPr id="12" name="Text 10"/>
          <p:cNvSpPr/>
          <p:nvPr/>
        </p:nvSpPr>
        <p:spPr>
          <a:xfrm>
            <a:off x="8961120" y="2606040"/>
            <a:ext cx="128016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F1 macro</a:t>
            </a:r>
            <a:endParaRPr lang="en-US" sz="1300" dirty="0"/>
          </a:p>
        </p:txBody>
      </p:sp>
      <p:sp>
        <p:nvSpPr>
          <p:cNvPr id="13" name="Shape 11"/>
          <p:cNvSpPr/>
          <p:nvPr/>
        </p:nvSpPr>
        <p:spPr>
          <a:xfrm>
            <a:off x="10332720" y="2606040"/>
            <a:ext cx="1463040" cy="502920"/>
          </a:xfrm>
          <a:prstGeom prst="rect">
            <a:avLst/>
          </a:prstGeom>
          <a:solidFill>
            <a:srgbClr val="1E2761"/>
          </a:solidFill>
          <a:ln w="6350">
            <a:solidFill>
              <a:srgbClr val="E5E7EB"/>
            </a:solidFill>
            <a:prstDash val="solid"/>
          </a:ln>
        </p:spPr>
      </p:sp>
      <p:sp>
        <p:nvSpPr>
          <p:cNvPr id="14" name="Text 12"/>
          <p:cNvSpPr/>
          <p:nvPr/>
        </p:nvSpPr>
        <p:spPr>
          <a:xfrm>
            <a:off x="10424160" y="2606040"/>
            <a:ext cx="128016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F1 micro</a:t>
            </a:r>
            <a:endParaRPr lang="en-US" sz="1300" dirty="0"/>
          </a:p>
        </p:txBody>
      </p:sp>
      <p:sp>
        <p:nvSpPr>
          <p:cNvPr id="15" name="Shape 13"/>
          <p:cNvSpPr/>
          <p:nvPr/>
        </p:nvSpPr>
        <p:spPr>
          <a:xfrm>
            <a:off x="548640" y="3108960"/>
            <a:ext cx="3657600" cy="502920"/>
          </a:xfrm>
          <a:prstGeom prst="rect">
            <a:avLst/>
          </a:prstGeom>
          <a:solidFill>
            <a:srgbClr val="F3F4F6"/>
          </a:solidFill>
          <a:ln w="6350">
            <a:solidFill>
              <a:srgbClr val="E5E7EB"/>
            </a:solidFill>
            <a:prstDash val="solid"/>
          </a:ln>
        </p:spPr>
      </p:sp>
      <p:sp>
        <p:nvSpPr>
          <p:cNvPr id="16" name="Text 14"/>
          <p:cNvSpPr/>
          <p:nvPr/>
        </p:nvSpPr>
        <p:spPr>
          <a:xfrm>
            <a:off x="640080" y="3108960"/>
            <a:ext cx="3474720" cy="502920"/>
          </a:xfrm>
          <a:prstGeom prst="rect">
            <a:avLst/>
          </a:prstGeom>
          <a:noFill/>
          <a:ln/>
        </p:spPr>
        <p:txBody>
          <a:bodyPr wrap="square" lIns="0" tIns="0" rIns="0" bIns="0" rtlCol="0" anchor="ctr"/>
          <a:lstStyle/>
          <a:p>
            <a:pPr algn="l" indent="0" marL="0">
              <a:buNone/>
            </a:pPr>
            <a:r>
              <a:rPr lang="en-US" sz="1300" dirty="0">
                <a:solidFill>
                  <a:srgbClr val="1A1A2E"/>
                </a:solidFill>
                <a:latin typeface="Calibri" pitchFamily="34" charset="0"/>
                <a:ea typeface="Calibri" pitchFamily="34" charset="-122"/>
                <a:cs typeface="Calibri" pitchFamily="34" charset="-120"/>
              </a:rPr>
              <a:t>Naive Bayes (BernoulliNB)</a:t>
            </a:r>
            <a:endParaRPr lang="en-US" sz="1300" dirty="0"/>
          </a:p>
        </p:txBody>
      </p:sp>
      <p:sp>
        <p:nvSpPr>
          <p:cNvPr id="17" name="Shape 15"/>
          <p:cNvSpPr/>
          <p:nvPr/>
        </p:nvSpPr>
        <p:spPr>
          <a:xfrm>
            <a:off x="4206240" y="3108960"/>
            <a:ext cx="2560320" cy="502920"/>
          </a:xfrm>
          <a:prstGeom prst="rect">
            <a:avLst/>
          </a:prstGeom>
          <a:solidFill>
            <a:srgbClr val="F3F4F6"/>
          </a:solidFill>
          <a:ln w="6350">
            <a:solidFill>
              <a:srgbClr val="E5E7EB"/>
            </a:solidFill>
            <a:prstDash val="solid"/>
          </a:ln>
        </p:spPr>
      </p:sp>
      <p:sp>
        <p:nvSpPr>
          <p:cNvPr id="18" name="Text 16"/>
          <p:cNvSpPr/>
          <p:nvPr/>
        </p:nvSpPr>
        <p:spPr>
          <a:xfrm>
            <a:off x="4297680" y="3108960"/>
            <a:ext cx="2377440" cy="502920"/>
          </a:xfrm>
          <a:prstGeom prst="rect">
            <a:avLst/>
          </a:prstGeom>
          <a:noFill/>
          <a:ln/>
        </p:spPr>
        <p:txBody>
          <a:bodyPr wrap="square" lIns="0" tIns="0" rIns="0" bIns="0" rtlCol="0" anchor="ctr"/>
          <a:lstStyle/>
          <a:p>
            <a:pPr algn="ctr" indent="0" marL="0">
              <a:buNone/>
            </a:pPr>
            <a:r>
              <a:rPr lang="en-US" sz="1300" dirty="0">
                <a:solidFill>
                  <a:srgbClr val="1A1A2E"/>
                </a:solidFill>
                <a:latin typeface="Calibri" pitchFamily="34" charset="0"/>
                <a:ea typeface="Calibri" pitchFamily="34" charset="-122"/>
                <a:cs typeface="Calibri" pitchFamily="34" charset="-120"/>
              </a:rPr>
              <a:t>TF-IDF</a:t>
            </a:r>
            <a:endParaRPr lang="en-US" sz="1300" dirty="0"/>
          </a:p>
        </p:txBody>
      </p:sp>
      <p:sp>
        <p:nvSpPr>
          <p:cNvPr id="19" name="Shape 17"/>
          <p:cNvSpPr/>
          <p:nvPr/>
        </p:nvSpPr>
        <p:spPr>
          <a:xfrm>
            <a:off x="6766560" y="3108960"/>
            <a:ext cx="2103120" cy="502920"/>
          </a:xfrm>
          <a:prstGeom prst="rect">
            <a:avLst/>
          </a:prstGeom>
          <a:solidFill>
            <a:srgbClr val="F3F4F6"/>
          </a:solidFill>
          <a:ln w="6350">
            <a:solidFill>
              <a:srgbClr val="E5E7EB"/>
            </a:solidFill>
            <a:prstDash val="solid"/>
          </a:ln>
        </p:spPr>
      </p:sp>
      <p:sp>
        <p:nvSpPr>
          <p:cNvPr id="20" name="Text 18"/>
          <p:cNvSpPr/>
          <p:nvPr/>
        </p:nvSpPr>
        <p:spPr>
          <a:xfrm>
            <a:off x="6858000" y="3108960"/>
            <a:ext cx="1920240" cy="502920"/>
          </a:xfrm>
          <a:prstGeom prst="rect">
            <a:avLst/>
          </a:prstGeom>
          <a:noFill/>
          <a:ln/>
        </p:spPr>
        <p:txBody>
          <a:bodyPr wrap="square" lIns="0" tIns="0" rIns="0" bIns="0" rtlCol="0" anchor="ctr"/>
          <a:lstStyle/>
          <a:p>
            <a:pPr algn="ctr" indent="0" marL="0">
              <a:buNone/>
            </a:pPr>
            <a:r>
              <a:rPr lang="en-US" sz="1300" dirty="0">
                <a:solidFill>
                  <a:srgbClr val="1A1A2E"/>
                </a:solidFill>
                <a:latin typeface="Calibri" pitchFamily="34" charset="0"/>
                <a:ea typeface="Calibri" pitchFamily="34" charset="-122"/>
                <a:cs typeface="Calibri" pitchFamily="34" charset="-120"/>
              </a:rPr>
              <a:t>5-I (NLP)</a:t>
            </a:r>
            <a:endParaRPr lang="en-US" sz="1300" dirty="0"/>
          </a:p>
        </p:txBody>
      </p:sp>
      <p:sp>
        <p:nvSpPr>
          <p:cNvPr id="21" name="Shape 19"/>
          <p:cNvSpPr/>
          <p:nvPr/>
        </p:nvSpPr>
        <p:spPr>
          <a:xfrm>
            <a:off x="8869680" y="3108960"/>
            <a:ext cx="1463040" cy="502920"/>
          </a:xfrm>
          <a:prstGeom prst="rect">
            <a:avLst/>
          </a:prstGeom>
          <a:solidFill>
            <a:srgbClr val="F3F4F6"/>
          </a:solidFill>
          <a:ln w="6350">
            <a:solidFill>
              <a:srgbClr val="E5E7EB"/>
            </a:solidFill>
            <a:prstDash val="solid"/>
          </a:ln>
        </p:spPr>
      </p:sp>
      <p:sp>
        <p:nvSpPr>
          <p:cNvPr id="22" name="Text 20"/>
          <p:cNvSpPr/>
          <p:nvPr/>
        </p:nvSpPr>
        <p:spPr>
          <a:xfrm>
            <a:off x="8961120" y="3108960"/>
            <a:ext cx="1280160" cy="502920"/>
          </a:xfrm>
          <a:prstGeom prst="rect">
            <a:avLst/>
          </a:prstGeom>
          <a:noFill/>
          <a:ln/>
        </p:spPr>
        <p:txBody>
          <a:bodyPr wrap="square" lIns="0" tIns="0" rIns="0" bIns="0" rtlCol="0" anchor="ctr"/>
          <a:lstStyle/>
          <a:p>
            <a:pPr algn="ctr" indent="0" marL="0">
              <a:buNone/>
            </a:pPr>
            <a:r>
              <a:rPr lang="en-US" sz="1300" dirty="0">
                <a:solidFill>
                  <a:srgbClr val="1A1A2E"/>
                </a:solidFill>
                <a:latin typeface="Calibri" pitchFamily="34" charset="0"/>
                <a:ea typeface="Calibri" pitchFamily="34" charset="-122"/>
                <a:cs typeface="Calibri" pitchFamily="34" charset="-120"/>
              </a:rPr>
              <a:t>0.05</a:t>
            </a:r>
            <a:endParaRPr lang="en-US" sz="1300" dirty="0"/>
          </a:p>
        </p:txBody>
      </p:sp>
      <p:sp>
        <p:nvSpPr>
          <p:cNvPr id="23" name="Shape 21"/>
          <p:cNvSpPr/>
          <p:nvPr/>
        </p:nvSpPr>
        <p:spPr>
          <a:xfrm>
            <a:off x="10332720" y="3108960"/>
            <a:ext cx="1463040" cy="502920"/>
          </a:xfrm>
          <a:prstGeom prst="rect">
            <a:avLst/>
          </a:prstGeom>
          <a:solidFill>
            <a:srgbClr val="F3F4F6"/>
          </a:solidFill>
          <a:ln w="6350">
            <a:solidFill>
              <a:srgbClr val="E5E7EB"/>
            </a:solidFill>
            <a:prstDash val="solid"/>
          </a:ln>
        </p:spPr>
      </p:sp>
      <p:sp>
        <p:nvSpPr>
          <p:cNvPr id="24" name="Text 22"/>
          <p:cNvSpPr/>
          <p:nvPr/>
        </p:nvSpPr>
        <p:spPr>
          <a:xfrm>
            <a:off x="10424160" y="3108960"/>
            <a:ext cx="1280160" cy="502920"/>
          </a:xfrm>
          <a:prstGeom prst="rect">
            <a:avLst/>
          </a:prstGeom>
          <a:noFill/>
          <a:ln/>
        </p:spPr>
        <p:txBody>
          <a:bodyPr wrap="square" lIns="0" tIns="0" rIns="0" bIns="0" rtlCol="0" anchor="ctr"/>
          <a:lstStyle/>
          <a:p>
            <a:pPr algn="ctr" indent="0" marL="0">
              <a:buNone/>
            </a:pPr>
            <a:r>
              <a:rPr lang="en-US" sz="1300" dirty="0">
                <a:solidFill>
                  <a:srgbClr val="1A1A2E"/>
                </a:solidFill>
                <a:latin typeface="Calibri" pitchFamily="34" charset="0"/>
                <a:ea typeface="Calibri" pitchFamily="34" charset="-122"/>
                <a:cs typeface="Calibri" pitchFamily="34" charset="-120"/>
              </a:rPr>
              <a:t>0.08</a:t>
            </a:r>
            <a:endParaRPr lang="en-US" sz="1300" dirty="0"/>
          </a:p>
        </p:txBody>
      </p:sp>
      <p:sp>
        <p:nvSpPr>
          <p:cNvPr id="25" name="Shape 23"/>
          <p:cNvSpPr/>
          <p:nvPr/>
        </p:nvSpPr>
        <p:spPr>
          <a:xfrm>
            <a:off x="548640" y="3611880"/>
            <a:ext cx="3657600" cy="502920"/>
          </a:xfrm>
          <a:prstGeom prst="rect">
            <a:avLst/>
          </a:prstGeom>
          <a:solidFill>
            <a:srgbClr val="FFFFFF"/>
          </a:solidFill>
          <a:ln w="6350">
            <a:solidFill>
              <a:srgbClr val="E5E7EB"/>
            </a:solidFill>
            <a:prstDash val="solid"/>
          </a:ln>
        </p:spPr>
      </p:sp>
      <p:sp>
        <p:nvSpPr>
          <p:cNvPr id="26" name="Text 24"/>
          <p:cNvSpPr/>
          <p:nvPr/>
        </p:nvSpPr>
        <p:spPr>
          <a:xfrm>
            <a:off x="640080" y="3611880"/>
            <a:ext cx="3474720" cy="502920"/>
          </a:xfrm>
          <a:prstGeom prst="rect">
            <a:avLst/>
          </a:prstGeom>
          <a:noFill/>
          <a:ln/>
        </p:spPr>
        <p:txBody>
          <a:bodyPr wrap="square" lIns="0" tIns="0" rIns="0" bIns="0" rtlCol="0" anchor="ctr"/>
          <a:lstStyle/>
          <a:p>
            <a:pPr algn="l" indent="0" marL="0">
              <a:buNone/>
            </a:pPr>
            <a:r>
              <a:rPr lang="en-US" sz="1300" dirty="0">
                <a:solidFill>
                  <a:srgbClr val="1A1A2E"/>
                </a:solidFill>
                <a:latin typeface="Calibri" pitchFamily="34" charset="0"/>
                <a:ea typeface="Calibri" pitchFamily="34" charset="-122"/>
                <a:cs typeface="Calibri" pitchFamily="34" charset="-120"/>
              </a:rPr>
              <a:t>Random Forest</a:t>
            </a:r>
            <a:endParaRPr lang="en-US" sz="1300" dirty="0"/>
          </a:p>
        </p:txBody>
      </p:sp>
      <p:sp>
        <p:nvSpPr>
          <p:cNvPr id="27" name="Shape 25"/>
          <p:cNvSpPr/>
          <p:nvPr/>
        </p:nvSpPr>
        <p:spPr>
          <a:xfrm>
            <a:off x="4206240" y="3611880"/>
            <a:ext cx="2560320" cy="502920"/>
          </a:xfrm>
          <a:prstGeom prst="rect">
            <a:avLst/>
          </a:prstGeom>
          <a:solidFill>
            <a:srgbClr val="FFFFFF"/>
          </a:solidFill>
          <a:ln w="6350">
            <a:solidFill>
              <a:srgbClr val="E5E7EB"/>
            </a:solidFill>
            <a:prstDash val="solid"/>
          </a:ln>
        </p:spPr>
      </p:sp>
      <p:sp>
        <p:nvSpPr>
          <p:cNvPr id="28" name="Text 26"/>
          <p:cNvSpPr/>
          <p:nvPr/>
        </p:nvSpPr>
        <p:spPr>
          <a:xfrm>
            <a:off x="4297680" y="3611880"/>
            <a:ext cx="2377440" cy="502920"/>
          </a:xfrm>
          <a:prstGeom prst="rect">
            <a:avLst/>
          </a:prstGeom>
          <a:noFill/>
          <a:ln/>
        </p:spPr>
        <p:txBody>
          <a:bodyPr wrap="square" lIns="0" tIns="0" rIns="0" bIns="0" rtlCol="0" anchor="ctr"/>
          <a:lstStyle/>
          <a:p>
            <a:pPr algn="ctr" indent="0" marL="0">
              <a:buNone/>
            </a:pPr>
            <a:r>
              <a:rPr lang="en-US" sz="1300" dirty="0">
                <a:solidFill>
                  <a:srgbClr val="1A1A2E"/>
                </a:solidFill>
                <a:latin typeface="Calibri" pitchFamily="34" charset="0"/>
                <a:ea typeface="Calibri" pitchFamily="34" charset="-122"/>
                <a:cs typeface="Calibri" pitchFamily="34" charset="-120"/>
              </a:rPr>
              <a:t>TF-IDF</a:t>
            </a:r>
            <a:endParaRPr lang="en-US" sz="1300" dirty="0"/>
          </a:p>
        </p:txBody>
      </p:sp>
      <p:sp>
        <p:nvSpPr>
          <p:cNvPr id="29" name="Shape 27"/>
          <p:cNvSpPr/>
          <p:nvPr/>
        </p:nvSpPr>
        <p:spPr>
          <a:xfrm>
            <a:off x="6766560" y="3611880"/>
            <a:ext cx="2103120" cy="502920"/>
          </a:xfrm>
          <a:prstGeom prst="rect">
            <a:avLst/>
          </a:prstGeom>
          <a:solidFill>
            <a:srgbClr val="FFFFFF"/>
          </a:solidFill>
          <a:ln w="6350">
            <a:solidFill>
              <a:srgbClr val="E5E7EB"/>
            </a:solidFill>
            <a:prstDash val="solid"/>
          </a:ln>
        </p:spPr>
      </p:sp>
      <p:sp>
        <p:nvSpPr>
          <p:cNvPr id="30" name="Text 28"/>
          <p:cNvSpPr/>
          <p:nvPr/>
        </p:nvSpPr>
        <p:spPr>
          <a:xfrm>
            <a:off x="6858000" y="3611880"/>
            <a:ext cx="1920240" cy="502920"/>
          </a:xfrm>
          <a:prstGeom prst="rect">
            <a:avLst/>
          </a:prstGeom>
          <a:noFill/>
          <a:ln/>
        </p:spPr>
        <p:txBody>
          <a:bodyPr wrap="square" lIns="0" tIns="0" rIns="0" bIns="0" rtlCol="0" anchor="ctr"/>
          <a:lstStyle/>
          <a:p>
            <a:pPr algn="ctr" indent="0" marL="0">
              <a:buNone/>
            </a:pPr>
            <a:r>
              <a:rPr lang="en-US" sz="1300" dirty="0">
                <a:solidFill>
                  <a:srgbClr val="1A1A2E"/>
                </a:solidFill>
                <a:latin typeface="Calibri" pitchFamily="34" charset="0"/>
                <a:ea typeface="Calibri" pitchFamily="34" charset="-122"/>
                <a:cs typeface="Calibri" pitchFamily="34" charset="-120"/>
              </a:rPr>
              <a:t>3 (Supervisado)</a:t>
            </a:r>
            <a:endParaRPr lang="en-US" sz="1300" dirty="0"/>
          </a:p>
        </p:txBody>
      </p:sp>
      <p:sp>
        <p:nvSpPr>
          <p:cNvPr id="31" name="Shape 29"/>
          <p:cNvSpPr/>
          <p:nvPr/>
        </p:nvSpPr>
        <p:spPr>
          <a:xfrm>
            <a:off x="8869680" y="3611880"/>
            <a:ext cx="1463040" cy="502920"/>
          </a:xfrm>
          <a:prstGeom prst="rect">
            <a:avLst/>
          </a:prstGeom>
          <a:solidFill>
            <a:srgbClr val="FFFFFF"/>
          </a:solidFill>
          <a:ln w="6350">
            <a:solidFill>
              <a:srgbClr val="E5E7EB"/>
            </a:solidFill>
            <a:prstDash val="solid"/>
          </a:ln>
        </p:spPr>
      </p:sp>
      <p:sp>
        <p:nvSpPr>
          <p:cNvPr id="32" name="Text 30"/>
          <p:cNvSpPr/>
          <p:nvPr/>
        </p:nvSpPr>
        <p:spPr>
          <a:xfrm>
            <a:off x="8961120" y="3611880"/>
            <a:ext cx="1280160" cy="502920"/>
          </a:xfrm>
          <a:prstGeom prst="rect">
            <a:avLst/>
          </a:prstGeom>
          <a:noFill/>
          <a:ln/>
        </p:spPr>
        <p:txBody>
          <a:bodyPr wrap="square" lIns="0" tIns="0" rIns="0" bIns="0" rtlCol="0" anchor="ctr"/>
          <a:lstStyle/>
          <a:p>
            <a:pPr algn="ctr" indent="0" marL="0">
              <a:buNone/>
            </a:pPr>
            <a:r>
              <a:rPr lang="en-US" sz="1300" dirty="0">
                <a:solidFill>
                  <a:srgbClr val="1A1A2E"/>
                </a:solidFill>
                <a:latin typeface="Calibri" pitchFamily="34" charset="0"/>
                <a:ea typeface="Calibri" pitchFamily="34" charset="-122"/>
                <a:cs typeface="Calibri" pitchFamily="34" charset="-120"/>
              </a:rPr>
              <a:t>0.107</a:t>
            </a:r>
            <a:endParaRPr lang="en-US" sz="1300" dirty="0"/>
          </a:p>
        </p:txBody>
      </p:sp>
      <p:sp>
        <p:nvSpPr>
          <p:cNvPr id="33" name="Shape 31"/>
          <p:cNvSpPr/>
          <p:nvPr/>
        </p:nvSpPr>
        <p:spPr>
          <a:xfrm>
            <a:off x="10332720" y="3611880"/>
            <a:ext cx="1463040" cy="502920"/>
          </a:xfrm>
          <a:prstGeom prst="rect">
            <a:avLst/>
          </a:prstGeom>
          <a:solidFill>
            <a:srgbClr val="FFFFFF"/>
          </a:solidFill>
          <a:ln w="6350">
            <a:solidFill>
              <a:srgbClr val="E5E7EB"/>
            </a:solidFill>
            <a:prstDash val="solid"/>
          </a:ln>
        </p:spPr>
      </p:sp>
      <p:sp>
        <p:nvSpPr>
          <p:cNvPr id="34" name="Text 32"/>
          <p:cNvSpPr/>
          <p:nvPr/>
        </p:nvSpPr>
        <p:spPr>
          <a:xfrm>
            <a:off x="10424160" y="3611880"/>
            <a:ext cx="1280160" cy="502920"/>
          </a:xfrm>
          <a:prstGeom prst="rect">
            <a:avLst/>
          </a:prstGeom>
          <a:noFill/>
          <a:ln/>
        </p:spPr>
        <p:txBody>
          <a:bodyPr wrap="square" lIns="0" tIns="0" rIns="0" bIns="0" rtlCol="0" anchor="ctr"/>
          <a:lstStyle/>
          <a:p>
            <a:pPr algn="ctr" indent="0" marL="0">
              <a:buNone/>
            </a:pPr>
            <a:r>
              <a:rPr lang="en-US" sz="1300" dirty="0">
                <a:solidFill>
                  <a:srgbClr val="1A1A2E"/>
                </a:solidFill>
                <a:latin typeface="Calibri" pitchFamily="34" charset="0"/>
                <a:ea typeface="Calibri" pitchFamily="34" charset="-122"/>
                <a:cs typeface="Calibri" pitchFamily="34" charset="-120"/>
              </a:rPr>
              <a:t>0.104</a:t>
            </a:r>
            <a:endParaRPr lang="en-US" sz="1300" dirty="0"/>
          </a:p>
        </p:txBody>
      </p:sp>
      <p:sp>
        <p:nvSpPr>
          <p:cNvPr id="35" name="Shape 33"/>
          <p:cNvSpPr/>
          <p:nvPr/>
        </p:nvSpPr>
        <p:spPr>
          <a:xfrm>
            <a:off x="548640" y="4114800"/>
            <a:ext cx="3657600" cy="502920"/>
          </a:xfrm>
          <a:prstGeom prst="rect">
            <a:avLst/>
          </a:prstGeom>
          <a:solidFill>
            <a:srgbClr val="F3F4F6"/>
          </a:solidFill>
          <a:ln w="6350">
            <a:solidFill>
              <a:srgbClr val="E5E7EB"/>
            </a:solidFill>
            <a:prstDash val="solid"/>
          </a:ln>
        </p:spPr>
      </p:sp>
      <p:sp>
        <p:nvSpPr>
          <p:cNvPr id="36" name="Text 34"/>
          <p:cNvSpPr/>
          <p:nvPr/>
        </p:nvSpPr>
        <p:spPr>
          <a:xfrm>
            <a:off x="640080" y="4114800"/>
            <a:ext cx="3474720" cy="502920"/>
          </a:xfrm>
          <a:prstGeom prst="rect">
            <a:avLst/>
          </a:prstGeom>
          <a:noFill/>
          <a:ln/>
        </p:spPr>
        <p:txBody>
          <a:bodyPr wrap="square" lIns="0" tIns="0" rIns="0" bIns="0" rtlCol="0" anchor="ctr"/>
          <a:lstStyle/>
          <a:p>
            <a:pPr algn="l" indent="0" marL="0">
              <a:buNone/>
            </a:pPr>
            <a:r>
              <a:rPr lang="en-US" sz="1300" dirty="0">
                <a:solidFill>
                  <a:srgbClr val="1A1A2E"/>
                </a:solidFill>
                <a:latin typeface="Calibri" pitchFamily="34" charset="0"/>
                <a:ea typeface="Calibri" pitchFamily="34" charset="-122"/>
                <a:cs typeface="Calibri" pitchFamily="34" charset="-120"/>
              </a:rPr>
              <a:t>Random Forest</a:t>
            </a:r>
            <a:endParaRPr lang="en-US" sz="1300" dirty="0"/>
          </a:p>
        </p:txBody>
      </p:sp>
      <p:sp>
        <p:nvSpPr>
          <p:cNvPr id="37" name="Shape 35"/>
          <p:cNvSpPr/>
          <p:nvPr/>
        </p:nvSpPr>
        <p:spPr>
          <a:xfrm>
            <a:off x="4206240" y="4114800"/>
            <a:ext cx="2560320" cy="502920"/>
          </a:xfrm>
          <a:prstGeom prst="rect">
            <a:avLst/>
          </a:prstGeom>
          <a:solidFill>
            <a:srgbClr val="F3F4F6"/>
          </a:solidFill>
          <a:ln w="6350">
            <a:solidFill>
              <a:srgbClr val="E5E7EB"/>
            </a:solidFill>
            <a:prstDash val="solid"/>
          </a:ln>
        </p:spPr>
      </p:sp>
      <p:sp>
        <p:nvSpPr>
          <p:cNvPr id="38" name="Text 36"/>
          <p:cNvSpPr/>
          <p:nvPr/>
        </p:nvSpPr>
        <p:spPr>
          <a:xfrm>
            <a:off x="4297680" y="4114800"/>
            <a:ext cx="2377440" cy="502920"/>
          </a:xfrm>
          <a:prstGeom prst="rect">
            <a:avLst/>
          </a:prstGeom>
          <a:noFill/>
          <a:ln/>
        </p:spPr>
        <p:txBody>
          <a:bodyPr wrap="square" lIns="0" tIns="0" rIns="0" bIns="0" rtlCol="0" anchor="ctr"/>
          <a:lstStyle/>
          <a:p>
            <a:pPr algn="ctr" indent="0" marL="0">
              <a:buNone/>
            </a:pPr>
            <a:r>
              <a:rPr lang="en-US" sz="1300" dirty="0">
                <a:solidFill>
                  <a:srgbClr val="1A1A2E"/>
                </a:solidFill>
                <a:latin typeface="Calibri" pitchFamily="34" charset="0"/>
                <a:ea typeface="Calibri" pitchFamily="34" charset="-122"/>
                <a:cs typeface="Calibri" pitchFamily="34" charset="-120"/>
              </a:rPr>
              <a:t>BioBERT embeddings</a:t>
            </a:r>
            <a:endParaRPr lang="en-US" sz="1300" dirty="0"/>
          </a:p>
        </p:txBody>
      </p:sp>
      <p:sp>
        <p:nvSpPr>
          <p:cNvPr id="39" name="Shape 37"/>
          <p:cNvSpPr/>
          <p:nvPr/>
        </p:nvSpPr>
        <p:spPr>
          <a:xfrm>
            <a:off x="6766560" y="4114800"/>
            <a:ext cx="2103120" cy="502920"/>
          </a:xfrm>
          <a:prstGeom prst="rect">
            <a:avLst/>
          </a:prstGeom>
          <a:solidFill>
            <a:srgbClr val="F3F4F6"/>
          </a:solidFill>
          <a:ln w="6350">
            <a:solidFill>
              <a:srgbClr val="E5E7EB"/>
            </a:solidFill>
            <a:prstDash val="solid"/>
          </a:ln>
        </p:spPr>
      </p:sp>
      <p:sp>
        <p:nvSpPr>
          <p:cNvPr id="40" name="Text 38"/>
          <p:cNvSpPr/>
          <p:nvPr/>
        </p:nvSpPr>
        <p:spPr>
          <a:xfrm>
            <a:off x="6858000" y="4114800"/>
            <a:ext cx="1920240" cy="502920"/>
          </a:xfrm>
          <a:prstGeom prst="rect">
            <a:avLst/>
          </a:prstGeom>
          <a:noFill/>
          <a:ln/>
        </p:spPr>
        <p:txBody>
          <a:bodyPr wrap="square" lIns="0" tIns="0" rIns="0" bIns="0" rtlCol="0" anchor="ctr"/>
          <a:lstStyle/>
          <a:p>
            <a:pPr algn="ctr" indent="0" marL="0">
              <a:buNone/>
            </a:pPr>
            <a:r>
              <a:rPr lang="en-US" sz="1300" dirty="0">
                <a:solidFill>
                  <a:srgbClr val="1A1A2E"/>
                </a:solidFill>
                <a:latin typeface="Calibri" pitchFamily="34" charset="0"/>
                <a:ea typeface="Calibri" pitchFamily="34" charset="-122"/>
                <a:cs typeface="Calibri" pitchFamily="34" charset="-120"/>
              </a:rPr>
              <a:t>3 + 5-II</a:t>
            </a:r>
            <a:endParaRPr lang="en-US" sz="1300" dirty="0"/>
          </a:p>
        </p:txBody>
      </p:sp>
      <p:sp>
        <p:nvSpPr>
          <p:cNvPr id="41" name="Shape 39"/>
          <p:cNvSpPr/>
          <p:nvPr/>
        </p:nvSpPr>
        <p:spPr>
          <a:xfrm>
            <a:off x="8869680" y="4114800"/>
            <a:ext cx="1463040" cy="502920"/>
          </a:xfrm>
          <a:prstGeom prst="rect">
            <a:avLst/>
          </a:prstGeom>
          <a:solidFill>
            <a:srgbClr val="F3F4F6"/>
          </a:solidFill>
          <a:ln w="6350">
            <a:solidFill>
              <a:srgbClr val="E5E7EB"/>
            </a:solidFill>
            <a:prstDash val="solid"/>
          </a:ln>
        </p:spPr>
      </p:sp>
      <p:sp>
        <p:nvSpPr>
          <p:cNvPr id="42" name="Text 40"/>
          <p:cNvSpPr/>
          <p:nvPr/>
        </p:nvSpPr>
        <p:spPr>
          <a:xfrm>
            <a:off x="8961120" y="4114800"/>
            <a:ext cx="1280160" cy="502920"/>
          </a:xfrm>
          <a:prstGeom prst="rect">
            <a:avLst/>
          </a:prstGeom>
          <a:noFill/>
          <a:ln/>
        </p:spPr>
        <p:txBody>
          <a:bodyPr wrap="square" lIns="0" tIns="0" rIns="0" bIns="0" rtlCol="0" anchor="ctr"/>
          <a:lstStyle/>
          <a:p>
            <a:pPr algn="ctr" indent="0" marL="0">
              <a:buNone/>
            </a:pPr>
            <a:r>
              <a:rPr lang="en-US" sz="1300" dirty="0">
                <a:solidFill>
                  <a:srgbClr val="1A1A2E"/>
                </a:solidFill>
                <a:latin typeface="Calibri" pitchFamily="34" charset="0"/>
                <a:ea typeface="Calibri" pitchFamily="34" charset="-122"/>
                <a:cs typeface="Calibri" pitchFamily="34" charset="-120"/>
              </a:rPr>
              <a:t>0.130</a:t>
            </a:r>
            <a:endParaRPr lang="en-US" sz="1300" dirty="0"/>
          </a:p>
        </p:txBody>
      </p:sp>
      <p:sp>
        <p:nvSpPr>
          <p:cNvPr id="43" name="Shape 41"/>
          <p:cNvSpPr/>
          <p:nvPr/>
        </p:nvSpPr>
        <p:spPr>
          <a:xfrm>
            <a:off x="10332720" y="4114800"/>
            <a:ext cx="1463040" cy="502920"/>
          </a:xfrm>
          <a:prstGeom prst="rect">
            <a:avLst/>
          </a:prstGeom>
          <a:solidFill>
            <a:srgbClr val="F3F4F6"/>
          </a:solidFill>
          <a:ln w="6350">
            <a:solidFill>
              <a:srgbClr val="E5E7EB"/>
            </a:solidFill>
            <a:prstDash val="solid"/>
          </a:ln>
        </p:spPr>
      </p:sp>
      <p:sp>
        <p:nvSpPr>
          <p:cNvPr id="44" name="Text 42"/>
          <p:cNvSpPr/>
          <p:nvPr/>
        </p:nvSpPr>
        <p:spPr>
          <a:xfrm>
            <a:off x="10424160" y="4114800"/>
            <a:ext cx="1280160" cy="502920"/>
          </a:xfrm>
          <a:prstGeom prst="rect">
            <a:avLst/>
          </a:prstGeom>
          <a:noFill/>
          <a:ln/>
        </p:spPr>
        <p:txBody>
          <a:bodyPr wrap="square" lIns="0" tIns="0" rIns="0" bIns="0" rtlCol="0" anchor="ctr"/>
          <a:lstStyle/>
          <a:p>
            <a:pPr algn="ctr" indent="0" marL="0">
              <a:buNone/>
            </a:pPr>
            <a:r>
              <a:rPr lang="en-US" sz="1300" dirty="0">
                <a:solidFill>
                  <a:srgbClr val="1A1A2E"/>
                </a:solidFill>
                <a:latin typeface="Calibri" pitchFamily="34" charset="0"/>
                <a:ea typeface="Calibri" pitchFamily="34" charset="-122"/>
                <a:cs typeface="Calibri" pitchFamily="34" charset="-120"/>
              </a:rPr>
              <a:t>0.150</a:t>
            </a:r>
            <a:endParaRPr lang="en-US" sz="1300" dirty="0"/>
          </a:p>
        </p:txBody>
      </p:sp>
      <p:sp>
        <p:nvSpPr>
          <p:cNvPr id="45" name="Shape 43"/>
          <p:cNvSpPr/>
          <p:nvPr/>
        </p:nvSpPr>
        <p:spPr>
          <a:xfrm>
            <a:off x="548640" y="4617720"/>
            <a:ext cx="3657600" cy="502920"/>
          </a:xfrm>
          <a:prstGeom prst="rect">
            <a:avLst/>
          </a:prstGeom>
          <a:solidFill>
            <a:srgbClr val="FFFFFF"/>
          </a:solidFill>
          <a:ln w="6350">
            <a:solidFill>
              <a:srgbClr val="E5E7EB"/>
            </a:solidFill>
            <a:prstDash val="solid"/>
          </a:ln>
        </p:spPr>
      </p:sp>
      <p:sp>
        <p:nvSpPr>
          <p:cNvPr id="46" name="Text 44"/>
          <p:cNvSpPr/>
          <p:nvPr/>
        </p:nvSpPr>
        <p:spPr>
          <a:xfrm>
            <a:off x="640080" y="4617720"/>
            <a:ext cx="3474720" cy="502920"/>
          </a:xfrm>
          <a:prstGeom prst="rect">
            <a:avLst/>
          </a:prstGeom>
          <a:noFill/>
          <a:ln/>
        </p:spPr>
        <p:txBody>
          <a:bodyPr wrap="square" lIns="0" tIns="0" rIns="0" bIns="0" rtlCol="0" anchor="ctr"/>
          <a:lstStyle/>
          <a:p>
            <a:pPr algn="l" indent="0" marL="0">
              <a:buNone/>
            </a:pPr>
            <a:r>
              <a:rPr lang="en-US" sz="1300" b="1" dirty="0">
                <a:solidFill>
                  <a:srgbClr val="F76C5E"/>
                </a:solidFill>
                <a:latin typeface="Calibri" pitchFamily="34" charset="0"/>
                <a:ea typeface="Calibri" pitchFamily="34" charset="-122"/>
                <a:cs typeface="Calibri" pitchFamily="34" charset="-120"/>
              </a:rPr>
              <a:t>BioBERT fine-tuned</a:t>
            </a:r>
            <a:endParaRPr lang="en-US" sz="1300" dirty="0"/>
          </a:p>
        </p:txBody>
      </p:sp>
      <p:sp>
        <p:nvSpPr>
          <p:cNvPr id="47" name="Shape 45"/>
          <p:cNvSpPr/>
          <p:nvPr/>
        </p:nvSpPr>
        <p:spPr>
          <a:xfrm>
            <a:off x="4206240" y="4617720"/>
            <a:ext cx="2560320" cy="502920"/>
          </a:xfrm>
          <a:prstGeom prst="rect">
            <a:avLst/>
          </a:prstGeom>
          <a:solidFill>
            <a:srgbClr val="FFFFFF"/>
          </a:solidFill>
          <a:ln w="6350">
            <a:solidFill>
              <a:srgbClr val="E5E7EB"/>
            </a:solidFill>
            <a:prstDash val="solid"/>
          </a:ln>
        </p:spPr>
      </p:sp>
      <p:sp>
        <p:nvSpPr>
          <p:cNvPr id="48" name="Text 46"/>
          <p:cNvSpPr/>
          <p:nvPr/>
        </p:nvSpPr>
        <p:spPr>
          <a:xfrm>
            <a:off x="4297680" y="4617720"/>
            <a:ext cx="2377440" cy="502920"/>
          </a:xfrm>
          <a:prstGeom prst="rect">
            <a:avLst/>
          </a:prstGeom>
          <a:noFill/>
          <a:ln/>
        </p:spPr>
        <p:txBody>
          <a:bodyPr wrap="square" lIns="0" tIns="0" rIns="0" bIns="0" rtlCol="0" anchor="ctr"/>
          <a:lstStyle/>
          <a:p>
            <a:pPr algn="ctr" indent="0" marL="0">
              <a:buNone/>
            </a:pPr>
            <a:r>
              <a:rPr lang="en-US" sz="1300" b="1" dirty="0">
                <a:solidFill>
                  <a:srgbClr val="F76C5E"/>
                </a:solidFill>
                <a:latin typeface="Calibri" pitchFamily="34" charset="0"/>
                <a:ea typeface="Calibri" pitchFamily="34" charset="-122"/>
                <a:cs typeface="Calibri" pitchFamily="34" charset="-120"/>
              </a:rPr>
              <a:t>End-to-end</a:t>
            </a:r>
            <a:endParaRPr lang="en-US" sz="1300" dirty="0"/>
          </a:p>
        </p:txBody>
      </p:sp>
      <p:sp>
        <p:nvSpPr>
          <p:cNvPr id="49" name="Shape 47"/>
          <p:cNvSpPr/>
          <p:nvPr/>
        </p:nvSpPr>
        <p:spPr>
          <a:xfrm>
            <a:off x="6766560" y="4617720"/>
            <a:ext cx="2103120" cy="502920"/>
          </a:xfrm>
          <a:prstGeom prst="rect">
            <a:avLst/>
          </a:prstGeom>
          <a:solidFill>
            <a:srgbClr val="FFFFFF"/>
          </a:solidFill>
          <a:ln w="6350">
            <a:solidFill>
              <a:srgbClr val="E5E7EB"/>
            </a:solidFill>
            <a:prstDash val="solid"/>
          </a:ln>
        </p:spPr>
      </p:sp>
      <p:sp>
        <p:nvSpPr>
          <p:cNvPr id="50" name="Text 48"/>
          <p:cNvSpPr/>
          <p:nvPr/>
        </p:nvSpPr>
        <p:spPr>
          <a:xfrm>
            <a:off x="6858000" y="4617720"/>
            <a:ext cx="1920240" cy="502920"/>
          </a:xfrm>
          <a:prstGeom prst="rect">
            <a:avLst/>
          </a:prstGeom>
          <a:noFill/>
          <a:ln/>
        </p:spPr>
        <p:txBody>
          <a:bodyPr wrap="square" lIns="0" tIns="0" rIns="0" bIns="0" rtlCol="0" anchor="ctr"/>
          <a:lstStyle/>
          <a:p>
            <a:pPr algn="ctr" indent="0" marL="0">
              <a:buNone/>
            </a:pPr>
            <a:r>
              <a:rPr lang="en-US" sz="1300" b="1" dirty="0">
                <a:solidFill>
                  <a:srgbClr val="F76C5E"/>
                </a:solidFill>
                <a:latin typeface="Calibri" pitchFamily="34" charset="0"/>
                <a:ea typeface="Calibri" pitchFamily="34" charset="-122"/>
                <a:cs typeface="Calibri" pitchFamily="34" charset="-120"/>
              </a:rPr>
              <a:t>4 + 5-II</a:t>
            </a:r>
            <a:endParaRPr lang="en-US" sz="1300" dirty="0"/>
          </a:p>
        </p:txBody>
      </p:sp>
      <p:sp>
        <p:nvSpPr>
          <p:cNvPr id="51" name="Shape 49"/>
          <p:cNvSpPr/>
          <p:nvPr/>
        </p:nvSpPr>
        <p:spPr>
          <a:xfrm>
            <a:off x="8869680" y="4617720"/>
            <a:ext cx="1463040" cy="502920"/>
          </a:xfrm>
          <a:prstGeom prst="rect">
            <a:avLst/>
          </a:prstGeom>
          <a:solidFill>
            <a:srgbClr val="FFFFFF"/>
          </a:solidFill>
          <a:ln w="6350">
            <a:solidFill>
              <a:srgbClr val="E5E7EB"/>
            </a:solidFill>
            <a:prstDash val="solid"/>
          </a:ln>
        </p:spPr>
      </p:sp>
      <p:sp>
        <p:nvSpPr>
          <p:cNvPr id="52" name="Text 50"/>
          <p:cNvSpPr/>
          <p:nvPr/>
        </p:nvSpPr>
        <p:spPr>
          <a:xfrm>
            <a:off x="8961120" y="4617720"/>
            <a:ext cx="1280160" cy="502920"/>
          </a:xfrm>
          <a:prstGeom prst="rect">
            <a:avLst/>
          </a:prstGeom>
          <a:noFill/>
          <a:ln/>
        </p:spPr>
        <p:txBody>
          <a:bodyPr wrap="square" lIns="0" tIns="0" rIns="0" bIns="0" rtlCol="0" anchor="ctr"/>
          <a:lstStyle/>
          <a:p>
            <a:pPr algn="ctr" indent="0" marL="0">
              <a:buNone/>
            </a:pPr>
            <a:r>
              <a:rPr lang="en-US" sz="1300" b="1" dirty="0">
                <a:solidFill>
                  <a:srgbClr val="F76C5E"/>
                </a:solidFill>
                <a:latin typeface="Calibri" pitchFamily="34" charset="0"/>
                <a:ea typeface="Calibri" pitchFamily="34" charset="-122"/>
                <a:cs typeface="Calibri" pitchFamily="34" charset="-120"/>
              </a:rPr>
              <a:t>0.128</a:t>
            </a:r>
            <a:endParaRPr lang="en-US" sz="1300" dirty="0"/>
          </a:p>
        </p:txBody>
      </p:sp>
      <p:sp>
        <p:nvSpPr>
          <p:cNvPr id="53" name="Shape 51"/>
          <p:cNvSpPr/>
          <p:nvPr/>
        </p:nvSpPr>
        <p:spPr>
          <a:xfrm>
            <a:off x="10332720" y="4617720"/>
            <a:ext cx="1463040" cy="502920"/>
          </a:xfrm>
          <a:prstGeom prst="rect">
            <a:avLst/>
          </a:prstGeom>
          <a:solidFill>
            <a:srgbClr val="FFFFFF"/>
          </a:solidFill>
          <a:ln w="6350">
            <a:solidFill>
              <a:srgbClr val="E5E7EB"/>
            </a:solidFill>
            <a:prstDash val="solid"/>
          </a:ln>
        </p:spPr>
      </p:sp>
      <p:sp>
        <p:nvSpPr>
          <p:cNvPr id="54" name="Text 52"/>
          <p:cNvSpPr/>
          <p:nvPr/>
        </p:nvSpPr>
        <p:spPr>
          <a:xfrm>
            <a:off x="10424160" y="4617720"/>
            <a:ext cx="1280160" cy="502920"/>
          </a:xfrm>
          <a:prstGeom prst="rect">
            <a:avLst/>
          </a:prstGeom>
          <a:noFill/>
          <a:ln/>
        </p:spPr>
        <p:txBody>
          <a:bodyPr wrap="square" lIns="0" tIns="0" rIns="0" bIns="0" rtlCol="0" anchor="ctr"/>
          <a:lstStyle/>
          <a:p>
            <a:pPr algn="ctr" indent="0" marL="0">
              <a:buNone/>
            </a:pPr>
            <a:r>
              <a:rPr lang="en-US" sz="1300" b="1" dirty="0">
                <a:solidFill>
                  <a:srgbClr val="F76C5E"/>
                </a:solidFill>
                <a:latin typeface="Calibri" pitchFamily="34" charset="0"/>
                <a:ea typeface="Calibri" pitchFamily="34" charset="-122"/>
                <a:cs typeface="Calibri" pitchFamily="34" charset="-120"/>
              </a:rPr>
              <a:t>0.106</a:t>
            </a:r>
            <a:endParaRPr lang="en-US" sz="1300" dirty="0"/>
          </a:p>
        </p:txBody>
      </p:sp>
      <p:sp>
        <p:nvSpPr>
          <p:cNvPr id="55" name="Text 53"/>
          <p:cNvSpPr/>
          <p:nvPr/>
        </p:nvSpPr>
        <p:spPr>
          <a:xfrm>
            <a:off x="548640" y="5440680"/>
            <a:ext cx="11155680" cy="822960"/>
          </a:xfrm>
          <a:prstGeom prst="rect">
            <a:avLst/>
          </a:prstGeom>
          <a:noFill/>
          <a:ln/>
        </p:spPr>
        <p:txBody>
          <a:bodyPr wrap="square" lIns="0" tIns="0" rIns="0" bIns="0" rtlCol="0" anchor="ctr"/>
          <a:lstStyle/>
          <a:p>
            <a:pPr indent="0" marL="0">
              <a:buNone/>
            </a:pPr>
            <a:r>
              <a:rPr lang="en-US" sz="1300" i="1" dirty="0">
                <a:solidFill>
                  <a:srgbClr val="1E2761"/>
                </a:solidFill>
                <a:latin typeface="Calibri" pitchFamily="34" charset="0"/>
                <a:ea typeface="Calibri" pitchFamily="34" charset="-122"/>
                <a:cs typeface="Calibri" pitchFamily="34" charset="-120"/>
              </a:rPr>
              <a:t>Lectura: cambiar la representacion (TF-IDF → BioBERT) en el MISMO Random Forest sube el F1. La mejora viene de COMO se representa el texto, no del algoritmo.</a:t>
            </a:r>
            <a:endParaRPr lang="en-US" sz="1300" dirty="0"/>
          </a:p>
        </p:txBody>
      </p:sp>
      <p:sp>
        <p:nvSpPr>
          <p:cNvPr id="56" name="Text 54"/>
          <p:cNvSpPr/>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rgbClr val="6B7280"/>
                </a:solidFill>
              </a:rPr>
              <a:t>MTAA · farmApp · Defensa final</a:t>
            </a:r>
            <a:endParaRPr lang="en-US" sz="900" dirty="0"/>
          </a:p>
        </p:txBody>
      </p:sp>
      <p:sp>
        <p:nvSpPr>
          <p:cNvPr id="57" name="Text 55"/>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rPr>
              <a:t>8 / 16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B"/>
        </a:solidFill>
      </p:bgPr>
    </p:bg>
    <p:spTree>
      <p:nvGrpSpPr>
        <p:cNvPr id="1" name=""/>
        <p:cNvGrpSpPr/>
        <p:nvPr/>
      </p:nvGrpSpPr>
      <p:grpSpPr>
        <a:xfrm>
          <a:off x="0" y="0"/>
          <a:ext cx="0" cy="0"/>
          <a:chOff x="0" y="0"/>
          <a:chExt cx="0" cy="0"/>
        </a:xfrm>
      </p:grpSpPr>
      <p:sp>
        <p:nvSpPr>
          <p:cNvPr id="2" name="Text 0"/>
          <p:cNvSpPr/>
          <p:nvPr/>
        </p:nvSpPr>
        <p:spPr>
          <a:xfrm>
            <a:off x="457200" y="320040"/>
            <a:ext cx="11247120" cy="365760"/>
          </a:xfrm>
          <a:prstGeom prst="rect">
            <a:avLst/>
          </a:prstGeom>
          <a:noFill/>
          <a:ln/>
        </p:spPr>
        <p:txBody>
          <a:bodyPr wrap="square" lIns="0" tIns="0" rIns="0" bIns="0" rtlCol="0" anchor="ctr"/>
          <a:lstStyle/>
          <a:p>
            <a:pPr indent="0" marL="0">
              <a:buNone/>
            </a:pPr>
            <a:r>
              <a:rPr lang="en-US" sz="1100" b="1" spc="400" kern="0" dirty="0">
                <a:solidFill>
                  <a:srgbClr val="6B7280"/>
                </a:solidFill>
                <a:latin typeface="Calibri" pitchFamily="34" charset="0"/>
                <a:ea typeface="Calibri" pitchFamily="34" charset="-122"/>
                <a:cs typeface="Calibri" pitchFamily="34" charset="-120"/>
              </a:rPr>
              <a:t>08  ·  PIPELINE — ETAPA 5</a:t>
            </a:r>
            <a:endParaRPr lang="en-US" sz="1100" dirty="0"/>
          </a:p>
        </p:txBody>
      </p:sp>
      <p:sp>
        <p:nvSpPr>
          <p:cNvPr id="3" name="Text 1"/>
          <p:cNvSpPr/>
          <p:nvPr/>
        </p:nvSpPr>
        <p:spPr>
          <a:xfrm>
            <a:off x="457200" y="685800"/>
            <a:ext cx="11247120" cy="822960"/>
          </a:xfrm>
          <a:prstGeom prst="rect">
            <a:avLst/>
          </a:prstGeom>
          <a:noFill/>
          <a:ln/>
        </p:spPr>
        <p:txBody>
          <a:bodyPr wrap="square" lIns="0" tIns="0" rIns="0" bIns="0" rtlCol="0" anchor="ctr"/>
          <a:lstStyle/>
          <a:p>
            <a:pPr indent="0" marL="0">
              <a:buNone/>
            </a:pPr>
            <a:r>
              <a:rPr lang="en-US" sz="3600" b="1" dirty="0">
                <a:solidFill>
                  <a:srgbClr val="1A1A2E"/>
                </a:solidFill>
                <a:latin typeface="Cambria" pitchFamily="34" charset="0"/>
                <a:ea typeface="Cambria" pitchFamily="34" charset="-122"/>
                <a:cs typeface="Cambria" pitchFamily="34" charset="-120"/>
              </a:rPr>
              <a:t>Fine-tuning de BioBERT (modelo principal)</a:t>
            </a:r>
            <a:endParaRPr lang="en-US" sz="3600" dirty="0"/>
          </a:p>
        </p:txBody>
      </p:sp>
      <p:sp>
        <p:nvSpPr>
          <p:cNvPr id="4" name="Shape 2"/>
          <p:cNvSpPr/>
          <p:nvPr/>
        </p:nvSpPr>
        <p:spPr>
          <a:xfrm>
            <a:off x="548640" y="1783080"/>
            <a:ext cx="5486400" cy="4297680"/>
          </a:xfrm>
          <a:prstGeom prst="roundRect">
            <a:avLst>
              <a:gd name="adj" fmla="val 3191"/>
            </a:avLst>
          </a:prstGeom>
          <a:solidFill>
            <a:srgbClr val="FFFFFF"/>
          </a:solidFill>
          <a:ln w="25400">
            <a:solidFill>
              <a:srgbClr val="1E2761"/>
            </a:solidFill>
            <a:prstDash val="solid"/>
          </a:ln>
        </p:spPr>
      </p:sp>
      <p:sp>
        <p:nvSpPr>
          <p:cNvPr id="5" name="Text 3"/>
          <p:cNvSpPr/>
          <p:nvPr/>
        </p:nvSpPr>
        <p:spPr>
          <a:xfrm>
            <a:off x="777240" y="1920240"/>
            <a:ext cx="5029200" cy="41148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Arquitectura</a:t>
            </a:r>
            <a:endParaRPr lang="en-US" sz="1800" dirty="0"/>
          </a:p>
        </p:txBody>
      </p:sp>
      <p:sp>
        <p:nvSpPr>
          <p:cNvPr id="6" name="Shape 4"/>
          <p:cNvSpPr/>
          <p:nvPr/>
        </p:nvSpPr>
        <p:spPr>
          <a:xfrm>
            <a:off x="777240" y="2468880"/>
            <a:ext cx="5029200" cy="502920"/>
          </a:xfrm>
          <a:prstGeom prst="roundRect">
            <a:avLst>
              <a:gd name="adj" fmla="val 9091"/>
            </a:avLst>
          </a:prstGeom>
          <a:solidFill>
            <a:srgbClr val="CADCFC"/>
          </a:solidFill>
          <a:ln w="12700">
            <a:solidFill>
              <a:srgbClr val="CADCFC"/>
            </a:solidFill>
            <a:prstDash val="solid"/>
          </a:ln>
        </p:spPr>
      </p:sp>
      <p:sp>
        <p:nvSpPr>
          <p:cNvPr id="7" name="Text 5"/>
          <p:cNvSpPr/>
          <p:nvPr/>
        </p:nvSpPr>
        <p:spPr>
          <a:xfrm>
            <a:off x="777240" y="2468880"/>
            <a:ext cx="5029200" cy="50292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Texto canonico del paciente</a:t>
            </a:r>
            <a:endParaRPr lang="en-US" sz="1300" dirty="0"/>
          </a:p>
        </p:txBody>
      </p:sp>
      <p:sp>
        <p:nvSpPr>
          <p:cNvPr id="8" name="Shape 6"/>
          <p:cNvSpPr/>
          <p:nvPr/>
        </p:nvSpPr>
        <p:spPr>
          <a:xfrm>
            <a:off x="777240" y="3127248"/>
            <a:ext cx="5029200" cy="502920"/>
          </a:xfrm>
          <a:prstGeom prst="roundRect">
            <a:avLst>
              <a:gd name="adj" fmla="val 9091"/>
            </a:avLst>
          </a:prstGeom>
          <a:solidFill>
            <a:srgbClr val="CADCFC"/>
          </a:solidFill>
          <a:ln w="12700">
            <a:solidFill>
              <a:srgbClr val="CADCFC"/>
            </a:solidFill>
            <a:prstDash val="solid"/>
          </a:ln>
        </p:spPr>
      </p:sp>
      <p:sp>
        <p:nvSpPr>
          <p:cNvPr id="9" name="Text 7"/>
          <p:cNvSpPr/>
          <p:nvPr/>
        </p:nvSpPr>
        <p:spPr>
          <a:xfrm>
            <a:off x="777240" y="3127248"/>
            <a:ext cx="5029200" cy="50292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Tokenizer BioBERT</a:t>
            </a:r>
            <a:endParaRPr lang="en-US" sz="1300" dirty="0"/>
          </a:p>
        </p:txBody>
      </p:sp>
      <p:sp>
        <p:nvSpPr>
          <p:cNvPr id="10" name="Shape 8"/>
          <p:cNvSpPr/>
          <p:nvPr/>
        </p:nvSpPr>
        <p:spPr>
          <a:xfrm>
            <a:off x="777240" y="3785616"/>
            <a:ext cx="5029200" cy="502920"/>
          </a:xfrm>
          <a:prstGeom prst="roundRect">
            <a:avLst>
              <a:gd name="adj" fmla="val 9091"/>
            </a:avLst>
          </a:prstGeom>
          <a:solidFill>
            <a:srgbClr val="4361EE"/>
          </a:solidFill>
          <a:ln w="12700">
            <a:solidFill>
              <a:srgbClr val="4361EE"/>
            </a:solidFill>
            <a:prstDash val="solid"/>
          </a:ln>
        </p:spPr>
      </p:sp>
      <p:sp>
        <p:nvSpPr>
          <p:cNvPr id="11" name="Text 9"/>
          <p:cNvSpPr/>
          <p:nvPr/>
        </p:nvSpPr>
        <p:spPr>
          <a:xfrm>
            <a:off x="777240" y="3785616"/>
            <a:ext cx="502920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BioBERT base (110M params)</a:t>
            </a:r>
            <a:endParaRPr lang="en-US" sz="1300" dirty="0"/>
          </a:p>
        </p:txBody>
      </p:sp>
      <p:sp>
        <p:nvSpPr>
          <p:cNvPr id="12" name="Shape 10"/>
          <p:cNvSpPr/>
          <p:nvPr/>
        </p:nvSpPr>
        <p:spPr>
          <a:xfrm>
            <a:off x="777240" y="4443984"/>
            <a:ext cx="5029200" cy="502920"/>
          </a:xfrm>
          <a:prstGeom prst="roundRect">
            <a:avLst>
              <a:gd name="adj" fmla="val 9091"/>
            </a:avLst>
          </a:prstGeom>
          <a:solidFill>
            <a:srgbClr val="1E2761"/>
          </a:solidFill>
          <a:ln w="12700">
            <a:solidFill>
              <a:srgbClr val="1E2761"/>
            </a:solidFill>
            <a:prstDash val="solid"/>
          </a:ln>
        </p:spPr>
      </p:sp>
      <p:sp>
        <p:nvSpPr>
          <p:cNvPr id="13" name="Text 11"/>
          <p:cNvSpPr/>
          <p:nvPr/>
        </p:nvSpPr>
        <p:spPr>
          <a:xfrm>
            <a:off x="777240" y="4443984"/>
            <a:ext cx="502920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Cabeza lineal (97 salidas)</a:t>
            </a:r>
            <a:endParaRPr lang="en-US" sz="1300" dirty="0"/>
          </a:p>
        </p:txBody>
      </p:sp>
      <p:sp>
        <p:nvSpPr>
          <p:cNvPr id="14" name="Shape 12"/>
          <p:cNvSpPr/>
          <p:nvPr/>
        </p:nvSpPr>
        <p:spPr>
          <a:xfrm>
            <a:off x="777240" y="5102352"/>
            <a:ext cx="5029200" cy="502920"/>
          </a:xfrm>
          <a:prstGeom prst="roundRect">
            <a:avLst>
              <a:gd name="adj" fmla="val 9091"/>
            </a:avLst>
          </a:prstGeom>
          <a:solidFill>
            <a:srgbClr val="F76C5E"/>
          </a:solidFill>
          <a:ln w="12700">
            <a:solidFill>
              <a:srgbClr val="F76C5E"/>
            </a:solidFill>
            <a:prstDash val="solid"/>
          </a:ln>
        </p:spPr>
      </p:sp>
      <p:sp>
        <p:nvSpPr>
          <p:cNvPr id="15" name="Text 13"/>
          <p:cNvSpPr/>
          <p:nvPr/>
        </p:nvSpPr>
        <p:spPr>
          <a:xfrm>
            <a:off x="777240" y="5102352"/>
            <a:ext cx="502920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Sigmoide → 97 probabilidades</a:t>
            </a:r>
            <a:endParaRPr lang="en-US" sz="1300" dirty="0"/>
          </a:p>
        </p:txBody>
      </p:sp>
      <p:sp>
        <p:nvSpPr>
          <p:cNvPr id="16" name="Shape 14"/>
          <p:cNvSpPr/>
          <p:nvPr/>
        </p:nvSpPr>
        <p:spPr>
          <a:xfrm>
            <a:off x="6355080" y="1783080"/>
            <a:ext cx="5486400" cy="4297680"/>
          </a:xfrm>
          <a:prstGeom prst="roundRect">
            <a:avLst>
              <a:gd name="adj" fmla="val 3191"/>
            </a:avLst>
          </a:prstGeom>
          <a:solidFill>
            <a:srgbClr val="FFFFFF"/>
          </a:solidFill>
          <a:ln w="25400">
            <a:solidFill>
              <a:srgbClr val="1E2761"/>
            </a:solidFill>
            <a:prstDash val="solid"/>
          </a:ln>
        </p:spPr>
      </p:sp>
      <p:sp>
        <p:nvSpPr>
          <p:cNvPr id="17" name="Text 15"/>
          <p:cNvSpPr/>
          <p:nvPr/>
        </p:nvSpPr>
        <p:spPr>
          <a:xfrm>
            <a:off x="6583680" y="1920240"/>
            <a:ext cx="5029200" cy="41148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Configuracion de entrenamiento</a:t>
            </a:r>
            <a:endParaRPr lang="en-US" sz="1800" dirty="0"/>
          </a:p>
        </p:txBody>
      </p:sp>
      <p:sp>
        <p:nvSpPr>
          <p:cNvPr id="18" name="Text 16"/>
          <p:cNvSpPr/>
          <p:nvPr/>
        </p:nvSpPr>
        <p:spPr>
          <a:xfrm>
            <a:off x="6583680" y="2514600"/>
            <a:ext cx="1371600" cy="365760"/>
          </a:xfrm>
          <a:prstGeom prst="rect">
            <a:avLst/>
          </a:prstGeom>
          <a:noFill/>
          <a:ln/>
        </p:spPr>
        <p:txBody>
          <a:bodyPr wrap="square" lIns="0" tIns="0" rIns="0" bIns="0" rtlCol="0" anchor="ctr"/>
          <a:lstStyle/>
          <a:p>
            <a:pPr indent="0" marL="0">
              <a:buNone/>
            </a:pPr>
            <a:r>
              <a:rPr lang="en-US" sz="1200" b="1" dirty="0">
                <a:solidFill>
                  <a:srgbClr val="F76C5E"/>
                </a:solidFill>
                <a:latin typeface="Calibri" pitchFamily="34" charset="0"/>
                <a:ea typeface="Calibri" pitchFamily="34" charset="-122"/>
                <a:cs typeface="Calibri" pitchFamily="34" charset="-120"/>
              </a:rPr>
              <a:t>Loss</a:t>
            </a:r>
            <a:endParaRPr lang="en-US" sz="1200" dirty="0"/>
          </a:p>
        </p:txBody>
      </p:sp>
      <p:sp>
        <p:nvSpPr>
          <p:cNvPr id="19" name="Text 17"/>
          <p:cNvSpPr/>
          <p:nvPr/>
        </p:nvSpPr>
        <p:spPr>
          <a:xfrm>
            <a:off x="7955280" y="2514600"/>
            <a:ext cx="3749040" cy="45720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BCEWithLogitsLoss con pos_weight por etiqueta</a:t>
            </a:r>
            <a:endParaRPr lang="en-US" sz="1200" dirty="0"/>
          </a:p>
        </p:txBody>
      </p:sp>
      <p:sp>
        <p:nvSpPr>
          <p:cNvPr id="20" name="Text 18"/>
          <p:cNvSpPr/>
          <p:nvPr/>
        </p:nvSpPr>
        <p:spPr>
          <a:xfrm>
            <a:off x="6583680" y="3081528"/>
            <a:ext cx="1371600" cy="365760"/>
          </a:xfrm>
          <a:prstGeom prst="rect">
            <a:avLst/>
          </a:prstGeom>
          <a:noFill/>
          <a:ln/>
        </p:spPr>
        <p:txBody>
          <a:bodyPr wrap="square" lIns="0" tIns="0" rIns="0" bIns="0" rtlCol="0" anchor="ctr"/>
          <a:lstStyle/>
          <a:p>
            <a:pPr indent="0" marL="0">
              <a:buNone/>
            </a:pPr>
            <a:r>
              <a:rPr lang="en-US" sz="1200" b="1" dirty="0">
                <a:solidFill>
                  <a:srgbClr val="F76C5E"/>
                </a:solidFill>
                <a:latin typeface="Calibri" pitchFamily="34" charset="0"/>
                <a:ea typeface="Calibri" pitchFamily="34" charset="-122"/>
                <a:cs typeface="Calibri" pitchFamily="34" charset="-120"/>
              </a:rPr>
              <a:t>Optimizer</a:t>
            </a:r>
            <a:endParaRPr lang="en-US" sz="1200" dirty="0"/>
          </a:p>
        </p:txBody>
      </p:sp>
      <p:sp>
        <p:nvSpPr>
          <p:cNvPr id="21" name="Text 19"/>
          <p:cNvSpPr/>
          <p:nvPr/>
        </p:nvSpPr>
        <p:spPr>
          <a:xfrm>
            <a:off x="7955280" y="3081528"/>
            <a:ext cx="3749040" cy="45720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AdamW + linear warmup scheduler</a:t>
            </a:r>
            <a:endParaRPr lang="en-US" sz="1200" dirty="0"/>
          </a:p>
        </p:txBody>
      </p:sp>
      <p:sp>
        <p:nvSpPr>
          <p:cNvPr id="22" name="Text 20"/>
          <p:cNvSpPr/>
          <p:nvPr/>
        </p:nvSpPr>
        <p:spPr>
          <a:xfrm>
            <a:off x="6583680" y="3648456"/>
            <a:ext cx="1371600" cy="365760"/>
          </a:xfrm>
          <a:prstGeom prst="rect">
            <a:avLst/>
          </a:prstGeom>
          <a:noFill/>
          <a:ln/>
        </p:spPr>
        <p:txBody>
          <a:bodyPr wrap="square" lIns="0" tIns="0" rIns="0" bIns="0" rtlCol="0" anchor="ctr"/>
          <a:lstStyle/>
          <a:p>
            <a:pPr indent="0" marL="0">
              <a:buNone/>
            </a:pPr>
            <a:r>
              <a:rPr lang="en-US" sz="1200" b="1" dirty="0">
                <a:solidFill>
                  <a:srgbClr val="F76C5E"/>
                </a:solidFill>
                <a:latin typeface="Calibri" pitchFamily="34" charset="0"/>
                <a:ea typeface="Calibri" pitchFamily="34" charset="-122"/>
                <a:cs typeface="Calibri" pitchFamily="34" charset="-120"/>
              </a:rPr>
              <a:t>Epocas</a:t>
            </a:r>
            <a:endParaRPr lang="en-US" sz="1200" dirty="0"/>
          </a:p>
        </p:txBody>
      </p:sp>
      <p:sp>
        <p:nvSpPr>
          <p:cNvPr id="23" name="Text 21"/>
          <p:cNvSpPr/>
          <p:nvPr/>
        </p:nvSpPr>
        <p:spPr>
          <a:xfrm>
            <a:off x="7955280" y="3648456"/>
            <a:ext cx="3749040" cy="45720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15 totales, en tandas de 3 por corrida</a:t>
            </a:r>
            <a:endParaRPr lang="en-US" sz="1200" dirty="0"/>
          </a:p>
        </p:txBody>
      </p:sp>
      <p:sp>
        <p:nvSpPr>
          <p:cNvPr id="24" name="Text 22"/>
          <p:cNvSpPr/>
          <p:nvPr/>
        </p:nvSpPr>
        <p:spPr>
          <a:xfrm>
            <a:off x="6583680" y="4215384"/>
            <a:ext cx="1371600" cy="365760"/>
          </a:xfrm>
          <a:prstGeom prst="rect">
            <a:avLst/>
          </a:prstGeom>
          <a:noFill/>
          <a:ln/>
        </p:spPr>
        <p:txBody>
          <a:bodyPr wrap="square" lIns="0" tIns="0" rIns="0" bIns="0" rtlCol="0" anchor="ctr"/>
          <a:lstStyle/>
          <a:p>
            <a:pPr indent="0" marL="0">
              <a:buNone/>
            </a:pPr>
            <a:r>
              <a:rPr lang="en-US" sz="1200" b="1" dirty="0">
                <a:solidFill>
                  <a:srgbClr val="F76C5E"/>
                </a:solidFill>
                <a:latin typeface="Calibri" pitchFamily="34" charset="0"/>
                <a:ea typeface="Calibri" pitchFamily="34" charset="-122"/>
                <a:cs typeface="Calibri" pitchFamily="34" charset="-120"/>
              </a:rPr>
              <a:t>Batch</a:t>
            </a:r>
            <a:endParaRPr lang="en-US" sz="1200" dirty="0"/>
          </a:p>
        </p:txBody>
      </p:sp>
      <p:sp>
        <p:nvSpPr>
          <p:cNvPr id="25" name="Text 23"/>
          <p:cNvSpPr/>
          <p:nvPr/>
        </p:nvSpPr>
        <p:spPr>
          <a:xfrm>
            <a:off x="7955280" y="4215384"/>
            <a:ext cx="3749040" cy="45720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32 muestras (RTX 4070 Ti SUPER)</a:t>
            </a:r>
            <a:endParaRPr lang="en-US" sz="1200" dirty="0"/>
          </a:p>
        </p:txBody>
      </p:sp>
      <p:sp>
        <p:nvSpPr>
          <p:cNvPr id="26" name="Text 24"/>
          <p:cNvSpPr/>
          <p:nvPr/>
        </p:nvSpPr>
        <p:spPr>
          <a:xfrm>
            <a:off x="6583680" y="4782312"/>
            <a:ext cx="1371600" cy="365760"/>
          </a:xfrm>
          <a:prstGeom prst="rect">
            <a:avLst/>
          </a:prstGeom>
          <a:noFill/>
          <a:ln/>
        </p:spPr>
        <p:txBody>
          <a:bodyPr wrap="square" lIns="0" tIns="0" rIns="0" bIns="0" rtlCol="0" anchor="ctr"/>
          <a:lstStyle/>
          <a:p>
            <a:pPr indent="0" marL="0">
              <a:buNone/>
            </a:pPr>
            <a:r>
              <a:rPr lang="en-US" sz="1200" b="1" dirty="0">
                <a:solidFill>
                  <a:srgbClr val="F76C5E"/>
                </a:solidFill>
                <a:latin typeface="Calibri" pitchFamily="34" charset="0"/>
                <a:ea typeface="Calibri" pitchFamily="34" charset="-122"/>
                <a:cs typeface="Calibri" pitchFamily="34" charset="-120"/>
              </a:rPr>
              <a:t>Robustez</a:t>
            </a:r>
            <a:endParaRPr lang="en-US" sz="1200" dirty="0"/>
          </a:p>
        </p:txBody>
      </p:sp>
      <p:sp>
        <p:nvSpPr>
          <p:cNvPr id="27" name="Text 25"/>
          <p:cNvSpPr/>
          <p:nvPr/>
        </p:nvSpPr>
        <p:spPr>
          <a:xfrm>
            <a:off x="7955280" y="4782312"/>
            <a:ext cx="3749040" cy="45720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Checkpoint atomico tras cada epoca</a:t>
            </a:r>
            <a:endParaRPr lang="en-US" sz="1200" dirty="0"/>
          </a:p>
        </p:txBody>
      </p:sp>
      <p:sp>
        <p:nvSpPr>
          <p:cNvPr id="28" name="Text 26"/>
          <p:cNvSpPr/>
          <p:nvPr/>
        </p:nvSpPr>
        <p:spPr>
          <a:xfrm>
            <a:off x="6583680" y="5349240"/>
            <a:ext cx="1371600" cy="365760"/>
          </a:xfrm>
          <a:prstGeom prst="rect">
            <a:avLst/>
          </a:prstGeom>
          <a:noFill/>
          <a:ln/>
        </p:spPr>
        <p:txBody>
          <a:bodyPr wrap="square" lIns="0" tIns="0" rIns="0" bIns="0" rtlCol="0" anchor="ctr"/>
          <a:lstStyle/>
          <a:p>
            <a:pPr indent="0" marL="0">
              <a:buNone/>
            </a:pPr>
            <a:r>
              <a:rPr lang="en-US" sz="1200" b="1" dirty="0">
                <a:solidFill>
                  <a:srgbClr val="F76C5E"/>
                </a:solidFill>
                <a:latin typeface="Calibri" pitchFamily="34" charset="0"/>
                <a:ea typeface="Calibri" pitchFamily="34" charset="-122"/>
                <a:cs typeface="Calibri" pitchFamily="34" charset="-120"/>
              </a:rPr>
              <a:t>Seleccion</a:t>
            </a:r>
            <a:endParaRPr lang="en-US" sz="1200" dirty="0"/>
          </a:p>
        </p:txBody>
      </p:sp>
      <p:sp>
        <p:nvSpPr>
          <p:cNvPr id="29" name="Text 27"/>
          <p:cNvSpPr/>
          <p:nvPr/>
        </p:nvSpPr>
        <p:spPr>
          <a:xfrm>
            <a:off x="7955280" y="5349240"/>
            <a:ext cx="3749040" cy="45720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Mejor modelo segun F1 de validacion</a:t>
            </a:r>
            <a:endParaRPr lang="en-US" sz="1200" dirty="0"/>
          </a:p>
        </p:txBody>
      </p:sp>
      <p:sp>
        <p:nvSpPr>
          <p:cNvPr id="30" name="Text 28"/>
          <p:cNvSpPr/>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rgbClr val="6B7280"/>
                </a:solidFill>
              </a:rPr>
              <a:t>MTAA · farmApp · Defensa final</a:t>
            </a:r>
            <a:endParaRPr lang="en-US" sz="900" dirty="0"/>
          </a:p>
        </p:txBody>
      </p:sp>
      <p:sp>
        <p:nvSpPr>
          <p:cNvPr id="31" name="Text 29"/>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rPr>
              <a:t>9 / 16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B"/>
        </a:solidFill>
      </p:bgPr>
    </p:bg>
    <p:spTree>
      <p:nvGrpSpPr>
        <p:cNvPr id="1" name=""/>
        <p:cNvGrpSpPr/>
        <p:nvPr/>
      </p:nvGrpSpPr>
      <p:grpSpPr>
        <a:xfrm>
          <a:off x="0" y="0"/>
          <a:ext cx="0" cy="0"/>
          <a:chOff x="0" y="0"/>
          <a:chExt cx="0" cy="0"/>
        </a:xfrm>
      </p:grpSpPr>
      <p:sp>
        <p:nvSpPr>
          <p:cNvPr id="2" name="Text 0"/>
          <p:cNvSpPr/>
          <p:nvPr/>
        </p:nvSpPr>
        <p:spPr>
          <a:xfrm>
            <a:off x="457200" y="320040"/>
            <a:ext cx="11247120" cy="365760"/>
          </a:xfrm>
          <a:prstGeom prst="rect">
            <a:avLst/>
          </a:prstGeom>
          <a:noFill/>
          <a:ln/>
        </p:spPr>
        <p:txBody>
          <a:bodyPr wrap="square" lIns="0" tIns="0" rIns="0" bIns="0" rtlCol="0" anchor="ctr"/>
          <a:lstStyle/>
          <a:p>
            <a:pPr indent="0" marL="0">
              <a:buNone/>
            </a:pPr>
            <a:r>
              <a:rPr lang="en-US" sz="1100" b="1" spc="400" kern="0" dirty="0">
                <a:solidFill>
                  <a:srgbClr val="6B7280"/>
                </a:solidFill>
                <a:latin typeface="Calibri" pitchFamily="34" charset="0"/>
                <a:ea typeface="Calibri" pitchFamily="34" charset="-122"/>
                <a:cs typeface="Calibri" pitchFamily="34" charset="-120"/>
              </a:rPr>
              <a:t>09  ·  PIPELINE — ETAPA 6</a:t>
            </a:r>
            <a:endParaRPr lang="en-US" sz="1100" dirty="0"/>
          </a:p>
        </p:txBody>
      </p:sp>
      <p:sp>
        <p:nvSpPr>
          <p:cNvPr id="3" name="Text 1"/>
          <p:cNvSpPr/>
          <p:nvPr/>
        </p:nvSpPr>
        <p:spPr>
          <a:xfrm>
            <a:off x="457200" y="685800"/>
            <a:ext cx="11247120" cy="822960"/>
          </a:xfrm>
          <a:prstGeom prst="rect">
            <a:avLst/>
          </a:prstGeom>
          <a:noFill/>
          <a:ln/>
        </p:spPr>
        <p:txBody>
          <a:bodyPr wrap="square" lIns="0" tIns="0" rIns="0" bIns="0" rtlCol="0" anchor="ctr"/>
          <a:lstStyle/>
          <a:p>
            <a:pPr indent="0" marL="0">
              <a:buNone/>
            </a:pPr>
            <a:r>
              <a:rPr lang="en-US" sz="3600" b="1" dirty="0">
                <a:solidFill>
                  <a:srgbClr val="1A1A2E"/>
                </a:solidFill>
                <a:latin typeface="Cambria" pitchFamily="34" charset="0"/>
                <a:ea typeface="Cambria" pitchFamily="34" charset="-122"/>
                <a:cs typeface="Cambria" pitchFamily="34" charset="-120"/>
              </a:rPr>
              <a:t>Umbral optimo POR etiqueta (no 0.5 plano)</a:t>
            </a:r>
            <a:endParaRPr lang="en-US" sz="3600" dirty="0"/>
          </a:p>
        </p:txBody>
      </p:sp>
      <p:sp>
        <p:nvSpPr>
          <p:cNvPr id="4" name="Text 2"/>
          <p:cNvSpPr/>
          <p:nvPr/>
        </p:nvSpPr>
        <p:spPr>
          <a:xfrm>
            <a:off x="548640" y="1691640"/>
            <a:ext cx="11155680" cy="91440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El umbral 0.5 sobre la salida sigmoide es un default, no es optimo. Las etiquetas raras necesitan umbrales mas bajos para no desaparecer. Para cada una de las 97 etiquetas buscamos por grid el umbral que maximiza F1 sobre el conjunto de validacion.</a:t>
            </a:r>
            <a:endParaRPr lang="en-US" sz="1400" dirty="0"/>
          </a:p>
        </p:txBody>
      </p:sp>
      <p:sp>
        <p:nvSpPr>
          <p:cNvPr id="5" name="Shape 3"/>
          <p:cNvSpPr/>
          <p:nvPr/>
        </p:nvSpPr>
        <p:spPr>
          <a:xfrm>
            <a:off x="548640" y="2834640"/>
            <a:ext cx="11064240" cy="1234440"/>
          </a:xfrm>
          <a:prstGeom prst="roundRect">
            <a:avLst>
              <a:gd name="adj" fmla="val 7407"/>
            </a:avLst>
          </a:prstGeom>
          <a:solidFill>
            <a:srgbClr val="E5E7EB"/>
          </a:solidFill>
          <a:ln w="12700">
            <a:solidFill>
              <a:srgbClr val="6B7280"/>
            </a:solidFill>
            <a:prstDash val="solid"/>
          </a:ln>
        </p:spPr>
      </p:sp>
      <p:sp>
        <p:nvSpPr>
          <p:cNvPr id="6" name="Text 4"/>
          <p:cNvSpPr/>
          <p:nvPr/>
        </p:nvSpPr>
        <p:spPr>
          <a:xfrm>
            <a:off x="868680" y="2999232"/>
            <a:ext cx="10515600" cy="411480"/>
          </a:xfrm>
          <a:prstGeom prst="rect">
            <a:avLst/>
          </a:prstGeom>
          <a:noFill/>
          <a:ln/>
        </p:spPr>
        <p:txBody>
          <a:bodyPr wrap="square" lIns="0" tIns="0" rIns="0" bIns="0" rtlCol="0" anchor="ctr"/>
          <a:lstStyle/>
          <a:p>
            <a:pPr indent="0" marL="0">
              <a:buNone/>
            </a:pPr>
            <a:r>
              <a:rPr lang="en-US" sz="1700" b="1" dirty="0">
                <a:solidFill>
                  <a:srgbClr val="6B7280"/>
                </a:solidFill>
                <a:latin typeface="Cambria" pitchFamily="34" charset="0"/>
                <a:ea typeface="Cambria" pitchFamily="34" charset="-122"/>
                <a:cs typeface="Cambria" pitchFamily="34" charset="-120"/>
              </a:rPr>
              <a:t>Umbral plano = 0.5</a:t>
            </a:r>
            <a:endParaRPr lang="en-US" sz="1700" dirty="0"/>
          </a:p>
        </p:txBody>
      </p:sp>
      <p:sp>
        <p:nvSpPr>
          <p:cNvPr id="7" name="Text 5"/>
          <p:cNvSpPr/>
          <p:nvPr/>
        </p:nvSpPr>
        <p:spPr>
          <a:xfrm>
            <a:off x="868680" y="3474720"/>
            <a:ext cx="10515600" cy="45720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Etiqueta rara con prob promedio 0.22 → nunca se predice → F1 = 0</a:t>
            </a:r>
            <a:endParaRPr lang="en-US" sz="1300" dirty="0"/>
          </a:p>
        </p:txBody>
      </p:sp>
      <p:sp>
        <p:nvSpPr>
          <p:cNvPr id="8" name="Shape 6"/>
          <p:cNvSpPr/>
          <p:nvPr/>
        </p:nvSpPr>
        <p:spPr>
          <a:xfrm>
            <a:off x="548640" y="4297680"/>
            <a:ext cx="11064240" cy="1234440"/>
          </a:xfrm>
          <a:prstGeom prst="roundRect">
            <a:avLst>
              <a:gd name="adj" fmla="val 7407"/>
            </a:avLst>
          </a:prstGeom>
          <a:solidFill>
            <a:srgbClr val="FDE2DD"/>
          </a:solidFill>
          <a:ln w="12700">
            <a:solidFill>
              <a:srgbClr val="F76C5E"/>
            </a:solidFill>
            <a:prstDash val="solid"/>
          </a:ln>
        </p:spPr>
      </p:sp>
      <p:sp>
        <p:nvSpPr>
          <p:cNvPr id="9" name="Text 7"/>
          <p:cNvSpPr/>
          <p:nvPr/>
        </p:nvSpPr>
        <p:spPr>
          <a:xfrm>
            <a:off x="868680" y="4462272"/>
            <a:ext cx="10515600" cy="411480"/>
          </a:xfrm>
          <a:prstGeom prst="rect">
            <a:avLst/>
          </a:prstGeom>
          <a:noFill/>
          <a:ln/>
        </p:spPr>
        <p:txBody>
          <a:bodyPr wrap="square" lIns="0" tIns="0" rIns="0" bIns="0" rtlCol="0" anchor="ctr"/>
          <a:lstStyle/>
          <a:p>
            <a:pPr indent="0" marL="0">
              <a:buNone/>
            </a:pPr>
            <a:r>
              <a:rPr lang="en-US" sz="1700" b="1" dirty="0">
                <a:solidFill>
                  <a:srgbClr val="F76C5E"/>
                </a:solidFill>
                <a:latin typeface="Cambria" pitchFamily="34" charset="0"/>
                <a:ea typeface="Cambria" pitchFamily="34" charset="-122"/>
                <a:cs typeface="Cambria" pitchFamily="34" charset="-120"/>
              </a:rPr>
              <a:t>Umbral aprendido por etiqueta</a:t>
            </a:r>
            <a:endParaRPr lang="en-US" sz="1700" dirty="0"/>
          </a:p>
        </p:txBody>
      </p:sp>
      <p:sp>
        <p:nvSpPr>
          <p:cNvPr id="10" name="Text 8"/>
          <p:cNvSpPr/>
          <p:nvPr/>
        </p:nvSpPr>
        <p:spPr>
          <a:xfrm>
            <a:off x="868680" y="4937760"/>
            <a:ext cx="10515600" cy="45720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Misma etiqueta con umbral 0.15 → ahora si se predice → F1 sube</a:t>
            </a:r>
            <a:endParaRPr lang="en-US" sz="1300" dirty="0"/>
          </a:p>
        </p:txBody>
      </p:sp>
      <p:sp>
        <p:nvSpPr>
          <p:cNvPr id="11" name="Text 9"/>
          <p:cNvSpPr/>
          <p:nvPr/>
        </p:nvSpPr>
        <p:spPr>
          <a:xfrm>
            <a:off x="548640" y="5989320"/>
            <a:ext cx="11155680" cy="365760"/>
          </a:xfrm>
          <a:prstGeom prst="rect">
            <a:avLst/>
          </a:prstGeom>
          <a:noFill/>
          <a:ln/>
        </p:spPr>
        <p:txBody>
          <a:bodyPr wrap="square" lIns="0" tIns="0" rIns="0" bIns="0" rtlCol="0" anchor="ctr"/>
          <a:lstStyle/>
          <a:p>
            <a:pPr indent="0" marL="0">
              <a:buNone/>
            </a:pPr>
            <a:r>
              <a:rPr lang="en-US" sz="1200" b="1" i="1" dirty="0">
                <a:solidFill>
                  <a:srgbClr val="1E2761"/>
                </a:solidFill>
                <a:latin typeface="Calibri" pitchFamily="34" charset="0"/>
                <a:ea typeface="Calibri" pitchFamily="34" charset="-122"/>
                <a:cs typeface="Calibri" pitchFamily="34" charset="-120"/>
              </a:rPr>
              <a:t>Concepto de Unidad 3: ajuste del clasificador via curva precision-recall.</a:t>
            </a:r>
            <a:endParaRPr lang="en-US" sz="1200" dirty="0"/>
          </a:p>
        </p:txBody>
      </p:sp>
      <p:sp>
        <p:nvSpPr>
          <p:cNvPr id="12" name="Text 10"/>
          <p:cNvSpPr/>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rgbClr val="6B7280"/>
                </a:solidFill>
              </a:rPr>
              <a:t>MTAA · farmApp · Defensa final</a:t>
            </a:r>
            <a:endParaRPr lang="en-US" sz="900" dirty="0"/>
          </a:p>
        </p:txBody>
      </p:sp>
      <p:sp>
        <p:nvSpPr>
          <p:cNvPr id="13" name="Text 11"/>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rPr>
              <a:t>10 / 16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B"/>
        </a:solidFill>
      </p:bgPr>
    </p:bg>
    <p:spTree>
      <p:nvGrpSpPr>
        <p:cNvPr id="1" name=""/>
        <p:cNvGrpSpPr/>
        <p:nvPr/>
      </p:nvGrpSpPr>
      <p:grpSpPr>
        <a:xfrm>
          <a:off x="0" y="0"/>
          <a:ext cx="0" cy="0"/>
          <a:chOff x="0" y="0"/>
          <a:chExt cx="0" cy="0"/>
        </a:xfrm>
      </p:grpSpPr>
      <p:sp>
        <p:nvSpPr>
          <p:cNvPr id="2" name="Text 0"/>
          <p:cNvSpPr/>
          <p:nvPr/>
        </p:nvSpPr>
        <p:spPr>
          <a:xfrm>
            <a:off x="457200" y="320040"/>
            <a:ext cx="11247120" cy="365760"/>
          </a:xfrm>
          <a:prstGeom prst="rect">
            <a:avLst/>
          </a:prstGeom>
          <a:noFill/>
          <a:ln/>
        </p:spPr>
        <p:txBody>
          <a:bodyPr wrap="square" lIns="0" tIns="0" rIns="0" bIns="0" rtlCol="0" anchor="ctr"/>
          <a:lstStyle/>
          <a:p>
            <a:pPr indent="0" marL="0">
              <a:buNone/>
            </a:pPr>
            <a:r>
              <a:rPr lang="en-US" sz="1100" b="1" spc="400" kern="0" dirty="0">
                <a:solidFill>
                  <a:srgbClr val="6B7280"/>
                </a:solidFill>
                <a:latin typeface="Calibri" pitchFamily="34" charset="0"/>
                <a:ea typeface="Calibri" pitchFamily="34" charset="-122"/>
                <a:cs typeface="Calibri" pitchFamily="34" charset="-120"/>
              </a:rPr>
              <a:t>10  ·  EVALUACION</a:t>
            </a:r>
            <a:endParaRPr lang="en-US" sz="1100" dirty="0"/>
          </a:p>
        </p:txBody>
      </p:sp>
      <p:sp>
        <p:nvSpPr>
          <p:cNvPr id="3" name="Text 1"/>
          <p:cNvSpPr/>
          <p:nvPr/>
        </p:nvSpPr>
        <p:spPr>
          <a:xfrm>
            <a:off x="457200" y="685800"/>
            <a:ext cx="11247120" cy="822960"/>
          </a:xfrm>
          <a:prstGeom prst="rect">
            <a:avLst/>
          </a:prstGeom>
          <a:noFill/>
          <a:ln/>
        </p:spPr>
        <p:txBody>
          <a:bodyPr wrap="square" lIns="0" tIns="0" rIns="0" bIns="0" rtlCol="0" anchor="ctr"/>
          <a:lstStyle/>
          <a:p>
            <a:pPr indent="0" marL="0">
              <a:buNone/>
            </a:pPr>
            <a:r>
              <a:rPr lang="en-US" sz="3600" b="1" dirty="0">
                <a:solidFill>
                  <a:srgbClr val="1A1A2E"/>
                </a:solidFill>
                <a:latin typeface="Cambria" pitchFamily="34" charset="0"/>
                <a:ea typeface="Cambria" pitchFamily="34" charset="-122"/>
                <a:cs typeface="Cambria" pitchFamily="34" charset="-120"/>
              </a:rPr>
              <a:t>Como medimos si el modelo funciona</a:t>
            </a:r>
            <a:endParaRPr lang="en-US" sz="3600" dirty="0"/>
          </a:p>
        </p:txBody>
      </p:sp>
      <p:sp>
        <p:nvSpPr>
          <p:cNvPr id="4" name="Text 2"/>
          <p:cNvSpPr/>
          <p:nvPr/>
        </p:nvSpPr>
        <p:spPr>
          <a:xfrm>
            <a:off x="548640" y="1783080"/>
            <a:ext cx="11155680" cy="365760"/>
          </a:xfrm>
          <a:prstGeom prst="rect">
            <a:avLst/>
          </a:prstGeom>
          <a:noFill/>
          <a:ln/>
        </p:spPr>
        <p:txBody>
          <a:bodyPr wrap="square" lIns="0" tIns="0" rIns="0" bIns="0" rtlCol="0" anchor="ctr"/>
          <a:lstStyle/>
          <a:p>
            <a:pPr indent="0" marL="0">
              <a:buNone/>
            </a:pPr>
            <a:r>
              <a:rPr lang="en-US" sz="1400" b="1" dirty="0">
                <a:solidFill>
                  <a:srgbClr val="1A1A2E"/>
                </a:solidFill>
                <a:latin typeface="Calibri" pitchFamily="34" charset="0"/>
                <a:ea typeface="Calibri" pitchFamily="34" charset="-122"/>
                <a:cs typeface="Calibri" pitchFamily="34" charset="-120"/>
              </a:rPr>
              <a:t>Split 70 / 30 con semilla fija — los mismos casos para todos los modelos</a:t>
            </a:r>
            <a:endParaRPr lang="en-US" sz="1400" dirty="0"/>
          </a:p>
        </p:txBody>
      </p:sp>
      <p:sp>
        <p:nvSpPr>
          <p:cNvPr id="5" name="Shape 3"/>
          <p:cNvSpPr/>
          <p:nvPr/>
        </p:nvSpPr>
        <p:spPr>
          <a:xfrm>
            <a:off x="548640" y="2286000"/>
            <a:ext cx="7744968" cy="548640"/>
          </a:xfrm>
          <a:prstGeom prst="rect">
            <a:avLst/>
          </a:prstGeom>
          <a:solidFill>
            <a:srgbClr val="4361EE"/>
          </a:solidFill>
          <a:ln w="12700">
            <a:solidFill>
              <a:srgbClr val="4361EE"/>
            </a:solidFill>
            <a:prstDash val="solid"/>
          </a:ln>
        </p:spPr>
      </p:sp>
      <p:sp>
        <p:nvSpPr>
          <p:cNvPr id="6" name="Text 4"/>
          <p:cNvSpPr/>
          <p:nvPr/>
        </p:nvSpPr>
        <p:spPr>
          <a:xfrm>
            <a:off x="548640" y="2286000"/>
            <a:ext cx="7744968"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Entrenamiento  ·  38.500 casos  ·  70%</a:t>
            </a:r>
            <a:endParaRPr lang="en-US" sz="1300" dirty="0"/>
          </a:p>
        </p:txBody>
      </p:sp>
      <p:sp>
        <p:nvSpPr>
          <p:cNvPr id="7" name="Shape 5"/>
          <p:cNvSpPr/>
          <p:nvPr/>
        </p:nvSpPr>
        <p:spPr>
          <a:xfrm>
            <a:off x="8293608" y="2286000"/>
            <a:ext cx="3319272" cy="548640"/>
          </a:xfrm>
          <a:prstGeom prst="rect">
            <a:avLst/>
          </a:prstGeom>
          <a:solidFill>
            <a:srgbClr val="F76C5E"/>
          </a:solidFill>
          <a:ln w="12700">
            <a:solidFill>
              <a:srgbClr val="F76C5E"/>
            </a:solidFill>
            <a:prstDash val="solid"/>
          </a:ln>
        </p:spPr>
      </p:sp>
      <p:sp>
        <p:nvSpPr>
          <p:cNvPr id="8" name="Text 6"/>
          <p:cNvSpPr/>
          <p:nvPr/>
        </p:nvSpPr>
        <p:spPr>
          <a:xfrm>
            <a:off x="8293608" y="2286000"/>
            <a:ext cx="3319272"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Test  ·  16.500  ·  30%</a:t>
            </a:r>
            <a:endParaRPr lang="en-US" sz="1300" dirty="0"/>
          </a:p>
        </p:txBody>
      </p:sp>
      <p:sp>
        <p:nvSpPr>
          <p:cNvPr id="9" name="Shape 7"/>
          <p:cNvSpPr/>
          <p:nvPr/>
        </p:nvSpPr>
        <p:spPr>
          <a:xfrm>
            <a:off x="548640" y="3291840"/>
            <a:ext cx="5486400" cy="2834640"/>
          </a:xfrm>
          <a:prstGeom prst="roundRect">
            <a:avLst>
              <a:gd name="adj" fmla="val 3226"/>
            </a:avLst>
          </a:prstGeom>
          <a:solidFill>
            <a:srgbClr val="FFFFFF"/>
          </a:solidFill>
          <a:ln w="19050">
            <a:solidFill>
              <a:srgbClr val="4361EE"/>
            </a:solidFill>
            <a:prstDash val="solid"/>
          </a:ln>
        </p:spPr>
      </p:sp>
      <p:sp>
        <p:nvSpPr>
          <p:cNvPr id="10" name="Text 8"/>
          <p:cNvSpPr/>
          <p:nvPr/>
        </p:nvSpPr>
        <p:spPr>
          <a:xfrm>
            <a:off x="777240" y="3429000"/>
            <a:ext cx="5029200" cy="411480"/>
          </a:xfrm>
          <a:prstGeom prst="rect">
            <a:avLst/>
          </a:prstGeom>
          <a:noFill/>
          <a:ln/>
        </p:spPr>
        <p:txBody>
          <a:bodyPr wrap="square" lIns="0" tIns="0" rIns="0" bIns="0" rtlCol="0" anchor="ctr"/>
          <a:lstStyle/>
          <a:p>
            <a:pPr indent="0" marL="0">
              <a:buNone/>
            </a:pPr>
            <a:r>
              <a:rPr lang="en-US" sz="1600" b="1" dirty="0">
                <a:solidFill>
                  <a:srgbClr val="4361EE"/>
                </a:solidFill>
                <a:latin typeface="Cambria" pitchFamily="34" charset="0"/>
                <a:ea typeface="Cambria" pitchFamily="34" charset="-122"/>
                <a:cs typeface="Cambria" pitchFamily="34" charset="-120"/>
              </a:rPr>
              <a:t>Validacion interna (FAERS test)</a:t>
            </a:r>
            <a:endParaRPr lang="en-US" sz="1600" dirty="0"/>
          </a:p>
        </p:txBody>
      </p:sp>
      <p:sp>
        <p:nvSpPr>
          <p:cNvPr id="11" name="Text 9"/>
          <p:cNvSpPr/>
          <p:nvPr/>
        </p:nvSpPr>
        <p:spPr>
          <a:xfrm>
            <a:off x="777240" y="3931920"/>
            <a:ext cx="5029200" cy="2011680"/>
          </a:xfrm>
          <a:prstGeom prst="rect">
            <a:avLst/>
          </a:prstGeom>
          <a:noFill/>
          <a:ln/>
        </p:spPr>
        <p:txBody>
          <a:bodyPr wrap="square" rtlCol="0" anchor="ctr"/>
          <a:lstStyle/>
          <a:p>
            <a:pPr marL="342900" indent="-342900">
              <a:spcAft>
                <a:spcPts val="500"/>
              </a:spcAft>
              <a:buSzPct val="100000"/>
              <a:buChar char="•"/>
            </a:pPr>
            <a:r>
              <a:rPr lang="en-US" sz="1200" dirty="0">
                <a:solidFill>
                  <a:srgbClr val="1A1A2E"/>
                </a:solidFill>
                <a:latin typeface="Calibri" pitchFamily="34" charset="0"/>
                <a:ea typeface="Calibri" pitchFamily="34" charset="-122"/>
                <a:cs typeface="Calibri" pitchFamily="34" charset="-120"/>
              </a:rPr>
              <a:t>F1 macro / micro / samples</a:t>
            </a:r>
            <a:endParaRPr lang="en-US" sz="1200" dirty="0"/>
          </a:p>
          <a:p>
            <a:pPr marL="342900" indent="-342900">
              <a:spcAft>
                <a:spcPts val="500"/>
              </a:spcAft>
              <a:buSzPct val="100000"/>
              <a:buChar char="•"/>
            </a:pPr>
            <a:r>
              <a:rPr lang="en-US" sz="1200" dirty="0">
                <a:solidFill>
                  <a:srgbClr val="1A1A2E"/>
                </a:solidFill>
                <a:latin typeface="Calibri" pitchFamily="34" charset="0"/>
                <a:ea typeface="Calibri" pitchFamily="34" charset="-122"/>
                <a:cs typeface="Calibri" pitchFamily="34" charset="-120"/>
              </a:rPr>
              <a:t>Precision y recall por etiqueta</a:t>
            </a:r>
            <a:endParaRPr lang="en-US" sz="1200" dirty="0"/>
          </a:p>
          <a:p>
            <a:pPr marL="342900" indent="-342900">
              <a:spcAft>
                <a:spcPts val="500"/>
              </a:spcAft>
              <a:buSzPct val="100000"/>
              <a:buChar char="•"/>
            </a:pPr>
            <a:r>
              <a:rPr lang="en-US" sz="1200" dirty="0">
                <a:solidFill>
                  <a:srgbClr val="1A1A2E"/>
                </a:solidFill>
                <a:latin typeface="Calibri" pitchFamily="34" charset="0"/>
                <a:ea typeface="Calibri" pitchFamily="34" charset="-122"/>
                <a:cs typeface="Calibri" pitchFamily="34" charset="-120"/>
              </a:rPr>
              <a:t>Conjunto que el modelo nunca vio</a:t>
            </a:r>
            <a:endParaRPr lang="en-US" sz="1200" dirty="0"/>
          </a:p>
          <a:p>
            <a:pPr marL="342900" indent="-342900">
              <a:spcAft>
                <a:spcPts val="500"/>
              </a:spcAft>
              <a:buSzPct val="100000"/>
              <a:buChar char="•"/>
            </a:pPr>
            <a:r>
              <a:rPr lang="en-US" sz="1200" dirty="0">
                <a:solidFill>
                  <a:srgbClr val="1A1A2E"/>
                </a:solidFill>
                <a:latin typeface="Calibri" pitchFamily="34" charset="0"/>
                <a:ea typeface="Calibri" pitchFamily="34" charset="-122"/>
                <a:cs typeface="Calibri" pitchFamily="34" charset="-120"/>
              </a:rPr>
              <a:t>Misma fuente que el entrenamiento (FAERS)</a:t>
            </a:r>
            <a:endParaRPr lang="en-US" sz="1200" dirty="0"/>
          </a:p>
        </p:txBody>
      </p:sp>
      <p:sp>
        <p:nvSpPr>
          <p:cNvPr id="12" name="Shape 10"/>
          <p:cNvSpPr/>
          <p:nvPr/>
        </p:nvSpPr>
        <p:spPr>
          <a:xfrm>
            <a:off x="6355080" y="3291840"/>
            <a:ext cx="5486400" cy="2834640"/>
          </a:xfrm>
          <a:prstGeom prst="roundRect">
            <a:avLst>
              <a:gd name="adj" fmla="val 3226"/>
            </a:avLst>
          </a:prstGeom>
          <a:solidFill>
            <a:srgbClr val="FFFFFF"/>
          </a:solidFill>
          <a:ln w="19050">
            <a:solidFill>
              <a:srgbClr val="F76C5E"/>
            </a:solidFill>
            <a:prstDash val="solid"/>
          </a:ln>
        </p:spPr>
      </p:sp>
      <p:sp>
        <p:nvSpPr>
          <p:cNvPr id="13" name="Text 11"/>
          <p:cNvSpPr/>
          <p:nvPr/>
        </p:nvSpPr>
        <p:spPr>
          <a:xfrm>
            <a:off x="6583680" y="3429000"/>
            <a:ext cx="5029200" cy="411480"/>
          </a:xfrm>
          <a:prstGeom prst="rect">
            <a:avLst/>
          </a:prstGeom>
          <a:noFill/>
          <a:ln/>
        </p:spPr>
        <p:txBody>
          <a:bodyPr wrap="square" lIns="0" tIns="0" rIns="0" bIns="0" rtlCol="0" anchor="ctr"/>
          <a:lstStyle/>
          <a:p>
            <a:pPr indent="0" marL="0">
              <a:buNone/>
            </a:pPr>
            <a:r>
              <a:rPr lang="en-US" sz="1600" b="1" dirty="0">
                <a:solidFill>
                  <a:srgbClr val="F76C5E"/>
                </a:solidFill>
                <a:latin typeface="Cambria" pitchFamily="34" charset="0"/>
                <a:ea typeface="Cambria" pitchFamily="34" charset="-122"/>
                <a:cs typeface="Cambria" pitchFamily="34" charset="-120"/>
              </a:rPr>
              <a:t>Validacion externa (SIDER 4.1)</a:t>
            </a:r>
            <a:endParaRPr lang="en-US" sz="1600" dirty="0"/>
          </a:p>
        </p:txBody>
      </p:sp>
      <p:sp>
        <p:nvSpPr>
          <p:cNvPr id="14" name="Text 12"/>
          <p:cNvSpPr/>
          <p:nvPr/>
        </p:nvSpPr>
        <p:spPr>
          <a:xfrm>
            <a:off x="6583680" y="3931920"/>
            <a:ext cx="5029200" cy="2011680"/>
          </a:xfrm>
          <a:prstGeom prst="rect">
            <a:avLst/>
          </a:prstGeom>
          <a:noFill/>
          <a:ln/>
        </p:spPr>
        <p:txBody>
          <a:bodyPr wrap="square" rtlCol="0" anchor="ctr"/>
          <a:lstStyle/>
          <a:p>
            <a:pPr marL="342900" indent="-342900">
              <a:spcAft>
                <a:spcPts val="500"/>
              </a:spcAft>
              <a:buSzPct val="100000"/>
              <a:buChar char="•"/>
            </a:pPr>
            <a:r>
              <a:rPr lang="en-US" sz="1200" dirty="0">
                <a:solidFill>
                  <a:srgbClr val="1A1A2E"/>
                </a:solidFill>
                <a:latin typeface="Calibri" pitchFamily="34" charset="0"/>
                <a:ea typeface="Calibri" pitchFamily="34" charset="-122"/>
                <a:cs typeface="Calibri" pitchFamily="34" charset="-120"/>
              </a:rPr>
              <a:t>Base independiente curada desde prospectos</a:t>
            </a:r>
            <a:endParaRPr lang="en-US" sz="1200" dirty="0"/>
          </a:p>
          <a:p>
            <a:pPr marL="342900" indent="-342900">
              <a:spcAft>
                <a:spcPts val="500"/>
              </a:spcAft>
              <a:buSzPct val="100000"/>
              <a:buChar char="•"/>
            </a:pPr>
            <a:r>
              <a:rPr lang="en-US" sz="1200" dirty="0">
                <a:solidFill>
                  <a:srgbClr val="1A1A2E"/>
                </a:solidFill>
                <a:latin typeface="Calibri" pitchFamily="34" charset="0"/>
                <a:ea typeface="Calibri" pitchFamily="34" charset="-122"/>
                <a:cs typeface="Calibri" pitchFamily="34" charset="-120"/>
              </a:rPr>
              <a:t>Detecta sesgos compartidos entre train y test</a:t>
            </a:r>
            <a:endParaRPr lang="en-US" sz="1200" dirty="0"/>
          </a:p>
          <a:p>
            <a:pPr marL="342900" indent="-342900">
              <a:spcAft>
                <a:spcPts val="500"/>
              </a:spcAft>
              <a:buSzPct val="100000"/>
              <a:buChar char="•"/>
            </a:pPr>
            <a:r>
              <a:rPr lang="en-US" sz="1200" dirty="0">
                <a:solidFill>
                  <a:srgbClr val="1A1A2E"/>
                </a:solidFill>
                <a:latin typeface="Calibri" pitchFamily="34" charset="0"/>
                <a:ea typeface="Calibri" pitchFamily="34" charset="-122"/>
                <a:cs typeface="Calibri" pitchFamily="34" charset="-120"/>
              </a:rPr>
              <a:t>Compara fármaco a fármaco</a:t>
            </a:r>
            <a:endParaRPr lang="en-US" sz="1200" dirty="0"/>
          </a:p>
          <a:p>
            <a:pPr marL="342900" indent="-342900">
              <a:spcAft>
                <a:spcPts val="500"/>
              </a:spcAft>
              <a:buSzPct val="100000"/>
              <a:buChar char="•"/>
            </a:pPr>
            <a:r>
              <a:rPr lang="en-US" sz="1200" dirty="0">
                <a:solidFill>
                  <a:srgbClr val="1A1A2E"/>
                </a:solidFill>
                <a:latin typeface="Calibri" pitchFamily="34" charset="0"/>
                <a:ea typeface="Calibri" pitchFamily="34" charset="-122"/>
                <a:cs typeface="Calibri" pitchFamily="34" charset="-120"/>
              </a:rPr>
              <a:t>Refuerza la honestidad academica del resultado</a:t>
            </a:r>
            <a:endParaRPr lang="en-US" sz="1200" dirty="0"/>
          </a:p>
        </p:txBody>
      </p:sp>
      <p:sp>
        <p:nvSpPr>
          <p:cNvPr id="15" name="Text 13"/>
          <p:cNvSpPr/>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rgbClr val="6B7280"/>
                </a:solidFill>
              </a:rPr>
              <a:t>MTAA · farmApp · Defensa final</a:t>
            </a:r>
            <a:endParaRPr lang="en-US" sz="900" dirty="0"/>
          </a:p>
        </p:txBody>
      </p:sp>
      <p:sp>
        <p:nvSpPr>
          <p:cNvPr id="16" name="Text 14"/>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rPr>
              <a:t>11 / 16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B"/>
        </a:solidFill>
      </p:bgPr>
    </p:bg>
    <p:spTree>
      <p:nvGrpSpPr>
        <p:cNvPr id="1" name=""/>
        <p:cNvGrpSpPr/>
        <p:nvPr/>
      </p:nvGrpSpPr>
      <p:grpSpPr>
        <a:xfrm>
          <a:off x="0" y="0"/>
          <a:ext cx="0" cy="0"/>
          <a:chOff x="0" y="0"/>
          <a:chExt cx="0" cy="0"/>
        </a:xfrm>
      </p:grpSpPr>
      <p:sp>
        <p:nvSpPr>
          <p:cNvPr id="2" name="Text 0"/>
          <p:cNvSpPr/>
          <p:nvPr/>
        </p:nvSpPr>
        <p:spPr>
          <a:xfrm>
            <a:off x="457200" y="320040"/>
            <a:ext cx="11247120" cy="365760"/>
          </a:xfrm>
          <a:prstGeom prst="rect">
            <a:avLst/>
          </a:prstGeom>
          <a:noFill/>
          <a:ln/>
        </p:spPr>
        <p:txBody>
          <a:bodyPr wrap="square" lIns="0" tIns="0" rIns="0" bIns="0" rtlCol="0" anchor="ctr"/>
          <a:lstStyle/>
          <a:p>
            <a:pPr indent="0" marL="0">
              <a:buNone/>
            </a:pPr>
            <a:r>
              <a:rPr lang="en-US" sz="1100" b="1" spc="400" kern="0" dirty="0">
                <a:solidFill>
                  <a:srgbClr val="6B7280"/>
                </a:solidFill>
                <a:latin typeface="Calibri" pitchFamily="34" charset="0"/>
                <a:ea typeface="Calibri" pitchFamily="34" charset="-122"/>
                <a:cs typeface="Calibri" pitchFamily="34" charset="-120"/>
              </a:rPr>
              <a:t>11  ·  RESULTADOS</a:t>
            </a:r>
            <a:endParaRPr lang="en-US" sz="1100" dirty="0"/>
          </a:p>
        </p:txBody>
      </p:sp>
      <p:sp>
        <p:nvSpPr>
          <p:cNvPr id="3" name="Text 1"/>
          <p:cNvSpPr/>
          <p:nvPr/>
        </p:nvSpPr>
        <p:spPr>
          <a:xfrm>
            <a:off x="457200" y="685800"/>
            <a:ext cx="11247120" cy="822960"/>
          </a:xfrm>
          <a:prstGeom prst="rect">
            <a:avLst/>
          </a:prstGeom>
          <a:noFill/>
          <a:ln/>
        </p:spPr>
        <p:txBody>
          <a:bodyPr wrap="square" lIns="0" tIns="0" rIns="0" bIns="0" rtlCol="0" anchor="ctr"/>
          <a:lstStyle/>
          <a:p>
            <a:pPr indent="0" marL="0">
              <a:buNone/>
            </a:pPr>
            <a:r>
              <a:rPr lang="en-US" sz="3600" b="1" dirty="0">
                <a:solidFill>
                  <a:srgbClr val="1A1A2E"/>
                </a:solidFill>
                <a:latin typeface="Cambria" pitchFamily="34" charset="0"/>
                <a:ea typeface="Cambria" pitchFamily="34" charset="-122"/>
                <a:cs typeface="Cambria" pitchFamily="34" charset="-120"/>
              </a:rPr>
              <a:t>Metricas finales sobre test 30%</a:t>
            </a:r>
            <a:endParaRPr lang="en-US" sz="3600" dirty="0"/>
          </a:p>
        </p:txBody>
      </p:sp>
      <p:sp>
        <p:nvSpPr>
          <p:cNvPr id="4" name="Shape 2"/>
          <p:cNvSpPr/>
          <p:nvPr/>
        </p:nvSpPr>
        <p:spPr>
          <a:xfrm>
            <a:off x="548640" y="1783080"/>
            <a:ext cx="2606040" cy="1508760"/>
          </a:xfrm>
          <a:prstGeom prst="roundRect">
            <a:avLst>
              <a:gd name="adj" fmla="val 6061"/>
            </a:avLst>
          </a:prstGeom>
          <a:solidFill>
            <a:srgbClr val="FFFFFF"/>
          </a:solidFill>
          <a:ln w="12700">
            <a:solidFill>
              <a:srgbClr val="E5E7EB"/>
            </a:solidFill>
            <a:prstDash val="solid"/>
          </a:ln>
        </p:spPr>
      </p:sp>
      <p:sp>
        <p:nvSpPr>
          <p:cNvPr id="5" name="Text 3"/>
          <p:cNvSpPr/>
          <p:nvPr/>
        </p:nvSpPr>
        <p:spPr>
          <a:xfrm>
            <a:off x="548640" y="1828800"/>
            <a:ext cx="2606040" cy="868680"/>
          </a:xfrm>
          <a:prstGeom prst="rect">
            <a:avLst/>
          </a:prstGeom>
          <a:noFill/>
          <a:ln/>
        </p:spPr>
        <p:txBody>
          <a:bodyPr wrap="square" lIns="0" tIns="0" rIns="0" bIns="0" rtlCol="0" anchor="ctr"/>
          <a:lstStyle/>
          <a:p>
            <a:pPr algn="ctr" indent="0" marL="0">
              <a:buNone/>
            </a:pPr>
            <a:r>
              <a:rPr lang="en-US" sz="4800" b="1" dirty="0">
                <a:solidFill>
                  <a:srgbClr val="4361EE"/>
                </a:solidFill>
                <a:latin typeface="Cambria" pitchFamily="34" charset="0"/>
                <a:ea typeface="Cambria" pitchFamily="34" charset="-122"/>
                <a:cs typeface="Cambria" pitchFamily="34" charset="-120"/>
              </a:rPr>
              <a:t>0.128</a:t>
            </a:r>
            <a:endParaRPr lang="en-US" sz="4800" dirty="0"/>
          </a:p>
        </p:txBody>
      </p:sp>
      <p:sp>
        <p:nvSpPr>
          <p:cNvPr id="6" name="Text 4"/>
          <p:cNvSpPr/>
          <p:nvPr/>
        </p:nvSpPr>
        <p:spPr>
          <a:xfrm>
            <a:off x="548640" y="2743200"/>
            <a:ext cx="2606040" cy="457200"/>
          </a:xfrm>
          <a:prstGeom prst="rect">
            <a:avLst/>
          </a:prstGeom>
          <a:noFill/>
          <a:ln/>
        </p:spPr>
        <p:txBody>
          <a:bodyPr wrap="square" lIns="0" tIns="0" rIns="0" bIns="0" rtlCol="0" anchor="ctr"/>
          <a:lstStyle/>
          <a:p>
            <a:pPr algn="ctr" indent="0" marL="0">
              <a:buNone/>
            </a:pPr>
            <a:r>
              <a:rPr lang="en-US" sz="1400" dirty="0">
                <a:solidFill>
                  <a:srgbClr val="6B7280"/>
                </a:solidFill>
                <a:latin typeface="Calibri" pitchFamily="34" charset="0"/>
                <a:ea typeface="Calibri" pitchFamily="34" charset="-122"/>
                <a:cs typeface="Calibri" pitchFamily="34" charset="-120"/>
              </a:rPr>
              <a:t>F1 macro</a:t>
            </a:r>
            <a:endParaRPr lang="en-US" sz="1400" dirty="0"/>
          </a:p>
        </p:txBody>
      </p:sp>
      <p:sp>
        <p:nvSpPr>
          <p:cNvPr id="7" name="Shape 5"/>
          <p:cNvSpPr/>
          <p:nvPr/>
        </p:nvSpPr>
        <p:spPr>
          <a:xfrm>
            <a:off x="3383280" y="1783080"/>
            <a:ext cx="2606040" cy="1508760"/>
          </a:xfrm>
          <a:prstGeom prst="roundRect">
            <a:avLst>
              <a:gd name="adj" fmla="val 6061"/>
            </a:avLst>
          </a:prstGeom>
          <a:solidFill>
            <a:srgbClr val="FFFFFF"/>
          </a:solidFill>
          <a:ln w="12700">
            <a:solidFill>
              <a:srgbClr val="E5E7EB"/>
            </a:solidFill>
            <a:prstDash val="solid"/>
          </a:ln>
        </p:spPr>
      </p:sp>
      <p:sp>
        <p:nvSpPr>
          <p:cNvPr id="8" name="Text 6"/>
          <p:cNvSpPr/>
          <p:nvPr/>
        </p:nvSpPr>
        <p:spPr>
          <a:xfrm>
            <a:off x="3383280" y="1828800"/>
            <a:ext cx="2606040" cy="868680"/>
          </a:xfrm>
          <a:prstGeom prst="rect">
            <a:avLst/>
          </a:prstGeom>
          <a:noFill/>
          <a:ln/>
        </p:spPr>
        <p:txBody>
          <a:bodyPr wrap="square" lIns="0" tIns="0" rIns="0" bIns="0" rtlCol="0" anchor="ctr"/>
          <a:lstStyle/>
          <a:p>
            <a:pPr algn="ctr" indent="0" marL="0">
              <a:buNone/>
            </a:pPr>
            <a:r>
              <a:rPr lang="en-US" sz="4800" b="1" dirty="0">
                <a:solidFill>
                  <a:srgbClr val="4361EE"/>
                </a:solidFill>
                <a:latin typeface="Cambria" pitchFamily="34" charset="0"/>
                <a:ea typeface="Cambria" pitchFamily="34" charset="-122"/>
                <a:cs typeface="Cambria" pitchFamily="34" charset="-120"/>
              </a:rPr>
              <a:t>0.106</a:t>
            </a:r>
            <a:endParaRPr lang="en-US" sz="4800" dirty="0"/>
          </a:p>
        </p:txBody>
      </p:sp>
      <p:sp>
        <p:nvSpPr>
          <p:cNvPr id="9" name="Text 7"/>
          <p:cNvSpPr/>
          <p:nvPr/>
        </p:nvSpPr>
        <p:spPr>
          <a:xfrm>
            <a:off x="3383280" y="2743200"/>
            <a:ext cx="2606040" cy="457200"/>
          </a:xfrm>
          <a:prstGeom prst="rect">
            <a:avLst/>
          </a:prstGeom>
          <a:noFill/>
          <a:ln/>
        </p:spPr>
        <p:txBody>
          <a:bodyPr wrap="square" lIns="0" tIns="0" rIns="0" bIns="0" rtlCol="0" anchor="ctr"/>
          <a:lstStyle/>
          <a:p>
            <a:pPr algn="ctr" indent="0" marL="0">
              <a:buNone/>
            </a:pPr>
            <a:r>
              <a:rPr lang="en-US" sz="1400" dirty="0">
                <a:solidFill>
                  <a:srgbClr val="6B7280"/>
                </a:solidFill>
                <a:latin typeface="Calibri" pitchFamily="34" charset="0"/>
                <a:ea typeface="Calibri" pitchFamily="34" charset="-122"/>
                <a:cs typeface="Calibri" pitchFamily="34" charset="-120"/>
              </a:rPr>
              <a:t>F1 micro</a:t>
            </a:r>
            <a:endParaRPr lang="en-US" sz="1400" dirty="0"/>
          </a:p>
        </p:txBody>
      </p:sp>
      <p:sp>
        <p:nvSpPr>
          <p:cNvPr id="10" name="Shape 8"/>
          <p:cNvSpPr/>
          <p:nvPr/>
        </p:nvSpPr>
        <p:spPr>
          <a:xfrm>
            <a:off x="6217920" y="1783080"/>
            <a:ext cx="2606040" cy="1508760"/>
          </a:xfrm>
          <a:prstGeom prst="roundRect">
            <a:avLst>
              <a:gd name="adj" fmla="val 6061"/>
            </a:avLst>
          </a:prstGeom>
          <a:solidFill>
            <a:srgbClr val="FFFFFF"/>
          </a:solidFill>
          <a:ln w="12700">
            <a:solidFill>
              <a:srgbClr val="E5E7EB"/>
            </a:solidFill>
            <a:prstDash val="solid"/>
          </a:ln>
        </p:spPr>
      </p:sp>
      <p:sp>
        <p:nvSpPr>
          <p:cNvPr id="11" name="Text 9"/>
          <p:cNvSpPr/>
          <p:nvPr/>
        </p:nvSpPr>
        <p:spPr>
          <a:xfrm>
            <a:off x="6217920" y="1828800"/>
            <a:ext cx="2606040" cy="868680"/>
          </a:xfrm>
          <a:prstGeom prst="rect">
            <a:avLst/>
          </a:prstGeom>
          <a:noFill/>
          <a:ln/>
        </p:spPr>
        <p:txBody>
          <a:bodyPr wrap="square" lIns="0" tIns="0" rIns="0" bIns="0" rtlCol="0" anchor="ctr"/>
          <a:lstStyle/>
          <a:p>
            <a:pPr algn="ctr" indent="0" marL="0">
              <a:buNone/>
            </a:pPr>
            <a:r>
              <a:rPr lang="en-US" sz="4800" b="1" dirty="0">
                <a:solidFill>
                  <a:srgbClr val="1E2761"/>
                </a:solidFill>
                <a:latin typeface="Cambria" pitchFamily="34" charset="0"/>
                <a:ea typeface="Cambria" pitchFamily="34" charset="-122"/>
                <a:cs typeface="Cambria" pitchFamily="34" charset="-120"/>
              </a:rPr>
              <a:t>0.106</a:t>
            </a:r>
            <a:endParaRPr lang="en-US" sz="4800" dirty="0"/>
          </a:p>
        </p:txBody>
      </p:sp>
      <p:sp>
        <p:nvSpPr>
          <p:cNvPr id="12" name="Text 10"/>
          <p:cNvSpPr/>
          <p:nvPr/>
        </p:nvSpPr>
        <p:spPr>
          <a:xfrm>
            <a:off x="6217920" y="2743200"/>
            <a:ext cx="2606040" cy="457200"/>
          </a:xfrm>
          <a:prstGeom prst="rect">
            <a:avLst/>
          </a:prstGeom>
          <a:noFill/>
          <a:ln/>
        </p:spPr>
        <p:txBody>
          <a:bodyPr wrap="square" lIns="0" tIns="0" rIns="0" bIns="0" rtlCol="0" anchor="ctr"/>
          <a:lstStyle/>
          <a:p>
            <a:pPr algn="ctr" indent="0" marL="0">
              <a:buNone/>
            </a:pPr>
            <a:r>
              <a:rPr lang="en-US" sz="1400" dirty="0">
                <a:solidFill>
                  <a:srgbClr val="6B7280"/>
                </a:solidFill>
                <a:latin typeface="Calibri" pitchFamily="34" charset="0"/>
                <a:ea typeface="Calibri" pitchFamily="34" charset="-122"/>
                <a:cs typeface="Calibri" pitchFamily="34" charset="-120"/>
              </a:rPr>
              <a:t>Precision</a:t>
            </a:r>
            <a:endParaRPr lang="en-US" sz="1400" dirty="0"/>
          </a:p>
        </p:txBody>
      </p:sp>
      <p:sp>
        <p:nvSpPr>
          <p:cNvPr id="13" name="Shape 11"/>
          <p:cNvSpPr/>
          <p:nvPr/>
        </p:nvSpPr>
        <p:spPr>
          <a:xfrm>
            <a:off x="9052560" y="1783080"/>
            <a:ext cx="2606040" cy="1508760"/>
          </a:xfrm>
          <a:prstGeom prst="roundRect">
            <a:avLst>
              <a:gd name="adj" fmla="val 6061"/>
            </a:avLst>
          </a:prstGeom>
          <a:solidFill>
            <a:srgbClr val="FFFFFF"/>
          </a:solidFill>
          <a:ln w="12700">
            <a:solidFill>
              <a:srgbClr val="E5E7EB"/>
            </a:solidFill>
            <a:prstDash val="solid"/>
          </a:ln>
        </p:spPr>
      </p:sp>
      <p:sp>
        <p:nvSpPr>
          <p:cNvPr id="14" name="Text 12"/>
          <p:cNvSpPr/>
          <p:nvPr/>
        </p:nvSpPr>
        <p:spPr>
          <a:xfrm>
            <a:off x="9052560" y="1828800"/>
            <a:ext cx="2606040" cy="868680"/>
          </a:xfrm>
          <a:prstGeom prst="rect">
            <a:avLst/>
          </a:prstGeom>
          <a:noFill/>
          <a:ln/>
        </p:spPr>
        <p:txBody>
          <a:bodyPr wrap="square" lIns="0" tIns="0" rIns="0" bIns="0" rtlCol="0" anchor="ctr"/>
          <a:lstStyle/>
          <a:p>
            <a:pPr algn="ctr" indent="0" marL="0">
              <a:buNone/>
            </a:pPr>
            <a:r>
              <a:rPr lang="en-US" sz="4800" b="1" dirty="0">
                <a:solidFill>
                  <a:srgbClr val="F76C5E"/>
                </a:solidFill>
                <a:latin typeface="Cambria" pitchFamily="34" charset="0"/>
                <a:ea typeface="Cambria" pitchFamily="34" charset="-122"/>
                <a:cs typeface="Cambria" pitchFamily="34" charset="-120"/>
              </a:rPr>
              <a:t>0.388</a:t>
            </a:r>
            <a:endParaRPr lang="en-US" sz="4800" dirty="0"/>
          </a:p>
        </p:txBody>
      </p:sp>
      <p:sp>
        <p:nvSpPr>
          <p:cNvPr id="15" name="Text 13"/>
          <p:cNvSpPr/>
          <p:nvPr/>
        </p:nvSpPr>
        <p:spPr>
          <a:xfrm>
            <a:off x="9052560" y="2743200"/>
            <a:ext cx="2606040" cy="457200"/>
          </a:xfrm>
          <a:prstGeom prst="rect">
            <a:avLst/>
          </a:prstGeom>
          <a:noFill/>
          <a:ln/>
        </p:spPr>
        <p:txBody>
          <a:bodyPr wrap="square" lIns="0" tIns="0" rIns="0" bIns="0" rtlCol="0" anchor="ctr"/>
          <a:lstStyle/>
          <a:p>
            <a:pPr algn="ctr" indent="0" marL="0">
              <a:buNone/>
            </a:pPr>
            <a:r>
              <a:rPr lang="en-US" sz="1400" dirty="0">
                <a:solidFill>
                  <a:srgbClr val="6B7280"/>
                </a:solidFill>
                <a:latin typeface="Calibri" pitchFamily="34" charset="0"/>
                <a:ea typeface="Calibri" pitchFamily="34" charset="-122"/>
                <a:cs typeface="Calibri" pitchFamily="34" charset="-120"/>
              </a:rPr>
              <a:t>Recall</a:t>
            </a:r>
            <a:endParaRPr lang="en-US" sz="1400" dirty="0"/>
          </a:p>
        </p:txBody>
      </p:sp>
      <p:sp>
        <p:nvSpPr>
          <p:cNvPr id="16" name="Shape 14"/>
          <p:cNvSpPr/>
          <p:nvPr/>
        </p:nvSpPr>
        <p:spPr>
          <a:xfrm>
            <a:off x="548640" y="3520440"/>
            <a:ext cx="11064240" cy="2697480"/>
          </a:xfrm>
          <a:prstGeom prst="roundRect">
            <a:avLst>
              <a:gd name="adj" fmla="val 3390"/>
            </a:avLst>
          </a:prstGeom>
          <a:solidFill>
            <a:srgbClr val="FFFFFF"/>
          </a:solidFill>
          <a:ln w="12700">
            <a:solidFill>
              <a:srgbClr val="CADCFC"/>
            </a:solidFill>
            <a:prstDash val="solid"/>
          </a:ln>
        </p:spPr>
      </p:sp>
      <p:sp>
        <p:nvSpPr>
          <p:cNvPr id="17" name="Text 15"/>
          <p:cNvSpPr/>
          <p:nvPr/>
        </p:nvSpPr>
        <p:spPr>
          <a:xfrm>
            <a:off x="777240" y="3657600"/>
            <a:ext cx="10515600" cy="41148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¿Es bueno este F1?</a:t>
            </a:r>
            <a:endParaRPr lang="en-US" sz="1600" dirty="0"/>
          </a:p>
        </p:txBody>
      </p:sp>
      <p:sp>
        <p:nvSpPr>
          <p:cNvPr id="18" name="Text 16"/>
          <p:cNvSpPr/>
          <p:nvPr/>
        </p:nvSpPr>
        <p:spPr>
          <a:xfrm>
            <a:off x="777240" y="4114800"/>
            <a:ext cx="10515600" cy="2103120"/>
          </a:xfrm>
          <a:prstGeom prst="rect">
            <a:avLst/>
          </a:prstGeom>
          <a:noFill/>
          <a:ln/>
        </p:spPr>
        <p:txBody>
          <a:bodyPr wrap="square" rtlCol="0" anchor="ctr"/>
          <a:lstStyle/>
          <a:p>
            <a:pPr marL="342900" indent="-342900">
              <a:spcAft>
                <a:spcPts val="500"/>
              </a:spcAft>
              <a:buSzPct val="100000"/>
              <a:buChar char="•"/>
            </a:pPr>
            <a:r>
              <a:rPr lang="en-US" sz="1200" dirty="0">
                <a:solidFill>
                  <a:srgbClr val="1A1A2E"/>
                </a:solidFill>
                <a:latin typeface="Calibri" pitchFamily="34" charset="0"/>
                <a:ea typeface="Calibri" pitchFamily="34" charset="-122"/>
                <a:cs typeface="Calibri" pitchFamily="34" charset="-120"/>
              </a:rPr>
              <a:t>97 etiquetas con desbalance 1:50 — un random predeciria F1 ≈ 0.02. Cualquier valor por encima de 0.10 es señal de aprendizaje real.</a:t>
            </a:r>
            <a:endParaRPr lang="en-US" sz="1200" dirty="0"/>
          </a:p>
          <a:p>
            <a:pPr marL="342900" indent="-342900">
              <a:spcAft>
                <a:spcPts val="500"/>
              </a:spcAft>
              <a:buSzPct val="100000"/>
              <a:buChar char="•"/>
            </a:pPr>
            <a:r>
              <a:rPr lang="en-US" sz="1200" dirty="0">
                <a:solidFill>
                  <a:srgbClr val="1A1A2E"/>
                </a:solidFill>
                <a:latin typeface="Calibri" pitchFamily="34" charset="0"/>
                <a:ea typeface="Calibri" pitchFamily="34" charset="-122"/>
                <a:cs typeface="Calibri" pitchFamily="34" charset="-120"/>
              </a:rPr>
              <a:t>El recall ~0.39 significa que el modelo identifica 4 de cada 10 reacciones reales reportadas.</a:t>
            </a:r>
            <a:endParaRPr lang="en-US" sz="1200" dirty="0"/>
          </a:p>
          <a:p>
            <a:pPr marL="342900" indent="-342900">
              <a:spcAft>
                <a:spcPts val="500"/>
              </a:spcAft>
              <a:buSzPct val="100000"/>
              <a:buChar char="•"/>
            </a:pPr>
            <a:r>
              <a:rPr lang="en-US" sz="1200" dirty="0">
                <a:solidFill>
                  <a:srgbClr val="1A1A2E"/>
                </a:solidFill>
                <a:latin typeface="Calibri" pitchFamily="34" charset="0"/>
                <a:ea typeface="Calibri" pitchFamily="34" charset="-122"/>
                <a:cs typeface="Calibri" pitchFamily="34" charset="-120"/>
              </a:rPr>
              <a:t>La precision ~0.11 incluye 'falsos positivos' que pueden ser efectos plausibles no reportados en ese caso especifico.</a:t>
            </a:r>
            <a:endParaRPr lang="en-US" sz="1200" dirty="0"/>
          </a:p>
          <a:p>
            <a:pPr marL="342900" indent="-342900">
              <a:spcAft>
                <a:spcPts val="500"/>
              </a:spcAft>
              <a:buSzPct val="100000"/>
              <a:buChar char="•"/>
            </a:pPr>
            <a:r>
              <a:rPr lang="en-US" sz="1200" dirty="0">
                <a:solidFill>
                  <a:srgbClr val="1A1A2E"/>
                </a:solidFill>
                <a:latin typeface="Calibri" pitchFamily="34" charset="0"/>
                <a:ea typeface="Calibri" pitchFamily="34" charset="-122"/>
                <a:cs typeface="Calibri" pitchFamily="34" charset="-120"/>
              </a:rPr>
              <a:t>Validado externamente contra SIDER 4.1 — coincidencia parcial confirma que aprendio relaciones farmaco-efecto reales, no artefactos.</a:t>
            </a:r>
            <a:endParaRPr lang="en-US" sz="1200" dirty="0"/>
          </a:p>
        </p:txBody>
      </p:sp>
      <p:sp>
        <p:nvSpPr>
          <p:cNvPr id="19" name="Text 17"/>
          <p:cNvSpPr/>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rgbClr val="6B7280"/>
                </a:solidFill>
              </a:rPr>
              <a:t>MTAA · farmApp · Defensa final</a:t>
            </a:r>
            <a:endParaRPr lang="en-US" sz="900" dirty="0"/>
          </a:p>
        </p:txBody>
      </p:sp>
      <p:sp>
        <p:nvSpPr>
          <p:cNvPr id="20" name="Text 18"/>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rPr>
              <a:t>12 / 16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9FB"/>
        </a:solidFill>
      </p:bgPr>
    </p:bg>
    <p:spTree>
      <p:nvGrpSpPr>
        <p:cNvPr id="1" name=""/>
        <p:cNvGrpSpPr/>
        <p:nvPr/>
      </p:nvGrpSpPr>
      <p:grpSpPr>
        <a:xfrm>
          <a:off x="0" y="0"/>
          <a:ext cx="0" cy="0"/>
          <a:chOff x="0" y="0"/>
          <a:chExt cx="0" cy="0"/>
        </a:xfrm>
      </p:grpSpPr>
      <p:sp>
        <p:nvSpPr>
          <p:cNvPr id="2" name="Text 0"/>
          <p:cNvSpPr/>
          <p:nvPr/>
        </p:nvSpPr>
        <p:spPr>
          <a:xfrm>
            <a:off x="457200" y="320040"/>
            <a:ext cx="11247120" cy="365760"/>
          </a:xfrm>
          <a:prstGeom prst="rect">
            <a:avLst/>
          </a:prstGeom>
          <a:noFill/>
          <a:ln/>
        </p:spPr>
        <p:txBody>
          <a:bodyPr wrap="square" lIns="0" tIns="0" rIns="0" bIns="0" rtlCol="0" anchor="ctr"/>
          <a:lstStyle/>
          <a:p>
            <a:pPr indent="0" marL="0">
              <a:buNone/>
            </a:pPr>
            <a:r>
              <a:rPr lang="en-US" sz="1100" b="1" spc="400" kern="0" dirty="0">
                <a:solidFill>
                  <a:srgbClr val="6B7280"/>
                </a:solidFill>
                <a:latin typeface="Calibri" pitchFamily="34" charset="0"/>
                <a:ea typeface="Calibri" pitchFamily="34" charset="-122"/>
                <a:cs typeface="Calibri" pitchFamily="34" charset="-120"/>
              </a:rPr>
              <a:t>12  ·  DEMO</a:t>
            </a:r>
            <a:endParaRPr lang="en-US" sz="1100" dirty="0"/>
          </a:p>
        </p:txBody>
      </p:sp>
      <p:sp>
        <p:nvSpPr>
          <p:cNvPr id="3" name="Text 1"/>
          <p:cNvSpPr/>
          <p:nvPr/>
        </p:nvSpPr>
        <p:spPr>
          <a:xfrm>
            <a:off x="457200" y="685800"/>
            <a:ext cx="11247120" cy="822960"/>
          </a:xfrm>
          <a:prstGeom prst="rect">
            <a:avLst/>
          </a:prstGeom>
          <a:noFill/>
          <a:ln/>
        </p:spPr>
        <p:txBody>
          <a:bodyPr wrap="square" lIns="0" tIns="0" rIns="0" bIns="0" rtlCol="0" anchor="ctr"/>
          <a:lstStyle/>
          <a:p>
            <a:pPr indent="0" marL="0">
              <a:buNone/>
            </a:pPr>
            <a:r>
              <a:rPr lang="en-US" sz="3600" b="1" dirty="0">
                <a:solidFill>
                  <a:srgbClr val="1A1A2E"/>
                </a:solidFill>
                <a:latin typeface="Cambria" pitchFamily="34" charset="0"/>
                <a:ea typeface="Cambria" pitchFamily="34" charset="-122"/>
                <a:cs typeface="Cambria" pitchFamily="34" charset="-120"/>
              </a:rPr>
              <a:t>La aplicacion en vivo</a:t>
            </a:r>
            <a:endParaRPr lang="en-US" sz="3600" dirty="0"/>
          </a:p>
        </p:txBody>
      </p:sp>
      <p:sp>
        <p:nvSpPr>
          <p:cNvPr id="4" name="Text 2"/>
          <p:cNvSpPr/>
          <p:nvPr/>
        </p:nvSpPr>
        <p:spPr>
          <a:xfrm>
            <a:off x="548640" y="1691640"/>
            <a:ext cx="11155680" cy="64008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Streamlit. El usuario carga datos de un paciente y el modelo le devuelve los efectos adversos mas probables, mas un veredicto comparado contra SIDER.</a:t>
            </a:r>
            <a:endParaRPr lang="en-US" sz="1400" dirty="0"/>
          </a:p>
        </p:txBody>
      </p:sp>
      <p:sp>
        <p:nvSpPr>
          <p:cNvPr id="5" name="Shape 3"/>
          <p:cNvSpPr/>
          <p:nvPr/>
        </p:nvSpPr>
        <p:spPr>
          <a:xfrm>
            <a:off x="548640" y="2606040"/>
            <a:ext cx="640080" cy="640080"/>
          </a:xfrm>
          <a:prstGeom prst="ellipse">
            <a:avLst/>
          </a:prstGeom>
          <a:solidFill>
            <a:srgbClr val="1E2761"/>
          </a:solidFill>
          <a:ln w="12700">
            <a:solidFill>
              <a:srgbClr val="1E2761"/>
            </a:solidFill>
            <a:prstDash val="solid"/>
          </a:ln>
        </p:spPr>
      </p:sp>
      <p:sp>
        <p:nvSpPr>
          <p:cNvPr id="6" name="Text 4"/>
          <p:cNvSpPr/>
          <p:nvPr/>
        </p:nvSpPr>
        <p:spPr>
          <a:xfrm>
            <a:off x="548640" y="2606040"/>
            <a:ext cx="640080" cy="640080"/>
          </a:xfrm>
          <a:prstGeom prst="rect">
            <a:avLst/>
          </a:prstGeom>
          <a:noFill/>
          <a:ln/>
        </p:spPr>
        <p:txBody>
          <a:bodyPr wrap="square" lIns="0" tIns="0" rIns="0" bIns="0" rtlCol="0" anchor="ctr"/>
          <a:lstStyle/>
          <a:p>
            <a:pPr algn="ctr" indent="0" marL="0">
              <a:buNone/>
            </a:pPr>
            <a:r>
              <a:rPr lang="en-US" sz="2400" b="1" dirty="0">
                <a:solidFill>
                  <a:srgbClr val="F76C5E"/>
                </a:solidFill>
                <a:latin typeface="Cambria" pitchFamily="34" charset="0"/>
                <a:ea typeface="Cambria" pitchFamily="34" charset="-122"/>
                <a:cs typeface="Cambria" pitchFamily="34" charset="-120"/>
              </a:rPr>
              <a:t>1</a:t>
            </a:r>
            <a:endParaRPr lang="en-US" sz="2400" dirty="0"/>
          </a:p>
        </p:txBody>
      </p:sp>
      <p:sp>
        <p:nvSpPr>
          <p:cNvPr id="7" name="Text 5"/>
          <p:cNvSpPr/>
          <p:nvPr/>
        </p:nvSpPr>
        <p:spPr>
          <a:xfrm>
            <a:off x="1417320" y="2624328"/>
            <a:ext cx="41148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Formulario</a:t>
            </a:r>
            <a:endParaRPr lang="en-US" sz="1700" dirty="0"/>
          </a:p>
        </p:txBody>
      </p:sp>
      <p:sp>
        <p:nvSpPr>
          <p:cNvPr id="8" name="Text 6"/>
          <p:cNvSpPr/>
          <p:nvPr/>
        </p:nvSpPr>
        <p:spPr>
          <a:xfrm>
            <a:off x="1417320" y="2971800"/>
            <a:ext cx="10058400" cy="36576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Farmaco, edad, sexo, peso, medicaciones, indicaciones</a:t>
            </a:r>
            <a:endParaRPr lang="en-US" sz="1200" dirty="0"/>
          </a:p>
        </p:txBody>
      </p:sp>
      <p:sp>
        <p:nvSpPr>
          <p:cNvPr id="9" name="Shape 7"/>
          <p:cNvSpPr/>
          <p:nvPr/>
        </p:nvSpPr>
        <p:spPr>
          <a:xfrm>
            <a:off x="548640" y="3474720"/>
            <a:ext cx="640080" cy="640080"/>
          </a:xfrm>
          <a:prstGeom prst="ellipse">
            <a:avLst/>
          </a:prstGeom>
          <a:solidFill>
            <a:srgbClr val="1E2761"/>
          </a:solidFill>
          <a:ln w="12700">
            <a:solidFill>
              <a:srgbClr val="1E2761"/>
            </a:solidFill>
            <a:prstDash val="solid"/>
          </a:ln>
        </p:spPr>
      </p:sp>
      <p:sp>
        <p:nvSpPr>
          <p:cNvPr id="10" name="Text 8"/>
          <p:cNvSpPr/>
          <p:nvPr/>
        </p:nvSpPr>
        <p:spPr>
          <a:xfrm>
            <a:off x="548640" y="3474720"/>
            <a:ext cx="640080" cy="640080"/>
          </a:xfrm>
          <a:prstGeom prst="rect">
            <a:avLst/>
          </a:prstGeom>
          <a:noFill/>
          <a:ln/>
        </p:spPr>
        <p:txBody>
          <a:bodyPr wrap="square" lIns="0" tIns="0" rIns="0" bIns="0" rtlCol="0" anchor="ctr"/>
          <a:lstStyle/>
          <a:p>
            <a:pPr algn="ctr" indent="0" marL="0">
              <a:buNone/>
            </a:pPr>
            <a:r>
              <a:rPr lang="en-US" sz="2400" b="1" dirty="0">
                <a:solidFill>
                  <a:srgbClr val="F76C5E"/>
                </a:solidFill>
                <a:latin typeface="Cambria" pitchFamily="34" charset="0"/>
                <a:ea typeface="Cambria" pitchFamily="34" charset="-122"/>
                <a:cs typeface="Cambria" pitchFamily="34" charset="-120"/>
              </a:rPr>
              <a:t>2</a:t>
            </a:r>
            <a:endParaRPr lang="en-US" sz="2400" dirty="0"/>
          </a:p>
        </p:txBody>
      </p:sp>
      <p:sp>
        <p:nvSpPr>
          <p:cNvPr id="11" name="Text 9"/>
          <p:cNvSpPr/>
          <p:nvPr/>
        </p:nvSpPr>
        <p:spPr>
          <a:xfrm>
            <a:off x="1417320" y="3493008"/>
            <a:ext cx="41148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Inferencia</a:t>
            </a:r>
            <a:endParaRPr lang="en-US" sz="1700" dirty="0"/>
          </a:p>
        </p:txBody>
      </p:sp>
      <p:sp>
        <p:nvSpPr>
          <p:cNvPr id="12" name="Text 10"/>
          <p:cNvSpPr/>
          <p:nvPr/>
        </p:nvSpPr>
        <p:spPr>
          <a:xfrm>
            <a:off x="1417320" y="3840480"/>
            <a:ext cx="10058400" cy="36576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Texto canonico → BioBERT → 97 probabilidades</a:t>
            </a:r>
            <a:endParaRPr lang="en-US" sz="1200" dirty="0"/>
          </a:p>
        </p:txBody>
      </p:sp>
      <p:sp>
        <p:nvSpPr>
          <p:cNvPr id="13" name="Shape 11"/>
          <p:cNvSpPr/>
          <p:nvPr/>
        </p:nvSpPr>
        <p:spPr>
          <a:xfrm>
            <a:off x="548640" y="4343400"/>
            <a:ext cx="640080" cy="640080"/>
          </a:xfrm>
          <a:prstGeom prst="ellipse">
            <a:avLst/>
          </a:prstGeom>
          <a:solidFill>
            <a:srgbClr val="1E2761"/>
          </a:solidFill>
          <a:ln w="12700">
            <a:solidFill>
              <a:srgbClr val="1E2761"/>
            </a:solidFill>
            <a:prstDash val="solid"/>
          </a:ln>
        </p:spPr>
      </p:sp>
      <p:sp>
        <p:nvSpPr>
          <p:cNvPr id="14" name="Text 12"/>
          <p:cNvSpPr/>
          <p:nvPr/>
        </p:nvSpPr>
        <p:spPr>
          <a:xfrm>
            <a:off x="548640" y="4343400"/>
            <a:ext cx="640080" cy="640080"/>
          </a:xfrm>
          <a:prstGeom prst="rect">
            <a:avLst/>
          </a:prstGeom>
          <a:noFill/>
          <a:ln/>
        </p:spPr>
        <p:txBody>
          <a:bodyPr wrap="square" lIns="0" tIns="0" rIns="0" bIns="0" rtlCol="0" anchor="ctr"/>
          <a:lstStyle/>
          <a:p>
            <a:pPr algn="ctr" indent="0" marL="0">
              <a:buNone/>
            </a:pPr>
            <a:r>
              <a:rPr lang="en-US" sz="2400" b="1" dirty="0">
                <a:solidFill>
                  <a:srgbClr val="F76C5E"/>
                </a:solidFill>
                <a:latin typeface="Cambria" pitchFamily="34" charset="0"/>
                <a:ea typeface="Cambria" pitchFamily="34" charset="-122"/>
                <a:cs typeface="Cambria" pitchFamily="34" charset="-120"/>
              </a:rPr>
              <a:t>3</a:t>
            </a:r>
            <a:endParaRPr lang="en-US" sz="2400" dirty="0"/>
          </a:p>
        </p:txBody>
      </p:sp>
      <p:sp>
        <p:nvSpPr>
          <p:cNvPr id="15" name="Text 13"/>
          <p:cNvSpPr/>
          <p:nvPr/>
        </p:nvSpPr>
        <p:spPr>
          <a:xfrm>
            <a:off x="1417320" y="4361688"/>
            <a:ext cx="41148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Filtrado</a:t>
            </a:r>
            <a:endParaRPr lang="en-US" sz="1700" dirty="0"/>
          </a:p>
        </p:txBody>
      </p:sp>
      <p:sp>
        <p:nvSpPr>
          <p:cNvPr id="16" name="Text 14"/>
          <p:cNvSpPr/>
          <p:nvPr/>
        </p:nvSpPr>
        <p:spPr>
          <a:xfrm>
            <a:off x="1417320" y="4709160"/>
            <a:ext cx="10058400" cy="36576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Aplica umbral aprendido + piso clinico 0.15</a:t>
            </a:r>
            <a:endParaRPr lang="en-US" sz="1200" dirty="0"/>
          </a:p>
        </p:txBody>
      </p:sp>
      <p:sp>
        <p:nvSpPr>
          <p:cNvPr id="17" name="Shape 15"/>
          <p:cNvSpPr/>
          <p:nvPr/>
        </p:nvSpPr>
        <p:spPr>
          <a:xfrm>
            <a:off x="548640" y="5212080"/>
            <a:ext cx="640080" cy="640080"/>
          </a:xfrm>
          <a:prstGeom prst="ellipse">
            <a:avLst/>
          </a:prstGeom>
          <a:solidFill>
            <a:srgbClr val="1E2761"/>
          </a:solidFill>
          <a:ln w="12700">
            <a:solidFill>
              <a:srgbClr val="1E2761"/>
            </a:solidFill>
            <a:prstDash val="solid"/>
          </a:ln>
        </p:spPr>
      </p:sp>
      <p:sp>
        <p:nvSpPr>
          <p:cNvPr id="18" name="Text 16"/>
          <p:cNvSpPr/>
          <p:nvPr/>
        </p:nvSpPr>
        <p:spPr>
          <a:xfrm>
            <a:off x="548640" y="5212080"/>
            <a:ext cx="640080" cy="640080"/>
          </a:xfrm>
          <a:prstGeom prst="rect">
            <a:avLst/>
          </a:prstGeom>
          <a:noFill/>
          <a:ln/>
        </p:spPr>
        <p:txBody>
          <a:bodyPr wrap="square" lIns="0" tIns="0" rIns="0" bIns="0" rtlCol="0" anchor="ctr"/>
          <a:lstStyle/>
          <a:p>
            <a:pPr algn="ctr" indent="0" marL="0">
              <a:buNone/>
            </a:pPr>
            <a:r>
              <a:rPr lang="en-US" sz="2400" b="1" dirty="0">
                <a:solidFill>
                  <a:srgbClr val="F76C5E"/>
                </a:solidFill>
                <a:latin typeface="Cambria" pitchFamily="34" charset="0"/>
                <a:ea typeface="Cambria" pitchFamily="34" charset="-122"/>
                <a:cs typeface="Cambria" pitchFamily="34" charset="-120"/>
              </a:rPr>
              <a:t>4</a:t>
            </a:r>
            <a:endParaRPr lang="en-US" sz="2400" dirty="0"/>
          </a:p>
        </p:txBody>
      </p:sp>
      <p:sp>
        <p:nvSpPr>
          <p:cNvPr id="19" name="Text 17"/>
          <p:cNvSpPr/>
          <p:nvPr/>
        </p:nvSpPr>
        <p:spPr>
          <a:xfrm>
            <a:off x="1417320" y="5230368"/>
            <a:ext cx="41148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Verificacion</a:t>
            </a:r>
            <a:endParaRPr lang="en-US" sz="1700" dirty="0"/>
          </a:p>
        </p:txBody>
      </p:sp>
      <p:sp>
        <p:nvSpPr>
          <p:cNvPr id="20" name="Text 18"/>
          <p:cNvSpPr/>
          <p:nvPr/>
        </p:nvSpPr>
        <p:spPr>
          <a:xfrm>
            <a:off x="1417320" y="5577840"/>
            <a:ext cx="10058400" cy="36576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Compara contra SIDER → veredicto MUY BUENA / BUENA / ACEPTABLE / POBRE</a:t>
            </a:r>
            <a:endParaRPr lang="en-US" sz="1200" dirty="0"/>
          </a:p>
        </p:txBody>
      </p:sp>
      <p:sp>
        <p:nvSpPr>
          <p:cNvPr id="21" name="Shape 19"/>
          <p:cNvSpPr/>
          <p:nvPr/>
        </p:nvSpPr>
        <p:spPr>
          <a:xfrm>
            <a:off x="548640" y="6035040"/>
            <a:ext cx="11064240" cy="365760"/>
          </a:xfrm>
          <a:prstGeom prst="roundRect">
            <a:avLst>
              <a:gd name="adj" fmla="val 12500"/>
            </a:avLst>
          </a:prstGeom>
          <a:solidFill>
            <a:srgbClr val="F76C5E"/>
          </a:solidFill>
          <a:ln w="12700">
            <a:solidFill>
              <a:srgbClr val="F76C5E"/>
            </a:solidFill>
            <a:prstDash val="solid"/>
          </a:ln>
        </p:spPr>
      </p:sp>
      <p:sp>
        <p:nvSpPr>
          <p:cNvPr id="22" name="Text 20"/>
          <p:cNvSpPr/>
          <p:nvPr/>
        </p:nvSpPr>
        <p:spPr>
          <a:xfrm>
            <a:off x="777240" y="6035040"/>
            <a:ext cx="10698480" cy="365760"/>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streamlit run app.py</a:t>
            </a:r>
            <a:endParaRPr lang="en-US" sz="1200" dirty="0"/>
          </a:p>
        </p:txBody>
      </p:sp>
      <p:sp>
        <p:nvSpPr>
          <p:cNvPr id="23" name="Text 21"/>
          <p:cNvSpPr/>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rgbClr val="6B7280"/>
                </a:solidFill>
              </a:rPr>
              <a:t>MTAA · farmApp · Defensa final</a:t>
            </a:r>
            <a:endParaRPr lang="en-US" sz="900" dirty="0"/>
          </a:p>
        </p:txBody>
      </p:sp>
      <p:sp>
        <p:nvSpPr>
          <p:cNvPr id="24" name="Text 22"/>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rPr>
              <a:t>13 / 16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B"/>
        </a:solidFill>
      </p:bgPr>
    </p:bg>
    <p:spTree>
      <p:nvGrpSpPr>
        <p:cNvPr id="1" name=""/>
        <p:cNvGrpSpPr/>
        <p:nvPr/>
      </p:nvGrpSpPr>
      <p:grpSpPr>
        <a:xfrm>
          <a:off x="0" y="0"/>
          <a:ext cx="0" cy="0"/>
          <a:chOff x="0" y="0"/>
          <a:chExt cx="0" cy="0"/>
        </a:xfrm>
      </p:grpSpPr>
      <p:sp>
        <p:nvSpPr>
          <p:cNvPr id="2" name="Text 0"/>
          <p:cNvSpPr/>
          <p:nvPr/>
        </p:nvSpPr>
        <p:spPr>
          <a:xfrm>
            <a:off x="457200" y="320040"/>
            <a:ext cx="11247120" cy="365760"/>
          </a:xfrm>
          <a:prstGeom prst="rect">
            <a:avLst/>
          </a:prstGeom>
          <a:noFill/>
          <a:ln/>
        </p:spPr>
        <p:txBody>
          <a:bodyPr wrap="square" lIns="0" tIns="0" rIns="0" bIns="0" rtlCol="0" anchor="ctr"/>
          <a:lstStyle/>
          <a:p>
            <a:pPr indent="0" marL="0">
              <a:buNone/>
            </a:pPr>
            <a:r>
              <a:rPr lang="en-US" sz="1100" b="1" spc="400" kern="0" dirty="0">
                <a:solidFill>
                  <a:srgbClr val="6B7280"/>
                </a:solidFill>
                <a:latin typeface="Calibri" pitchFamily="34" charset="0"/>
                <a:ea typeface="Calibri" pitchFamily="34" charset="-122"/>
                <a:cs typeface="Calibri" pitchFamily="34" charset="-120"/>
              </a:rPr>
              <a:t>13  ·  CONTENIDOS DE LA MATERIA</a:t>
            </a:r>
            <a:endParaRPr lang="en-US" sz="1100" dirty="0"/>
          </a:p>
        </p:txBody>
      </p:sp>
      <p:sp>
        <p:nvSpPr>
          <p:cNvPr id="3" name="Text 1"/>
          <p:cNvSpPr/>
          <p:nvPr/>
        </p:nvSpPr>
        <p:spPr>
          <a:xfrm>
            <a:off x="457200" y="685800"/>
            <a:ext cx="11247120" cy="822960"/>
          </a:xfrm>
          <a:prstGeom prst="rect">
            <a:avLst/>
          </a:prstGeom>
          <a:noFill/>
          <a:ln/>
        </p:spPr>
        <p:txBody>
          <a:bodyPr wrap="square" lIns="0" tIns="0" rIns="0" bIns="0" rtlCol="0" anchor="ctr"/>
          <a:lstStyle/>
          <a:p>
            <a:pPr indent="0" marL="0">
              <a:buNone/>
            </a:pPr>
            <a:r>
              <a:rPr lang="en-US" sz="3600" b="1" dirty="0">
                <a:solidFill>
                  <a:srgbClr val="1A1A2E"/>
                </a:solidFill>
                <a:latin typeface="Cambria" pitchFamily="34" charset="0"/>
                <a:ea typeface="Cambria" pitchFamily="34" charset="-122"/>
                <a:cs typeface="Cambria" pitchFamily="34" charset="-120"/>
              </a:rPr>
              <a:t>Como se mapea el proyecto a cada Unidad</a:t>
            </a:r>
            <a:endParaRPr lang="en-US" sz="3600" dirty="0"/>
          </a:p>
        </p:txBody>
      </p:sp>
      <p:sp>
        <p:nvSpPr>
          <p:cNvPr id="4" name="Shape 2"/>
          <p:cNvSpPr/>
          <p:nvPr/>
        </p:nvSpPr>
        <p:spPr>
          <a:xfrm>
            <a:off x="548640" y="1783080"/>
            <a:ext cx="1280160" cy="713232"/>
          </a:xfrm>
          <a:prstGeom prst="roundRect">
            <a:avLst>
              <a:gd name="adj" fmla="val 10256"/>
            </a:avLst>
          </a:prstGeom>
          <a:solidFill>
            <a:srgbClr val="1E2761"/>
          </a:solidFill>
          <a:ln w="12700">
            <a:solidFill>
              <a:srgbClr val="1E2761"/>
            </a:solidFill>
            <a:prstDash val="solid"/>
          </a:ln>
        </p:spPr>
      </p:sp>
      <p:sp>
        <p:nvSpPr>
          <p:cNvPr id="5" name="Text 3"/>
          <p:cNvSpPr/>
          <p:nvPr/>
        </p:nvSpPr>
        <p:spPr>
          <a:xfrm>
            <a:off x="548640" y="1783080"/>
            <a:ext cx="1280160" cy="713232"/>
          </a:xfrm>
          <a:prstGeom prst="rect">
            <a:avLst/>
          </a:prstGeom>
          <a:noFill/>
          <a:ln/>
        </p:spPr>
        <p:txBody>
          <a:bodyPr wrap="square" lIns="0" tIns="0" rIns="0" bIns="0" rtlCol="0" anchor="ctr"/>
          <a:lstStyle/>
          <a:p>
            <a:pPr algn="ctr" indent="0" marL="0">
              <a:buNone/>
            </a:pPr>
            <a:r>
              <a:rPr lang="en-US" sz="2200" b="1" dirty="0">
                <a:solidFill>
                  <a:srgbClr val="F76C5E"/>
                </a:solidFill>
                <a:latin typeface="Cambria" pitchFamily="34" charset="0"/>
                <a:ea typeface="Cambria" pitchFamily="34" charset="-122"/>
                <a:cs typeface="Cambria" pitchFamily="34" charset="-120"/>
              </a:rPr>
              <a:t>U2</a:t>
            </a:r>
            <a:endParaRPr lang="en-US" sz="2200" dirty="0"/>
          </a:p>
        </p:txBody>
      </p:sp>
      <p:sp>
        <p:nvSpPr>
          <p:cNvPr id="6" name="Text 4"/>
          <p:cNvSpPr/>
          <p:nvPr/>
        </p:nvSpPr>
        <p:spPr>
          <a:xfrm>
            <a:off x="1965960" y="1828800"/>
            <a:ext cx="411480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Representacion y recuperacion</a:t>
            </a:r>
            <a:endParaRPr lang="en-US" sz="1500" dirty="0"/>
          </a:p>
        </p:txBody>
      </p:sp>
      <p:sp>
        <p:nvSpPr>
          <p:cNvPr id="7" name="Text 5"/>
          <p:cNvSpPr/>
          <p:nvPr/>
        </p:nvSpPr>
        <p:spPr>
          <a:xfrm>
            <a:off x="1965960" y="2167128"/>
            <a:ext cx="9601200" cy="36576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TF-IDF, embeddings BioBERT, similitud coseno entre farmacos</a:t>
            </a:r>
            <a:endParaRPr lang="en-US" sz="1200" dirty="0"/>
          </a:p>
        </p:txBody>
      </p:sp>
      <p:sp>
        <p:nvSpPr>
          <p:cNvPr id="8" name="Shape 6"/>
          <p:cNvSpPr/>
          <p:nvPr/>
        </p:nvSpPr>
        <p:spPr>
          <a:xfrm>
            <a:off x="548640" y="2633472"/>
            <a:ext cx="1280160" cy="713232"/>
          </a:xfrm>
          <a:prstGeom prst="roundRect">
            <a:avLst>
              <a:gd name="adj" fmla="val 10256"/>
            </a:avLst>
          </a:prstGeom>
          <a:solidFill>
            <a:srgbClr val="1E2761"/>
          </a:solidFill>
          <a:ln w="12700">
            <a:solidFill>
              <a:srgbClr val="1E2761"/>
            </a:solidFill>
            <a:prstDash val="solid"/>
          </a:ln>
        </p:spPr>
      </p:sp>
      <p:sp>
        <p:nvSpPr>
          <p:cNvPr id="9" name="Text 7"/>
          <p:cNvSpPr/>
          <p:nvPr/>
        </p:nvSpPr>
        <p:spPr>
          <a:xfrm>
            <a:off x="548640" y="2633472"/>
            <a:ext cx="1280160" cy="713232"/>
          </a:xfrm>
          <a:prstGeom prst="rect">
            <a:avLst/>
          </a:prstGeom>
          <a:noFill/>
          <a:ln/>
        </p:spPr>
        <p:txBody>
          <a:bodyPr wrap="square" lIns="0" tIns="0" rIns="0" bIns="0" rtlCol="0" anchor="ctr"/>
          <a:lstStyle/>
          <a:p>
            <a:pPr algn="ctr" indent="0" marL="0">
              <a:buNone/>
            </a:pPr>
            <a:r>
              <a:rPr lang="en-US" sz="2200" b="1" dirty="0">
                <a:solidFill>
                  <a:srgbClr val="F76C5E"/>
                </a:solidFill>
                <a:latin typeface="Cambria" pitchFamily="34" charset="0"/>
                <a:ea typeface="Cambria" pitchFamily="34" charset="-122"/>
                <a:cs typeface="Cambria" pitchFamily="34" charset="-120"/>
              </a:rPr>
              <a:t>U3</a:t>
            </a:r>
            <a:endParaRPr lang="en-US" sz="2200" dirty="0"/>
          </a:p>
        </p:txBody>
      </p:sp>
      <p:sp>
        <p:nvSpPr>
          <p:cNvPr id="10" name="Text 8"/>
          <p:cNvSpPr/>
          <p:nvPr/>
        </p:nvSpPr>
        <p:spPr>
          <a:xfrm>
            <a:off x="1965960" y="2679192"/>
            <a:ext cx="411480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Aprendizaje supervisado</a:t>
            </a:r>
            <a:endParaRPr lang="en-US" sz="1500" dirty="0"/>
          </a:p>
        </p:txBody>
      </p:sp>
      <p:sp>
        <p:nvSpPr>
          <p:cNvPr id="11" name="Text 9"/>
          <p:cNvSpPr/>
          <p:nvPr/>
        </p:nvSpPr>
        <p:spPr>
          <a:xfrm>
            <a:off x="1965960" y="3017520"/>
            <a:ext cx="9601200" cy="36576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Random Forest, KNN, particion train/test, K-Fold, metricas multilabel</a:t>
            </a:r>
            <a:endParaRPr lang="en-US" sz="1200" dirty="0"/>
          </a:p>
        </p:txBody>
      </p:sp>
      <p:sp>
        <p:nvSpPr>
          <p:cNvPr id="12" name="Shape 10"/>
          <p:cNvSpPr/>
          <p:nvPr/>
        </p:nvSpPr>
        <p:spPr>
          <a:xfrm>
            <a:off x="548640" y="3483864"/>
            <a:ext cx="1280160" cy="713232"/>
          </a:xfrm>
          <a:prstGeom prst="roundRect">
            <a:avLst>
              <a:gd name="adj" fmla="val 10256"/>
            </a:avLst>
          </a:prstGeom>
          <a:solidFill>
            <a:srgbClr val="1E2761"/>
          </a:solidFill>
          <a:ln w="12700">
            <a:solidFill>
              <a:srgbClr val="1E2761"/>
            </a:solidFill>
            <a:prstDash val="solid"/>
          </a:ln>
        </p:spPr>
      </p:sp>
      <p:sp>
        <p:nvSpPr>
          <p:cNvPr id="13" name="Text 11"/>
          <p:cNvSpPr/>
          <p:nvPr/>
        </p:nvSpPr>
        <p:spPr>
          <a:xfrm>
            <a:off x="548640" y="3483864"/>
            <a:ext cx="1280160" cy="713232"/>
          </a:xfrm>
          <a:prstGeom prst="rect">
            <a:avLst/>
          </a:prstGeom>
          <a:noFill/>
          <a:ln/>
        </p:spPr>
        <p:txBody>
          <a:bodyPr wrap="square" lIns="0" tIns="0" rIns="0" bIns="0" rtlCol="0" anchor="ctr"/>
          <a:lstStyle/>
          <a:p>
            <a:pPr algn="ctr" indent="0" marL="0">
              <a:buNone/>
            </a:pPr>
            <a:r>
              <a:rPr lang="en-US" sz="2200" b="1" dirty="0">
                <a:solidFill>
                  <a:srgbClr val="F76C5E"/>
                </a:solidFill>
                <a:latin typeface="Cambria" pitchFamily="34" charset="0"/>
                <a:ea typeface="Cambria" pitchFamily="34" charset="-122"/>
                <a:cs typeface="Cambria" pitchFamily="34" charset="-120"/>
              </a:rPr>
              <a:t>U4</a:t>
            </a:r>
            <a:endParaRPr lang="en-US" sz="2200" dirty="0"/>
          </a:p>
        </p:txBody>
      </p:sp>
      <p:sp>
        <p:nvSpPr>
          <p:cNvPr id="14" name="Text 12"/>
          <p:cNvSpPr/>
          <p:nvPr/>
        </p:nvSpPr>
        <p:spPr>
          <a:xfrm>
            <a:off x="1965960" y="3529584"/>
            <a:ext cx="411480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Redes neuronales</a:t>
            </a:r>
            <a:endParaRPr lang="en-US" sz="1500" dirty="0"/>
          </a:p>
        </p:txBody>
      </p:sp>
      <p:sp>
        <p:nvSpPr>
          <p:cNvPr id="15" name="Text 13"/>
          <p:cNvSpPr/>
          <p:nvPr/>
        </p:nvSpPr>
        <p:spPr>
          <a:xfrm>
            <a:off x="1965960" y="3867912"/>
            <a:ext cx="9601200" cy="36576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Backpropagation, optimizador Adam, BCEWithLogitsLoss, hiperparametros</a:t>
            </a:r>
            <a:endParaRPr lang="en-US" sz="1200" dirty="0"/>
          </a:p>
        </p:txBody>
      </p:sp>
      <p:sp>
        <p:nvSpPr>
          <p:cNvPr id="16" name="Shape 14"/>
          <p:cNvSpPr/>
          <p:nvPr/>
        </p:nvSpPr>
        <p:spPr>
          <a:xfrm>
            <a:off x="548640" y="4334256"/>
            <a:ext cx="1280160" cy="713232"/>
          </a:xfrm>
          <a:prstGeom prst="roundRect">
            <a:avLst>
              <a:gd name="adj" fmla="val 10256"/>
            </a:avLst>
          </a:prstGeom>
          <a:solidFill>
            <a:srgbClr val="1E2761"/>
          </a:solidFill>
          <a:ln w="12700">
            <a:solidFill>
              <a:srgbClr val="1E2761"/>
            </a:solidFill>
            <a:prstDash val="solid"/>
          </a:ln>
        </p:spPr>
      </p:sp>
      <p:sp>
        <p:nvSpPr>
          <p:cNvPr id="17" name="Text 15"/>
          <p:cNvSpPr/>
          <p:nvPr/>
        </p:nvSpPr>
        <p:spPr>
          <a:xfrm>
            <a:off x="548640" y="4334256"/>
            <a:ext cx="1280160" cy="713232"/>
          </a:xfrm>
          <a:prstGeom prst="rect">
            <a:avLst/>
          </a:prstGeom>
          <a:noFill/>
          <a:ln/>
        </p:spPr>
        <p:txBody>
          <a:bodyPr wrap="square" lIns="0" tIns="0" rIns="0" bIns="0" rtlCol="0" anchor="ctr"/>
          <a:lstStyle/>
          <a:p>
            <a:pPr algn="ctr" indent="0" marL="0">
              <a:buNone/>
            </a:pPr>
            <a:r>
              <a:rPr lang="en-US" sz="2200" b="1" dirty="0">
                <a:solidFill>
                  <a:srgbClr val="F76C5E"/>
                </a:solidFill>
                <a:latin typeface="Cambria" pitchFamily="34" charset="0"/>
                <a:ea typeface="Cambria" pitchFamily="34" charset="-122"/>
                <a:cs typeface="Cambria" pitchFamily="34" charset="-120"/>
              </a:rPr>
              <a:t>U5-I</a:t>
            </a:r>
            <a:endParaRPr lang="en-US" sz="2200" dirty="0"/>
          </a:p>
        </p:txBody>
      </p:sp>
      <p:sp>
        <p:nvSpPr>
          <p:cNvPr id="18" name="Text 16"/>
          <p:cNvSpPr/>
          <p:nvPr/>
        </p:nvSpPr>
        <p:spPr>
          <a:xfrm>
            <a:off x="1965960" y="4379976"/>
            <a:ext cx="411480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NLP — parte 1</a:t>
            </a:r>
            <a:endParaRPr lang="en-US" sz="1500" dirty="0"/>
          </a:p>
        </p:txBody>
      </p:sp>
      <p:sp>
        <p:nvSpPr>
          <p:cNvPr id="19" name="Text 17"/>
          <p:cNvSpPr/>
          <p:nvPr/>
        </p:nvSpPr>
        <p:spPr>
          <a:xfrm>
            <a:off x="1965960" y="4718304"/>
            <a:ext cx="9601200" cy="36576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Naive Bayes para clasificacion de texto, NER biomedico con spaCy</a:t>
            </a:r>
            <a:endParaRPr lang="en-US" sz="1200" dirty="0"/>
          </a:p>
        </p:txBody>
      </p:sp>
      <p:sp>
        <p:nvSpPr>
          <p:cNvPr id="20" name="Shape 18"/>
          <p:cNvSpPr/>
          <p:nvPr/>
        </p:nvSpPr>
        <p:spPr>
          <a:xfrm>
            <a:off x="548640" y="5184648"/>
            <a:ext cx="1280160" cy="713232"/>
          </a:xfrm>
          <a:prstGeom prst="roundRect">
            <a:avLst>
              <a:gd name="adj" fmla="val 10256"/>
            </a:avLst>
          </a:prstGeom>
          <a:solidFill>
            <a:srgbClr val="1E2761"/>
          </a:solidFill>
          <a:ln w="12700">
            <a:solidFill>
              <a:srgbClr val="1E2761"/>
            </a:solidFill>
            <a:prstDash val="solid"/>
          </a:ln>
        </p:spPr>
      </p:sp>
      <p:sp>
        <p:nvSpPr>
          <p:cNvPr id="21" name="Text 19"/>
          <p:cNvSpPr/>
          <p:nvPr/>
        </p:nvSpPr>
        <p:spPr>
          <a:xfrm>
            <a:off x="548640" y="5184648"/>
            <a:ext cx="1280160" cy="713232"/>
          </a:xfrm>
          <a:prstGeom prst="rect">
            <a:avLst/>
          </a:prstGeom>
          <a:noFill/>
          <a:ln/>
        </p:spPr>
        <p:txBody>
          <a:bodyPr wrap="square" lIns="0" tIns="0" rIns="0" bIns="0" rtlCol="0" anchor="ctr"/>
          <a:lstStyle/>
          <a:p>
            <a:pPr algn="ctr" indent="0" marL="0">
              <a:buNone/>
            </a:pPr>
            <a:r>
              <a:rPr lang="en-US" sz="2200" b="1" dirty="0">
                <a:solidFill>
                  <a:srgbClr val="F76C5E"/>
                </a:solidFill>
                <a:latin typeface="Cambria" pitchFamily="34" charset="0"/>
                <a:ea typeface="Cambria" pitchFamily="34" charset="-122"/>
                <a:cs typeface="Cambria" pitchFamily="34" charset="-120"/>
              </a:rPr>
              <a:t>U5-II</a:t>
            </a:r>
            <a:endParaRPr lang="en-US" sz="2200" dirty="0"/>
          </a:p>
        </p:txBody>
      </p:sp>
      <p:sp>
        <p:nvSpPr>
          <p:cNvPr id="22" name="Text 20"/>
          <p:cNvSpPr/>
          <p:nvPr/>
        </p:nvSpPr>
        <p:spPr>
          <a:xfrm>
            <a:off x="1965960" y="5230368"/>
            <a:ext cx="411480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NLP — parte 2</a:t>
            </a:r>
            <a:endParaRPr lang="en-US" sz="1500" dirty="0"/>
          </a:p>
        </p:txBody>
      </p:sp>
      <p:sp>
        <p:nvSpPr>
          <p:cNvPr id="23" name="Text 21"/>
          <p:cNvSpPr/>
          <p:nvPr/>
        </p:nvSpPr>
        <p:spPr>
          <a:xfrm>
            <a:off x="1965960" y="5568696"/>
            <a:ext cx="9601200" cy="365760"/>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BERT/BioBERT, embeddings contextuales, fine-tuning end-to-end</a:t>
            </a:r>
            <a:endParaRPr lang="en-US" sz="1200" dirty="0"/>
          </a:p>
        </p:txBody>
      </p:sp>
      <p:sp>
        <p:nvSpPr>
          <p:cNvPr id="24" name="Text 22"/>
          <p:cNvSpPr/>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rgbClr val="6B7280"/>
                </a:solidFill>
              </a:rPr>
              <a:t>MTAA · farmApp · Defensa final</a:t>
            </a:r>
            <a:endParaRPr lang="en-US" sz="900" dirty="0"/>
          </a:p>
        </p:txBody>
      </p:sp>
      <p:sp>
        <p:nvSpPr>
          <p:cNvPr id="25" name="Text 23"/>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rPr>
              <a:t>14 / 16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9FB"/>
        </a:solidFill>
      </p:bgPr>
    </p:bg>
    <p:spTree>
      <p:nvGrpSpPr>
        <p:cNvPr id="1" name=""/>
        <p:cNvGrpSpPr/>
        <p:nvPr/>
      </p:nvGrpSpPr>
      <p:grpSpPr>
        <a:xfrm>
          <a:off x="0" y="0"/>
          <a:ext cx="0" cy="0"/>
          <a:chOff x="0" y="0"/>
          <a:chExt cx="0" cy="0"/>
        </a:xfrm>
      </p:grpSpPr>
      <p:sp>
        <p:nvSpPr>
          <p:cNvPr id="2" name="Text 0"/>
          <p:cNvSpPr/>
          <p:nvPr/>
        </p:nvSpPr>
        <p:spPr>
          <a:xfrm>
            <a:off x="457200" y="320040"/>
            <a:ext cx="11247120" cy="365760"/>
          </a:xfrm>
          <a:prstGeom prst="rect">
            <a:avLst/>
          </a:prstGeom>
          <a:noFill/>
          <a:ln/>
        </p:spPr>
        <p:txBody>
          <a:bodyPr wrap="square" lIns="0" tIns="0" rIns="0" bIns="0" rtlCol="0" anchor="ctr"/>
          <a:lstStyle/>
          <a:p>
            <a:pPr indent="0" marL="0">
              <a:buNone/>
            </a:pPr>
            <a:r>
              <a:rPr lang="en-US" sz="1100" b="1" spc="400" kern="0" dirty="0">
                <a:solidFill>
                  <a:srgbClr val="6B7280"/>
                </a:solidFill>
                <a:latin typeface="Calibri" pitchFamily="34" charset="0"/>
                <a:ea typeface="Calibri" pitchFamily="34" charset="-122"/>
                <a:cs typeface="Calibri" pitchFamily="34" charset="-120"/>
              </a:rPr>
              <a:t>14  ·  HONESTIDAD ACADEMICA</a:t>
            </a:r>
            <a:endParaRPr lang="en-US" sz="1100" dirty="0"/>
          </a:p>
        </p:txBody>
      </p:sp>
      <p:sp>
        <p:nvSpPr>
          <p:cNvPr id="3" name="Text 1"/>
          <p:cNvSpPr/>
          <p:nvPr/>
        </p:nvSpPr>
        <p:spPr>
          <a:xfrm>
            <a:off x="457200" y="685800"/>
            <a:ext cx="11247120" cy="822960"/>
          </a:xfrm>
          <a:prstGeom prst="rect">
            <a:avLst/>
          </a:prstGeom>
          <a:noFill/>
          <a:ln/>
        </p:spPr>
        <p:txBody>
          <a:bodyPr wrap="square" lIns="0" tIns="0" rIns="0" bIns="0" rtlCol="0" anchor="ctr"/>
          <a:lstStyle/>
          <a:p>
            <a:pPr indent="0" marL="0">
              <a:buNone/>
            </a:pPr>
            <a:r>
              <a:rPr lang="en-US" sz="3600" b="1" dirty="0">
                <a:solidFill>
                  <a:srgbClr val="1A1A2E"/>
                </a:solidFill>
                <a:latin typeface="Cambria" pitchFamily="34" charset="0"/>
                <a:ea typeface="Cambria" pitchFamily="34" charset="-122"/>
                <a:cs typeface="Cambria" pitchFamily="34" charset="-120"/>
              </a:rPr>
              <a:t>Extensiones fuera del temario</a:t>
            </a:r>
            <a:endParaRPr lang="en-US" sz="3600" dirty="0"/>
          </a:p>
        </p:txBody>
      </p:sp>
      <p:sp>
        <p:nvSpPr>
          <p:cNvPr id="4" name="Text 2"/>
          <p:cNvSpPr/>
          <p:nvPr/>
        </p:nvSpPr>
        <p:spPr>
          <a:xfrm>
            <a:off x="548640" y="1691640"/>
            <a:ext cx="11155680" cy="64008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Algunas decisiones necesarias para que el problema funcione no estan explicitas en las diapositivas. Las declaramos para transparencia academica:</a:t>
            </a:r>
            <a:endParaRPr lang="en-US" sz="1300" dirty="0"/>
          </a:p>
        </p:txBody>
      </p:sp>
      <p:sp>
        <p:nvSpPr>
          <p:cNvPr id="5" name="Shape 3"/>
          <p:cNvSpPr/>
          <p:nvPr/>
        </p:nvSpPr>
        <p:spPr>
          <a:xfrm>
            <a:off x="548640" y="2514600"/>
            <a:ext cx="45720" cy="594360"/>
          </a:xfrm>
          <a:prstGeom prst="rect">
            <a:avLst/>
          </a:prstGeom>
          <a:solidFill>
            <a:srgbClr val="F76C5E"/>
          </a:solidFill>
          <a:ln w="12700">
            <a:solidFill>
              <a:srgbClr val="F76C5E"/>
            </a:solidFill>
            <a:prstDash val="solid"/>
          </a:ln>
        </p:spPr>
      </p:sp>
      <p:sp>
        <p:nvSpPr>
          <p:cNvPr id="6" name="Text 4"/>
          <p:cNvSpPr/>
          <p:nvPr/>
        </p:nvSpPr>
        <p:spPr>
          <a:xfrm>
            <a:off x="777240" y="2468880"/>
            <a:ext cx="10972800" cy="36576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Clasificacion multi-label</a:t>
            </a:r>
            <a:endParaRPr lang="en-US" sz="1400" dirty="0"/>
          </a:p>
        </p:txBody>
      </p:sp>
      <p:sp>
        <p:nvSpPr>
          <p:cNvPr id="7" name="Text 5"/>
          <p:cNvSpPr/>
          <p:nvPr/>
        </p:nvSpPr>
        <p:spPr>
          <a:xfrm>
            <a:off x="777240" y="2834640"/>
            <a:ext cx="10972800" cy="411480"/>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La materia trata clasificacion binaria/multiclase. Aqui cada paciente tiene varias etiquetas a la vez (necesidad del dominio FAERS).</a:t>
            </a:r>
            <a:endParaRPr lang="en-US" sz="1100" dirty="0"/>
          </a:p>
        </p:txBody>
      </p:sp>
      <p:sp>
        <p:nvSpPr>
          <p:cNvPr id="8" name="Shape 6"/>
          <p:cNvSpPr/>
          <p:nvPr/>
        </p:nvSpPr>
        <p:spPr>
          <a:xfrm>
            <a:off x="548640" y="3291840"/>
            <a:ext cx="45720" cy="594360"/>
          </a:xfrm>
          <a:prstGeom prst="rect">
            <a:avLst/>
          </a:prstGeom>
          <a:solidFill>
            <a:srgbClr val="F76C5E"/>
          </a:solidFill>
          <a:ln w="12700">
            <a:solidFill>
              <a:srgbClr val="F76C5E"/>
            </a:solidFill>
            <a:prstDash val="solid"/>
          </a:ln>
        </p:spPr>
      </p:sp>
      <p:sp>
        <p:nvSpPr>
          <p:cNvPr id="9" name="Text 7"/>
          <p:cNvSpPr/>
          <p:nvPr/>
        </p:nvSpPr>
        <p:spPr>
          <a:xfrm>
            <a:off x="777240" y="3246120"/>
            <a:ext cx="10972800" cy="36576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pos_weight con tope (POS_WEIGHT_CAP)</a:t>
            </a:r>
            <a:endParaRPr lang="en-US" sz="1400" dirty="0"/>
          </a:p>
        </p:txBody>
      </p:sp>
      <p:sp>
        <p:nvSpPr>
          <p:cNvPr id="10" name="Text 8"/>
          <p:cNvSpPr/>
          <p:nvPr/>
        </p:nvSpPr>
        <p:spPr>
          <a:xfrm>
            <a:off x="777240" y="3611880"/>
            <a:ext cx="10972800" cy="411480"/>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Para balancear clases en redes neuronales. La materia menciona class_weight='balanced' en RF, no ponderacion en BCE.</a:t>
            </a:r>
            <a:endParaRPr lang="en-US" sz="1100" dirty="0"/>
          </a:p>
        </p:txBody>
      </p:sp>
      <p:sp>
        <p:nvSpPr>
          <p:cNvPr id="11" name="Shape 9"/>
          <p:cNvSpPr/>
          <p:nvPr/>
        </p:nvSpPr>
        <p:spPr>
          <a:xfrm>
            <a:off x="548640" y="4069080"/>
            <a:ext cx="45720" cy="594360"/>
          </a:xfrm>
          <a:prstGeom prst="rect">
            <a:avLst/>
          </a:prstGeom>
          <a:solidFill>
            <a:srgbClr val="F76C5E"/>
          </a:solidFill>
          <a:ln w="12700">
            <a:solidFill>
              <a:srgbClr val="F76C5E"/>
            </a:solidFill>
            <a:prstDash val="solid"/>
          </a:ln>
        </p:spPr>
      </p:sp>
      <p:sp>
        <p:nvSpPr>
          <p:cNvPr id="12" name="Text 10"/>
          <p:cNvSpPr/>
          <p:nvPr/>
        </p:nvSpPr>
        <p:spPr>
          <a:xfrm>
            <a:off x="777240" y="4023360"/>
            <a:ext cx="10972800" cy="36576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Linear warmup scheduler</a:t>
            </a:r>
            <a:endParaRPr lang="en-US" sz="1400" dirty="0"/>
          </a:p>
        </p:txBody>
      </p:sp>
      <p:sp>
        <p:nvSpPr>
          <p:cNvPr id="13" name="Text 11"/>
          <p:cNvSpPr/>
          <p:nvPr/>
        </p:nvSpPr>
        <p:spPr>
          <a:xfrm>
            <a:off x="777240" y="4389120"/>
            <a:ext cx="10972800" cy="411480"/>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Practica estandar al fine-tunear transformers. Las diapositivas asumen learning rate fijo o decay simple.</a:t>
            </a:r>
            <a:endParaRPr lang="en-US" sz="1100" dirty="0"/>
          </a:p>
        </p:txBody>
      </p:sp>
      <p:sp>
        <p:nvSpPr>
          <p:cNvPr id="14" name="Shape 12"/>
          <p:cNvSpPr/>
          <p:nvPr/>
        </p:nvSpPr>
        <p:spPr>
          <a:xfrm>
            <a:off x="548640" y="4846320"/>
            <a:ext cx="45720" cy="594360"/>
          </a:xfrm>
          <a:prstGeom prst="rect">
            <a:avLst/>
          </a:prstGeom>
          <a:solidFill>
            <a:srgbClr val="F76C5E"/>
          </a:solidFill>
          <a:ln w="12700">
            <a:solidFill>
              <a:srgbClr val="F76C5E"/>
            </a:solidFill>
            <a:prstDash val="solid"/>
          </a:ln>
        </p:spPr>
      </p:sp>
      <p:sp>
        <p:nvSpPr>
          <p:cNvPr id="15" name="Text 13"/>
          <p:cNvSpPr/>
          <p:nvPr/>
        </p:nvSpPr>
        <p:spPr>
          <a:xfrm>
            <a:off x="777240" y="4800600"/>
            <a:ext cx="10972800" cy="36576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Validacion contra SIDER 4.1</a:t>
            </a:r>
            <a:endParaRPr lang="en-US" sz="1400" dirty="0"/>
          </a:p>
        </p:txBody>
      </p:sp>
      <p:sp>
        <p:nvSpPr>
          <p:cNvPr id="16" name="Text 14"/>
          <p:cNvSpPr/>
          <p:nvPr/>
        </p:nvSpPr>
        <p:spPr>
          <a:xfrm>
            <a:off x="777240" y="5166360"/>
            <a:ext cx="10972800" cy="411480"/>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SIDER no se menciona en clase. Se uso solo para validar, no para entrenar — refuerza la evaluacion.</a:t>
            </a:r>
            <a:endParaRPr lang="en-US" sz="1100" dirty="0"/>
          </a:p>
        </p:txBody>
      </p:sp>
      <p:sp>
        <p:nvSpPr>
          <p:cNvPr id="17" name="Shape 15"/>
          <p:cNvSpPr/>
          <p:nvPr/>
        </p:nvSpPr>
        <p:spPr>
          <a:xfrm>
            <a:off x="548640" y="5623560"/>
            <a:ext cx="45720" cy="594360"/>
          </a:xfrm>
          <a:prstGeom prst="rect">
            <a:avLst/>
          </a:prstGeom>
          <a:solidFill>
            <a:srgbClr val="F76C5E"/>
          </a:solidFill>
          <a:ln w="12700">
            <a:solidFill>
              <a:srgbClr val="F76C5E"/>
            </a:solidFill>
            <a:prstDash val="solid"/>
          </a:ln>
        </p:spPr>
      </p:sp>
      <p:sp>
        <p:nvSpPr>
          <p:cNvPr id="18" name="Text 16"/>
          <p:cNvSpPr/>
          <p:nvPr/>
        </p:nvSpPr>
        <p:spPr>
          <a:xfrm>
            <a:off x="777240" y="5577840"/>
            <a:ext cx="10972800" cy="36576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Umbral optimo POR etiqueta</a:t>
            </a:r>
            <a:endParaRPr lang="en-US" sz="1400" dirty="0"/>
          </a:p>
        </p:txBody>
      </p:sp>
      <p:sp>
        <p:nvSpPr>
          <p:cNvPr id="19" name="Text 17"/>
          <p:cNvSpPr/>
          <p:nvPr/>
        </p:nvSpPr>
        <p:spPr>
          <a:xfrm>
            <a:off x="777240" y="5943600"/>
            <a:ext cx="10972800" cy="411480"/>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La materia trata el umbral en clasificacion binaria. Lo aplicamos por etiqueta dentro del setting multi-label.</a:t>
            </a:r>
            <a:endParaRPr lang="en-US" sz="1100" dirty="0"/>
          </a:p>
        </p:txBody>
      </p:sp>
      <p:sp>
        <p:nvSpPr>
          <p:cNvPr id="20" name="Text 18"/>
          <p:cNvSpPr/>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rgbClr val="6B7280"/>
                </a:solidFill>
              </a:rPr>
              <a:t>MTAA · farmApp · Defensa final</a:t>
            </a:r>
            <a:endParaRPr lang="en-US" sz="900" dirty="0"/>
          </a:p>
        </p:txBody>
      </p:sp>
      <p:sp>
        <p:nvSpPr>
          <p:cNvPr id="21" name="Text 19"/>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rPr>
              <a:t>15 / 16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822960"/>
            <a:ext cx="10972800" cy="457200"/>
          </a:xfrm>
          <a:prstGeom prst="rect">
            <a:avLst/>
          </a:prstGeom>
          <a:noFill/>
          <a:ln/>
        </p:spPr>
        <p:txBody>
          <a:bodyPr wrap="square" lIns="0" tIns="0" rIns="0" bIns="0" rtlCol="0" anchor="ctr"/>
          <a:lstStyle/>
          <a:p>
            <a:pPr indent="0" marL="0">
              <a:buNone/>
            </a:pPr>
            <a:r>
              <a:rPr lang="en-US" sz="1400" b="1" spc="600" kern="0" dirty="0">
                <a:solidFill>
                  <a:srgbClr val="F76C5E"/>
                </a:solidFill>
              </a:rPr>
              <a:t>CONCLUSIONES</a:t>
            </a:r>
            <a:endParaRPr lang="en-US" sz="1400" dirty="0"/>
          </a:p>
        </p:txBody>
      </p:sp>
      <p:sp>
        <p:nvSpPr>
          <p:cNvPr id="3" name="Text 1"/>
          <p:cNvSpPr/>
          <p:nvPr/>
        </p:nvSpPr>
        <p:spPr>
          <a:xfrm>
            <a:off x="548640" y="128016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Que aprendimos</a:t>
            </a:r>
            <a:endParaRPr lang="en-US" sz="4400" dirty="0"/>
          </a:p>
        </p:txBody>
      </p:sp>
      <p:sp>
        <p:nvSpPr>
          <p:cNvPr id="4" name="Shape 2"/>
          <p:cNvSpPr/>
          <p:nvPr/>
        </p:nvSpPr>
        <p:spPr>
          <a:xfrm>
            <a:off x="548640" y="2880360"/>
            <a:ext cx="365760" cy="365760"/>
          </a:xfrm>
          <a:prstGeom prst="ellipse">
            <a:avLst/>
          </a:prstGeom>
          <a:solidFill>
            <a:srgbClr val="F76C5E"/>
          </a:solidFill>
          <a:ln w="12700">
            <a:solidFill>
              <a:srgbClr val="F76C5E"/>
            </a:solidFill>
            <a:prstDash val="solid"/>
          </a:ln>
        </p:spPr>
      </p:sp>
      <p:sp>
        <p:nvSpPr>
          <p:cNvPr id="5" name="Text 3"/>
          <p:cNvSpPr/>
          <p:nvPr/>
        </p:nvSpPr>
        <p:spPr>
          <a:xfrm>
            <a:off x="548640" y="28803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p:nvPr/>
        </p:nvSpPr>
        <p:spPr>
          <a:xfrm>
            <a:off x="1097280" y="2834640"/>
            <a:ext cx="10515600" cy="54864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Aplicamos el flujo completo de mineria de texto enseñado en MTAA: representacion, modelos clasicos, redes neuronales y NLP avanzado.</a:t>
            </a:r>
            <a:endParaRPr lang="en-US" sz="1400" dirty="0"/>
          </a:p>
        </p:txBody>
      </p:sp>
      <p:sp>
        <p:nvSpPr>
          <p:cNvPr id="7" name="Shape 5"/>
          <p:cNvSpPr/>
          <p:nvPr/>
        </p:nvSpPr>
        <p:spPr>
          <a:xfrm>
            <a:off x="548640" y="3657600"/>
            <a:ext cx="365760" cy="365760"/>
          </a:xfrm>
          <a:prstGeom prst="ellipse">
            <a:avLst/>
          </a:prstGeom>
          <a:solidFill>
            <a:srgbClr val="F76C5E"/>
          </a:solidFill>
          <a:ln w="12700">
            <a:solidFill>
              <a:srgbClr val="F76C5E"/>
            </a:solidFill>
            <a:prstDash val="solid"/>
          </a:ln>
        </p:spPr>
      </p:sp>
      <p:sp>
        <p:nvSpPr>
          <p:cNvPr id="8" name="Text 6"/>
          <p:cNvSpPr/>
          <p:nvPr/>
        </p:nvSpPr>
        <p:spPr>
          <a:xfrm>
            <a:off x="548640" y="36576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p:nvPr/>
        </p:nvSpPr>
        <p:spPr>
          <a:xfrm>
            <a:off x="1097280" y="3611880"/>
            <a:ext cx="10515600" cy="54864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Logramos un F1 macro de 0.128 sobre 97 etiquetas con desbalance severo — competitivo dada la dificultad estructural del problema.</a:t>
            </a:r>
            <a:endParaRPr lang="en-US" sz="1400" dirty="0"/>
          </a:p>
        </p:txBody>
      </p:sp>
      <p:sp>
        <p:nvSpPr>
          <p:cNvPr id="10" name="Shape 8"/>
          <p:cNvSpPr/>
          <p:nvPr/>
        </p:nvSpPr>
        <p:spPr>
          <a:xfrm>
            <a:off x="548640" y="4434840"/>
            <a:ext cx="365760" cy="365760"/>
          </a:xfrm>
          <a:prstGeom prst="ellipse">
            <a:avLst/>
          </a:prstGeom>
          <a:solidFill>
            <a:srgbClr val="F76C5E"/>
          </a:solidFill>
          <a:ln w="12700">
            <a:solidFill>
              <a:srgbClr val="F76C5E"/>
            </a:solidFill>
            <a:prstDash val="solid"/>
          </a:ln>
        </p:spPr>
      </p:sp>
      <p:sp>
        <p:nvSpPr>
          <p:cNvPr id="11" name="Text 9"/>
          <p:cNvSpPr/>
          <p:nvPr/>
        </p:nvSpPr>
        <p:spPr>
          <a:xfrm>
            <a:off x="548640" y="44348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p:nvPr/>
        </p:nvSpPr>
        <p:spPr>
          <a:xfrm>
            <a:off x="1097280" y="4389120"/>
            <a:ext cx="10515600" cy="54864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Validamos honestamente contra una fuente externa (SIDER 4.1) para detectar sesgos del dataset, no solo metricas sobre test interno.</a:t>
            </a:r>
            <a:endParaRPr lang="en-US" sz="1400" dirty="0"/>
          </a:p>
        </p:txBody>
      </p:sp>
      <p:sp>
        <p:nvSpPr>
          <p:cNvPr id="13" name="Shape 11"/>
          <p:cNvSpPr/>
          <p:nvPr/>
        </p:nvSpPr>
        <p:spPr>
          <a:xfrm>
            <a:off x="548640" y="5212080"/>
            <a:ext cx="365760" cy="365760"/>
          </a:xfrm>
          <a:prstGeom prst="ellipse">
            <a:avLst/>
          </a:prstGeom>
          <a:solidFill>
            <a:srgbClr val="F76C5E"/>
          </a:solidFill>
          <a:ln w="12700">
            <a:solidFill>
              <a:srgbClr val="F76C5E"/>
            </a:solidFill>
            <a:prstDash val="solid"/>
          </a:ln>
        </p:spPr>
      </p:sp>
      <p:sp>
        <p:nvSpPr>
          <p:cNvPr id="14" name="Text 12"/>
          <p:cNvSpPr/>
          <p:nvPr/>
        </p:nvSpPr>
        <p:spPr>
          <a:xfrm>
            <a:off x="548640" y="52120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p:nvPr/>
        </p:nvSpPr>
        <p:spPr>
          <a:xfrm>
            <a:off x="1097280" y="5166360"/>
            <a:ext cx="10515600" cy="54864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Construimos una app funcional que predice y verifica en vivo, demostrando el pipeline end-to-end.</a:t>
            </a:r>
            <a:endParaRPr lang="en-US" sz="1400" dirty="0"/>
          </a:p>
        </p:txBody>
      </p:sp>
      <p:sp>
        <p:nvSpPr>
          <p:cNvPr id="16" name="Text 14"/>
          <p:cNvSpPr/>
          <p:nvPr/>
        </p:nvSpPr>
        <p:spPr>
          <a:xfrm>
            <a:off x="548640" y="5989320"/>
            <a:ext cx="10972800" cy="548640"/>
          </a:xfrm>
          <a:prstGeom prst="rect">
            <a:avLst/>
          </a:prstGeom>
          <a:noFill/>
          <a:ln/>
        </p:spPr>
        <p:txBody>
          <a:bodyPr wrap="square" lIns="0" tIns="0" rIns="0" bIns="0" rtlCol="0" anchor="ctr"/>
          <a:lstStyle/>
          <a:p>
            <a:pPr indent="0" marL="0">
              <a:buNone/>
            </a:pPr>
            <a:r>
              <a:rPr lang="en-US" sz="2400" b="1" i="1" dirty="0">
                <a:solidFill>
                  <a:srgbClr val="F76C5E"/>
                </a:solidFill>
                <a:latin typeface="Cambria" pitchFamily="34" charset="0"/>
                <a:ea typeface="Cambria" pitchFamily="34" charset="-122"/>
                <a:cs typeface="Cambria" pitchFamily="34" charset="-120"/>
              </a:rPr>
              <a:t>¿Preguntas?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Sistema de Prediccion de Efectos Adversos de Farmacos</dc:title>
  <dc:subject>PptxGenJS Presentation</dc:subject>
  <dc:creator>Alzugaray Agustin · Cabrera Tamalet Lautaro</dc:creator>
  <cp:lastModifiedBy>Alzugaray Agustin · Cabrera Tamalet Lautaro</cp:lastModifiedBy>
  <cp:revision>1</cp:revision>
  <dcterms:created xsi:type="dcterms:W3CDTF">2026-06-25T16:54:20Z</dcterms:created>
  <dcterms:modified xsi:type="dcterms:W3CDTF">2026-06-25T16:54:20Z</dcterms:modified>
</cp:coreProperties>
</file>